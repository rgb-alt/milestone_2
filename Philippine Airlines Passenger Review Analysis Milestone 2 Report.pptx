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71" r:id="rId3"/>
    <p:sldId id="257" r:id="rId4"/>
    <p:sldId id="260" r:id="rId5"/>
    <p:sldId id="259" r:id="rId6"/>
    <p:sldId id="263" r:id="rId7"/>
    <p:sldId id="261" r:id="rId8"/>
    <p:sldId id="264" r:id="rId9"/>
    <p:sldId id="272" r:id="rId10"/>
    <p:sldId id="262" r:id="rId11"/>
    <p:sldId id="265" r:id="rId12"/>
    <p:sldId id="258" r:id="rId13"/>
    <p:sldId id="266" r:id="rId14"/>
    <p:sldId id="267" r:id="rId15"/>
    <p:sldId id="268" r:id="rId16"/>
    <p:sldId id="269" r:id="rId17"/>
    <p:sldId id="270" r:id="rId18"/>
  </p:sldIdLst>
  <p:sldSz cx="18288000" cy="10287000"/>
  <p:notesSz cx="6858000" cy="9144000"/>
  <p:embeddedFontLst>
    <p:embeddedFont>
      <p:font typeface="Inter Extra-Light" panose="020B0604020202020204" charset="0"/>
      <p:regular r:id="rId20"/>
    </p:embeddedFont>
    <p:embeddedFont>
      <p:font typeface="Poppins" panose="00000500000000000000" pitchFamily="2" charset="0"/>
      <p:regular r:id="rId21"/>
    </p:embeddedFont>
    <p:embeddedFont>
      <p:font typeface="Poppins Light" panose="00000400000000000000" pitchFamily="2" charset="0"/>
      <p:regular r:id="rId22"/>
    </p:embeddedFont>
    <p:embeddedFont>
      <p:font typeface="Poppins Medium" panose="00000600000000000000" pitchFamily="2"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22" autoAdjust="0"/>
  </p:normalViewPr>
  <p:slideViewPr>
    <p:cSldViewPr>
      <p:cViewPr varScale="1">
        <p:scale>
          <a:sx n="55" d="100"/>
          <a:sy n="55" d="100"/>
        </p:scale>
        <p:origin x="588"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DAA40C-B144-4F89-A021-4BC12882735B}" type="datetimeFigureOut">
              <a:rPr lang="en-PH" smtClean="0"/>
              <a:t>9/9/2026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F5806C-D682-45E3-9EAD-1531CF4CF647}" type="slidenum">
              <a:rPr lang="en-PH" smtClean="0"/>
              <a:t>‹#›</a:t>
            </a:fld>
            <a:endParaRPr lang="en-PH"/>
          </a:p>
        </p:txBody>
      </p:sp>
    </p:spTree>
    <p:extLst>
      <p:ext uri="{BB962C8B-B14F-4D97-AF65-F5344CB8AC3E}">
        <p14:creationId xmlns:p14="http://schemas.microsoft.com/office/powerpoint/2010/main" val="2491033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82F5806C-D682-45E3-9EAD-1531CF4CF647}" type="slidenum">
              <a:rPr lang="en-PH" smtClean="0"/>
              <a:t>6</a:t>
            </a:fld>
            <a:endParaRPr lang="en-PH"/>
          </a:p>
        </p:txBody>
      </p:sp>
    </p:spTree>
    <p:extLst>
      <p:ext uri="{BB962C8B-B14F-4D97-AF65-F5344CB8AC3E}">
        <p14:creationId xmlns:p14="http://schemas.microsoft.com/office/powerpoint/2010/main" val="1913286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5143500"/>
            <a:ext cx="18288000" cy="0"/>
          </a:xfrm>
          <a:prstGeom prst="line">
            <a:avLst/>
          </a:prstGeom>
          <a:ln w="9525" cap="rnd">
            <a:solidFill>
              <a:srgbClr val="F4F4F4"/>
            </a:solidFill>
            <a:prstDash val="solid"/>
            <a:headEnd type="none" w="sm" len="sm"/>
            <a:tailEnd type="none" w="sm" len="sm"/>
          </a:ln>
        </p:spPr>
      </p:sp>
      <p:sp>
        <p:nvSpPr>
          <p:cNvPr id="3" name="TextBox 3"/>
          <p:cNvSpPr txBox="1"/>
          <p:nvPr/>
        </p:nvSpPr>
        <p:spPr>
          <a:xfrm>
            <a:off x="1028700" y="1968990"/>
            <a:ext cx="8115300" cy="2631272"/>
          </a:xfrm>
          <a:prstGeom prst="rect">
            <a:avLst/>
          </a:prstGeom>
        </p:spPr>
        <p:txBody>
          <a:bodyPr lIns="0" tIns="0" rIns="0" bIns="0" rtlCol="0" anchor="t">
            <a:spAutoFit/>
          </a:bodyPr>
          <a:lstStyle/>
          <a:p>
            <a:pPr marL="0" lvl="0" indent="0" algn="l">
              <a:lnSpc>
                <a:spcPts val="6625"/>
              </a:lnSpc>
            </a:pPr>
            <a:r>
              <a:rPr lang="en-US" sz="6974" b="1" spc="-292">
                <a:solidFill>
                  <a:srgbClr val="F4F4F4"/>
                </a:solidFill>
                <a:latin typeface="Poppins Medium"/>
                <a:ea typeface="Poppins Medium"/>
                <a:cs typeface="Poppins Medium"/>
                <a:sym typeface="Poppins Medium"/>
              </a:rPr>
              <a:t>Philippine Airlines Passenger Review Analysis</a:t>
            </a:r>
          </a:p>
        </p:txBody>
      </p:sp>
      <p:sp>
        <p:nvSpPr>
          <p:cNvPr id="4" name="TextBox 4"/>
          <p:cNvSpPr txBox="1"/>
          <p:nvPr/>
        </p:nvSpPr>
        <p:spPr>
          <a:xfrm>
            <a:off x="1028700" y="6278190"/>
            <a:ext cx="6967016" cy="509411"/>
          </a:xfrm>
          <a:prstGeom prst="rect">
            <a:avLst/>
          </a:prstGeom>
        </p:spPr>
        <p:txBody>
          <a:bodyPr lIns="0" tIns="0" rIns="0" bIns="0" rtlCol="0" anchor="t">
            <a:spAutoFit/>
          </a:bodyPr>
          <a:lstStyle/>
          <a:p>
            <a:pPr marL="0" lvl="0" indent="0" algn="l">
              <a:lnSpc>
                <a:spcPts val="3947"/>
              </a:lnSpc>
              <a:spcBef>
                <a:spcPct val="0"/>
              </a:spcBef>
            </a:pPr>
            <a:r>
              <a:rPr lang="en-US" sz="2819" spc="-118">
                <a:solidFill>
                  <a:srgbClr val="F4F4F4"/>
                </a:solidFill>
                <a:latin typeface="Poppins"/>
                <a:ea typeface="Poppins"/>
                <a:cs typeface="Poppins"/>
                <a:sym typeface="Poppins"/>
              </a:rPr>
              <a:t>Milestone 2 Report</a:t>
            </a:r>
          </a:p>
        </p:txBody>
      </p:sp>
      <p:sp>
        <p:nvSpPr>
          <p:cNvPr id="5" name="TextBox 5"/>
          <p:cNvSpPr txBox="1"/>
          <p:nvPr/>
        </p:nvSpPr>
        <p:spPr>
          <a:xfrm>
            <a:off x="1028700" y="7320425"/>
            <a:ext cx="7556647" cy="1102389"/>
          </a:xfrm>
          <a:prstGeom prst="rect">
            <a:avLst/>
          </a:prstGeom>
        </p:spPr>
        <p:txBody>
          <a:bodyPr lIns="0" tIns="0" rIns="0" bIns="0" rtlCol="0" anchor="t">
            <a:spAutoFit/>
          </a:bodyPr>
          <a:lstStyle/>
          <a:p>
            <a:pPr marL="0" lvl="0" indent="0" algn="just">
              <a:lnSpc>
                <a:spcPts val="2238"/>
              </a:lnSpc>
              <a:spcBef>
                <a:spcPct val="0"/>
              </a:spcBef>
            </a:pPr>
            <a:r>
              <a:rPr lang="en-US" sz="1598" dirty="0">
                <a:solidFill>
                  <a:srgbClr val="F4F4F4"/>
                </a:solidFill>
                <a:latin typeface="Inter Extra-Light"/>
                <a:ea typeface="Inter Extra-Light"/>
                <a:cs typeface="Inter Extra-Light"/>
                <a:sym typeface="Inter Extra-Light"/>
              </a:rPr>
              <a:t>Prepared by: Group 4</a:t>
            </a:r>
          </a:p>
          <a:p>
            <a:pPr marL="0" lvl="0" indent="0" algn="just">
              <a:lnSpc>
                <a:spcPts val="2238"/>
              </a:lnSpc>
              <a:spcBef>
                <a:spcPct val="0"/>
              </a:spcBef>
            </a:pPr>
            <a:r>
              <a:rPr lang="en-US" sz="1598" dirty="0">
                <a:solidFill>
                  <a:srgbClr val="F4F4F4"/>
                </a:solidFill>
                <a:latin typeface="Inter Extra-Light"/>
                <a:ea typeface="Inter Extra-Light"/>
                <a:cs typeface="Inter Extra-Light"/>
                <a:sym typeface="Inter Extra-Light"/>
              </a:rPr>
              <a:t>An in-depth analysis of 891 passenger reviews covering seat comfort, cabin staff service, food &amp; beverages, inflight entertainment, ground service, value for money, Wi-Fi connectivity, and recommendation drivers.</a:t>
            </a:r>
          </a:p>
        </p:txBody>
      </p:sp>
      <p:grpSp>
        <p:nvGrpSpPr>
          <p:cNvPr id="6" name="Group 6"/>
          <p:cNvGrpSpPr/>
          <p:nvPr/>
        </p:nvGrpSpPr>
        <p:grpSpPr>
          <a:xfrm>
            <a:off x="10058400" y="1028700"/>
            <a:ext cx="9297103" cy="8229600"/>
            <a:chOff x="0" y="0"/>
            <a:chExt cx="1440365" cy="1274980"/>
          </a:xfrm>
        </p:grpSpPr>
        <p:sp>
          <p:nvSpPr>
            <p:cNvPr id="7" name="Freeform 7"/>
            <p:cNvSpPr/>
            <p:nvPr/>
          </p:nvSpPr>
          <p:spPr>
            <a:xfrm>
              <a:off x="0" y="0"/>
              <a:ext cx="1440365" cy="1274980"/>
            </a:xfrm>
            <a:custGeom>
              <a:avLst/>
              <a:gdLst/>
              <a:ahLst/>
              <a:cxnLst/>
              <a:rect l="l" t="t" r="r" b="b"/>
              <a:pathLst>
                <a:path w="1440365" h="1274980">
                  <a:moveTo>
                    <a:pt x="50796" y="0"/>
                  </a:moveTo>
                  <a:lnTo>
                    <a:pt x="1389568" y="0"/>
                  </a:lnTo>
                  <a:cubicBezTo>
                    <a:pt x="1417622" y="0"/>
                    <a:pt x="1440365" y="22742"/>
                    <a:pt x="1440365" y="50796"/>
                  </a:cubicBezTo>
                  <a:lnTo>
                    <a:pt x="1440365" y="1224184"/>
                  </a:lnTo>
                  <a:cubicBezTo>
                    <a:pt x="1440365" y="1237656"/>
                    <a:pt x="1435013" y="1250576"/>
                    <a:pt x="1425487" y="1260103"/>
                  </a:cubicBezTo>
                  <a:cubicBezTo>
                    <a:pt x="1415961" y="1269629"/>
                    <a:pt x="1403040" y="1274980"/>
                    <a:pt x="1389568" y="1274980"/>
                  </a:cubicBezTo>
                  <a:lnTo>
                    <a:pt x="50796" y="1274980"/>
                  </a:lnTo>
                  <a:cubicBezTo>
                    <a:pt x="22742" y="1274980"/>
                    <a:pt x="0" y="1252238"/>
                    <a:pt x="0" y="1224184"/>
                  </a:cubicBezTo>
                  <a:lnTo>
                    <a:pt x="0" y="50796"/>
                  </a:lnTo>
                  <a:cubicBezTo>
                    <a:pt x="0" y="37324"/>
                    <a:pt x="5352" y="24404"/>
                    <a:pt x="14878" y="14878"/>
                  </a:cubicBezTo>
                  <a:cubicBezTo>
                    <a:pt x="24404" y="5352"/>
                    <a:pt x="37324" y="0"/>
                    <a:pt x="50796" y="0"/>
                  </a:cubicBezTo>
                  <a:close/>
                </a:path>
              </a:pathLst>
            </a:custGeom>
            <a:blipFill>
              <a:blip r:embed="rId2"/>
              <a:stretch>
                <a:fillRect t="-34781" b="-34781"/>
              </a:stretch>
            </a:blipFill>
            <a:ln w="9525" cap="rnd">
              <a:solidFill>
                <a:srgbClr val="FFFFFF"/>
              </a:solidFill>
              <a:prstDash val="solid"/>
              <a:round/>
            </a:ln>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09BC29A0-CB03-217E-DFDB-B2E3193C38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10B670E-29EB-86C9-AB19-80B682E8F6A1}"/>
              </a:ext>
            </a:extLst>
          </p:cNvPr>
          <p:cNvSpPr txBox="1"/>
          <p:nvPr/>
        </p:nvSpPr>
        <p:spPr>
          <a:xfrm>
            <a:off x="1371600" y="1790700"/>
            <a:ext cx="6967016" cy="551959"/>
          </a:xfrm>
          <a:prstGeom prst="rect">
            <a:avLst/>
          </a:prstGeom>
        </p:spPr>
        <p:txBody>
          <a:bodyPr lIns="0" tIns="0" rIns="0" bIns="0" rtlCol="0" anchor="t">
            <a:spAutoFit/>
          </a:bodyPr>
          <a:lstStyle/>
          <a:p>
            <a:pPr marL="0" lvl="0" indent="0" algn="l">
              <a:lnSpc>
                <a:spcPts val="4227"/>
              </a:lnSpc>
              <a:spcBef>
                <a:spcPct val="0"/>
              </a:spcBef>
            </a:pPr>
            <a:r>
              <a:rPr lang="en-US" sz="4000" spc="-126" dirty="0">
                <a:solidFill>
                  <a:srgbClr val="F4F4F4"/>
                </a:solidFill>
                <a:latin typeface="Poppins"/>
                <a:ea typeface="Poppins"/>
                <a:cs typeface="Poppins"/>
                <a:sym typeface="Poppins"/>
              </a:rPr>
              <a:t>Dataset Overview</a:t>
            </a:r>
          </a:p>
        </p:txBody>
      </p:sp>
      <p:sp>
        <p:nvSpPr>
          <p:cNvPr id="13" name="TextBox 12">
            <a:extLst>
              <a:ext uri="{FF2B5EF4-FFF2-40B4-BE49-F238E27FC236}">
                <a16:creationId xmlns:a16="http://schemas.microsoft.com/office/drawing/2014/main" id="{3B3B37D6-A6D8-668F-41CB-F921EF5B1FC2}"/>
              </a:ext>
            </a:extLst>
          </p:cNvPr>
          <p:cNvSpPr txBox="1"/>
          <p:nvPr/>
        </p:nvSpPr>
        <p:spPr>
          <a:xfrm>
            <a:off x="2476500" y="3771900"/>
            <a:ext cx="13335000" cy="1938992"/>
          </a:xfrm>
          <a:prstGeom prst="rect">
            <a:avLst/>
          </a:prstGeom>
          <a:noFill/>
        </p:spPr>
        <p:txBody>
          <a:bodyPr wrap="square" rtlCol="0">
            <a:spAutoFit/>
          </a:bodyPr>
          <a:lstStyle/>
          <a:p>
            <a:pPr algn="ctr"/>
            <a:r>
              <a:rPr lang="en-US" sz="3000" dirty="0">
                <a:solidFill>
                  <a:srgbClr val="F4F4F4"/>
                </a:solidFill>
                <a:latin typeface="Inter Extra-Light"/>
                <a:ea typeface="Inter Extra-Light"/>
                <a:cs typeface="Inter Extra-Light"/>
                <a:sym typeface="Inter Extra-Light"/>
              </a:rPr>
              <a:t>Dataset: 891 passenger reviews across 15 columns. Scope covers Seat Comfort, Cabin Staff Service, Food &amp; Beverages, Inflight Entertainment, Ground Service, Value for Money, Wi-Fi/Connectivity, and Recommendation. </a:t>
            </a:r>
          </a:p>
        </p:txBody>
      </p:sp>
    </p:spTree>
    <p:extLst>
      <p:ext uri="{BB962C8B-B14F-4D97-AF65-F5344CB8AC3E}">
        <p14:creationId xmlns:p14="http://schemas.microsoft.com/office/powerpoint/2010/main" val="3508495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6569683"/>
            <a:ext cx="18288000" cy="0"/>
          </a:xfrm>
          <a:prstGeom prst="line">
            <a:avLst/>
          </a:prstGeom>
          <a:ln w="9525" cap="rnd">
            <a:solidFill>
              <a:srgbClr val="F4F4F4"/>
            </a:solidFill>
            <a:prstDash val="solid"/>
            <a:headEnd type="none" w="sm" len="sm"/>
            <a:tailEnd type="none" w="sm" len="sm"/>
          </a:ln>
        </p:spPr>
      </p:sp>
      <p:grpSp>
        <p:nvGrpSpPr>
          <p:cNvPr id="3" name="Group 3"/>
          <p:cNvGrpSpPr/>
          <p:nvPr/>
        </p:nvGrpSpPr>
        <p:grpSpPr>
          <a:xfrm>
            <a:off x="12762529" y="8693324"/>
            <a:ext cx="4496771" cy="565767"/>
            <a:chOff x="0" y="0"/>
            <a:chExt cx="1184335" cy="149009"/>
          </a:xfrm>
        </p:grpSpPr>
        <p:sp>
          <p:nvSpPr>
            <p:cNvPr id="4" name="Freeform 4"/>
            <p:cNvSpPr/>
            <p:nvPr/>
          </p:nvSpPr>
          <p:spPr>
            <a:xfrm>
              <a:off x="0" y="0"/>
              <a:ext cx="1184335" cy="149009"/>
            </a:xfrm>
            <a:custGeom>
              <a:avLst/>
              <a:gdLst/>
              <a:ahLst/>
              <a:cxnLst/>
              <a:rect l="l" t="t" r="r" b="b"/>
              <a:pathLst>
                <a:path w="1184335" h="149009">
                  <a:moveTo>
                    <a:pt x="74504" y="0"/>
                  </a:moveTo>
                  <a:lnTo>
                    <a:pt x="1109831" y="0"/>
                  </a:lnTo>
                  <a:cubicBezTo>
                    <a:pt x="1129590" y="0"/>
                    <a:pt x="1148541" y="7850"/>
                    <a:pt x="1162513" y="21822"/>
                  </a:cubicBezTo>
                  <a:cubicBezTo>
                    <a:pt x="1176485" y="35794"/>
                    <a:pt x="1184335" y="54745"/>
                    <a:pt x="1184335" y="74504"/>
                  </a:cubicBezTo>
                  <a:lnTo>
                    <a:pt x="1184335" y="74504"/>
                  </a:lnTo>
                  <a:cubicBezTo>
                    <a:pt x="1184335" y="94264"/>
                    <a:pt x="1176485" y="113215"/>
                    <a:pt x="1162513" y="127187"/>
                  </a:cubicBezTo>
                  <a:cubicBezTo>
                    <a:pt x="1148541" y="141159"/>
                    <a:pt x="1129590" y="149009"/>
                    <a:pt x="1109831" y="149009"/>
                  </a:cubicBezTo>
                  <a:lnTo>
                    <a:pt x="74504" y="149009"/>
                  </a:lnTo>
                  <a:cubicBezTo>
                    <a:pt x="54745" y="149009"/>
                    <a:pt x="35794" y="141159"/>
                    <a:pt x="21822" y="127187"/>
                  </a:cubicBezTo>
                  <a:cubicBezTo>
                    <a:pt x="7850" y="113215"/>
                    <a:pt x="0" y="94264"/>
                    <a:pt x="0" y="74504"/>
                  </a:cubicBezTo>
                  <a:lnTo>
                    <a:pt x="0" y="74504"/>
                  </a:lnTo>
                  <a:cubicBezTo>
                    <a:pt x="0" y="54745"/>
                    <a:pt x="7850" y="35794"/>
                    <a:pt x="21822" y="21822"/>
                  </a:cubicBezTo>
                  <a:cubicBezTo>
                    <a:pt x="35794" y="7850"/>
                    <a:pt x="54745" y="0"/>
                    <a:pt x="74504"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5" name="TextBox 5"/>
            <p:cNvSpPr txBox="1"/>
            <p:nvPr/>
          </p:nvSpPr>
          <p:spPr>
            <a:xfrm>
              <a:off x="0" y="-38100"/>
              <a:ext cx="1184335" cy="187109"/>
            </a:xfrm>
            <a:prstGeom prst="rect">
              <a:avLst/>
            </a:prstGeom>
          </p:spPr>
          <p:txBody>
            <a:bodyPr lIns="50800" tIns="50800" rIns="50800" bIns="50800" rtlCol="0" anchor="ctr"/>
            <a:lstStyle/>
            <a:p>
              <a:pPr marL="0" lvl="0" indent="0" algn="ctr">
                <a:lnSpc>
                  <a:spcPts val="2017"/>
                </a:lnSpc>
              </a:pPr>
              <a:r>
                <a:rPr lang="en-US" sz="1441" spc="30">
                  <a:solidFill>
                    <a:srgbClr val="F4F4F4"/>
                  </a:solidFill>
                  <a:latin typeface="Poppins Light"/>
                  <a:ea typeface="Poppins Light"/>
                  <a:cs typeface="Poppins Light"/>
                  <a:sym typeface="Poppins Light"/>
                </a:rPr>
                <a:t>GROUP4 | MILESTONE 2</a:t>
              </a:r>
            </a:p>
          </p:txBody>
        </p:sp>
      </p:grpSp>
      <p:sp>
        <p:nvSpPr>
          <p:cNvPr id="7" name="TextBox 7"/>
          <p:cNvSpPr txBox="1"/>
          <p:nvPr/>
        </p:nvSpPr>
        <p:spPr>
          <a:xfrm>
            <a:off x="10292284" y="7480694"/>
            <a:ext cx="6967016" cy="551959"/>
          </a:xfrm>
          <a:prstGeom prst="rect">
            <a:avLst/>
          </a:prstGeom>
        </p:spPr>
        <p:txBody>
          <a:bodyPr lIns="0" tIns="0" rIns="0" bIns="0" rtlCol="0" anchor="t">
            <a:spAutoFit/>
          </a:bodyPr>
          <a:lstStyle/>
          <a:p>
            <a:pPr marL="0" lvl="0" indent="0" algn="r">
              <a:lnSpc>
                <a:spcPts val="4227"/>
              </a:lnSpc>
              <a:spcBef>
                <a:spcPct val="0"/>
              </a:spcBef>
            </a:pPr>
            <a:r>
              <a:rPr lang="en-US" sz="3019" spc="-126">
                <a:solidFill>
                  <a:srgbClr val="F4F4F4"/>
                </a:solidFill>
                <a:latin typeface="Poppins"/>
                <a:ea typeface="Poppins"/>
                <a:cs typeface="Poppins"/>
                <a:sym typeface="Poppins"/>
              </a:rPr>
              <a:t>Philippine Airlines Review Analysis</a:t>
            </a:r>
          </a:p>
        </p:txBody>
      </p:sp>
      <p:sp>
        <p:nvSpPr>
          <p:cNvPr id="11" name="TextBox 10">
            <a:extLst>
              <a:ext uri="{FF2B5EF4-FFF2-40B4-BE49-F238E27FC236}">
                <a16:creationId xmlns:a16="http://schemas.microsoft.com/office/drawing/2014/main" id="{68B2DDD4-4F0E-6892-D9DF-3F75B2DC6C9B}"/>
              </a:ext>
            </a:extLst>
          </p:cNvPr>
          <p:cNvSpPr txBox="1"/>
          <p:nvPr/>
        </p:nvSpPr>
        <p:spPr>
          <a:xfrm>
            <a:off x="2038350" y="2546377"/>
            <a:ext cx="14211300" cy="2400657"/>
          </a:xfrm>
          <a:prstGeom prst="rect">
            <a:avLst/>
          </a:prstGeom>
          <a:noFill/>
        </p:spPr>
        <p:txBody>
          <a:bodyPr wrap="square">
            <a:spAutoFit/>
          </a:bodyPr>
          <a:lstStyle/>
          <a:p>
            <a:pPr algn="ctr"/>
            <a:r>
              <a:rPr lang="en-US" sz="5000" dirty="0">
                <a:solidFill>
                  <a:srgbClr val="F4F4F4"/>
                </a:solidFill>
                <a:latin typeface="Inter Extra-Light"/>
                <a:ea typeface="Inter Extra-Light"/>
                <a:cs typeface="Inter Extra-Light"/>
                <a:sym typeface="Inter Extra-Light"/>
              </a:rPr>
              <a:t>Goal: Identify strengths, weaknesses, and key drivers of passenger satisfaction for PAL Airline s 2019 - 2022</a:t>
            </a:r>
            <a:endParaRPr lang="en-PH" sz="5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5143500"/>
            <a:ext cx="18288000" cy="0"/>
          </a:xfrm>
          <a:prstGeom prst="line">
            <a:avLst/>
          </a:prstGeom>
          <a:ln w="9525" cap="rnd">
            <a:solidFill>
              <a:srgbClr val="F4F4F4"/>
            </a:solidFill>
            <a:prstDash val="solid"/>
            <a:headEnd type="none" w="sm" len="sm"/>
            <a:tailEnd type="none" w="sm" len="sm"/>
          </a:ln>
        </p:spPr>
      </p:sp>
      <p:sp>
        <p:nvSpPr>
          <p:cNvPr id="4" name="TextBox 4"/>
          <p:cNvSpPr txBox="1"/>
          <p:nvPr/>
        </p:nvSpPr>
        <p:spPr>
          <a:xfrm>
            <a:off x="9494920" y="7124700"/>
            <a:ext cx="6967016" cy="509411"/>
          </a:xfrm>
          <a:prstGeom prst="rect">
            <a:avLst/>
          </a:prstGeom>
        </p:spPr>
        <p:txBody>
          <a:bodyPr lIns="0" tIns="0" rIns="0" bIns="0" rtlCol="0" anchor="t">
            <a:spAutoFit/>
          </a:bodyPr>
          <a:lstStyle/>
          <a:p>
            <a:pPr marL="0" lvl="0" indent="0" algn="l">
              <a:lnSpc>
                <a:spcPts val="3947"/>
              </a:lnSpc>
              <a:spcBef>
                <a:spcPct val="0"/>
              </a:spcBef>
            </a:pPr>
            <a:r>
              <a:rPr lang="en-US" sz="2819" spc="-118">
                <a:solidFill>
                  <a:srgbClr val="F4F4F4"/>
                </a:solidFill>
                <a:latin typeface="Poppins"/>
                <a:ea typeface="Poppins"/>
                <a:cs typeface="Poppins"/>
                <a:sym typeface="Poppins"/>
              </a:rPr>
              <a:t>Yes vs. No Recommendation Patterns</a:t>
            </a:r>
          </a:p>
        </p:txBody>
      </p:sp>
      <p:sp>
        <p:nvSpPr>
          <p:cNvPr id="5" name="TextBox 5"/>
          <p:cNvSpPr txBox="1"/>
          <p:nvPr/>
        </p:nvSpPr>
        <p:spPr>
          <a:xfrm>
            <a:off x="9494920" y="8133916"/>
            <a:ext cx="7556647" cy="542777"/>
          </a:xfrm>
          <a:prstGeom prst="rect">
            <a:avLst/>
          </a:prstGeom>
        </p:spPr>
        <p:txBody>
          <a:bodyPr lIns="0" tIns="0" rIns="0" bIns="0" rtlCol="0" anchor="t">
            <a:spAutoFit/>
          </a:bodyPr>
          <a:lstStyle/>
          <a:p>
            <a:pPr marL="0" lvl="0" indent="0" algn="just">
              <a:lnSpc>
                <a:spcPts val="2238"/>
              </a:lnSpc>
              <a:spcBef>
                <a:spcPct val="0"/>
              </a:spcBef>
            </a:pPr>
            <a:r>
              <a:rPr lang="en-US" sz="1598" dirty="0">
                <a:solidFill>
                  <a:srgbClr val="F4F4F4"/>
                </a:solidFill>
                <a:latin typeface="Inter Extra-Light"/>
                <a:ea typeface="Inter Extra-Light"/>
                <a:cs typeface="Inter Extra-Light"/>
                <a:sym typeface="Inter Extra-Light"/>
              </a:rPr>
              <a:t>Passengers were asked whether they would recommend Philippine Airlines. The majority responded No, indicating overall dissatisfaction. </a:t>
            </a:r>
          </a:p>
        </p:txBody>
      </p:sp>
      <p:grpSp>
        <p:nvGrpSpPr>
          <p:cNvPr id="6" name="Group 6"/>
          <p:cNvGrpSpPr/>
          <p:nvPr/>
        </p:nvGrpSpPr>
        <p:grpSpPr>
          <a:xfrm>
            <a:off x="-4262394" y="795421"/>
            <a:ext cx="9573334" cy="8229600"/>
            <a:chOff x="0" y="0"/>
            <a:chExt cx="1483160" cy="1274980"/>
          </a:xfrm>
        </p:grpSpPr>
        <p:sp>
          <p:nvSpPr>
            <p:cNvPr id="7" name="Freeform 7"/>
            <p:cNvSpPr/>
            <p:nvPr/>
          </p:nvSpPr>
          <p:spPr>
            <a:xfrm>
              <a:off x="0" y="0"/>
              <a:ext cx="1483160" cy="1274980"/>
            </a:xfrm>
            <a:custGeom>
              <a:avLst/>
              <a:gdLst/>
              <a:ahLst/>
              <a:cxnLst/>
              <a:rect l="l" t="t" r="r" b="b"/>
              <a:pathLst>
                <a:path w="1483160" h="1274980">
                  <a:moveTo>
                    <a:pt x="49330" y="0"/>
                  </a:moveTo>
                  <a:lnTo>
                    <a:pt x="1433829" y="0"/>
                  </a:lnTo>
                  <a:cubicBezTo>
                    <a:pt x="1446913" y="0"/>
                    <a:pt x="1459460" y="5197"/>
                    <a:pt x="1468711" y="14449"/>
                  </a:cubicBezTo>
                  <a:cubicBezTo>
                    <a:pt x="1477963" y="23700"/>
                    <a:pt x="1483160" y="36247"/>
                    <a:pt x="1483160" y="49330"/>
                  </a:cubicBezTo>
                  <a:lnTo>
                    <a:pt x="1483160" y="1225650"/>
                  </a:lnTo>
                  <a:cubicBezTo>
                    <a:pt x="1483160" y="1238733"/>
                    <a:pt x="1477963" y="1251281"/>
                    <a:pt x="1468711" y="1260532"/>
                  </a:cubicBezTo>
                  <a:cubicBezTo>
                    <a:pt x="1459460" y="1269783"/>
                    <a:pt x="1446913" y="1274980"/>
                    <a:pt x="1433829" y="1274980"/>
                  </a:cubicBezTo>
                  <a:lnTo>
                    <a:pt x="49330" y="1274980"/>
                  </a:lnTo>
                  <a:cubicBezTo>
                    <a:pt x="36247" y="1274980"/>
                    <a:pt x="23700" y="1269783"/>
                    <a:pt x="14449" y="1260532"/>
                  </a:cubicBezTo>
                  <a:cubicBezTo>
                    <a:pt x="5197" y="1251281"/>
                    <a:pt x="0" y="1238733"/>
                    <a:pt x="0" y="1225650"/>
                  </a:cubicBezTo>
                  <a:lnTo>
                    <a:pt x="0" y="49330"/>
                  </a:lnTo>
                  <a:cubicBezTo>
                    <a:pt x="0" y="36247"/>
                    <a:pt x="5197" y="23700"/>
                    <a:pt x="14449" y="14449"/>
                  </a:cubicBezTo>
                  <a:cubicBezTo>
                    <a:pt x="23700" y="5197"/>
                    <a:pt x="36247" y="0"/>
                    <a:pt x="49330" y="0"/>
                  </a:cubicBezTo>
                  <a:close/>
                </a:path>
              </a:pathLst>
            </a:custGeom>
            <a:blipFill>
              <a:blip r:embed="rId2"/>
              <a:stretch>
                <a:fillRect l="-197" r="-197"/>
              </a:stretch>
            </a:blipFill>
            <a:ln w="9525" cap="rnd">
              <a:solidFill>
                <a:srgbClr val="FFFFFF"/>
              </a:solidFill>
              <a:prstDash val="solid"/>
              <a:round/>
            </a:ln>
          </p:spPr>
        </p:sp>
      </p:grpSp>
      <p:pic>
        <p:nvPicPr>
          <p:cNvPr id="9" name="Picture 8">
            <a:extLst>
              <a:ext uri="{FF2B5EF4-FFF2-40B4-BE49-F238E27FC236}">
                <a16:creationId xmlns:a16="http://schemas.microsoft.com/office/drawing/2014/main" id="{B294938F-E370-393A-13CC-EAA0D9EA0A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4156" y="1403291"/>
            <a:ext cx="10762282" cy="5340409"/>
          </a:xfrm>
          <a:prstGeom prst="rect">
            <a:avLst/>
          </a:prstGeom>
        </p:spPr>
      </p:pic>
      <p:sp>
        <p:nvSpPr>
          <p:cNvPr id="3" name="TextBox 3"/>
          <p:cNvSpPr txBox="1"/>
          <p:nvPr/>
        </p:nvSpPr>
        <p:spPr>
          <a:xfrm>
            <a:off x="1066800" y="266700"/>
            <a:ext cx="6967016" cy="1640681"/>
          </a:xfrm>
          <a:prstGeom prst="rect">
            <a:avLst/>
          </a:prstGeom>
        </p:spPr>
        <p:txBody>
          <a:bodyPr lIns="0" tIns="0" rIns="0" bIns="0" rtlCol="0" anchor="t">
            <a:spAutoFit/>
          </a:bodyPr>
          <a:lstStyle/>
          <a:p>
            <a:pPr marL="0" lvl="0" indent="0" algn="l">
              <a:lnSpc>
                <a:spcPts val="6056"/>
              </a:lnSpc>
            </a:pPr>
            <a:r>
              <a:rPr lang="en-US" sz="6375" b="1" spc="-267" dirty="0">
                <a:solidFill>
                  <a:srgbClr val="F4F4F4"/>
                </a:solidFill>
                <a:latin typeface="Poppins Medium"/>
                <a:ea typeface="Poppins Medium"/>
                <a:cs typeface="Poppins Medium"/>
                <a:sym typeface="Poppins Medium"/>
              </a:rPr>
              <a:t>Recommendation</a:t>
            </a:r>
          </a:p>
          <a:p>
            <a:pPr marL="0" lvl="0" indent="0" algn="l">
              <a:lnSpc>
                <a:spcPts val="6056"/>
              </a:lnSpc>
            </a:pPr>
            <a:r>
              <a:rPr lang="en-US" sz="6375" b="1" spc="-267" dirty="0">
                <a:solidFill>
                  <a:srgbClr val="F4F4F4"/>
                </a:solidFill>
                <a:latin typeface="Poppins Medium"/>
                <a:ea typeface="Poppins Medium"/>
                <a:cs typeface="Poppins Medium"/>
                <a:sym typeface="Poppins Medium"/>
              </a:rPr>
              <a:t>Breakdown</a:t>
            </a:r>
          </a:p>
        </p:txBody>
      </p:sp>
      <p:sp>
        <p:nvSpPr>
          <p:cNvPr id="12" name="TextBox 11">
            <a:extLst>
              <a:ext uri="{FF2B5EF4-FFF2-40B4-BE49-F238E27FC236}">
                <a16:creationId xmlns:a16="http://schemas.microsoft.com/office/drawing/2014/main" id="{85AD5F09-69F8-1EC8-04DE-E68D4BD428D1}"/>
              </a:ext>
            </a:extLst>
          </p:cNvPr>
          <p:cNvSpPr txBox="1"/>
          <p:nvPr/>
        </p:nvSpPr>
        <p:spPr>
          <a:xfrm>
            <a:off x="-11734800" y="9443249"/>
            <a:ext cx="11283696" cy="830035"/>
          </a:xfrm>
          <a:prstGeom prst="rect">
            <a:avLst/>
          </a:prstGeom>
          <a:noFill/>
        </p:spPr>
        <p:txBody>
          <a:bodyPr wrap="square">
            <a:spAutoFit/>
          </a:bodyPr>
          <a:lstStyle/>
          <a:p>
            <a:r>
              <a:rPr lang="en-US" sz="1598" dirty="0">
                <a:solidFill>
                  <a:srgbClr val="F4F4F4"/>
                </a:solidFill>
                <a:latin typeface="Inter Extra-Light"/>
                <a:ea typeface="Inter Extra-Light"/>
                <a:cs typeface="Inter Extra-Light"/>
                <a:sym typeface="Inter Extra-Light"/>
              </a:rPr>
              <a:t>Travelers in Business and First Class were more likely to recommend the airline, while Economy passengers showed the lowest recommendation rates. Recommendation rates also varied over time, with a noticeable decline in recent review periods, suggesting worsening passenger experience trends.</a:t>
            </a:r>
            <a:endParaRPr lang="en-PH"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5143500"/>
            <a:ext cx="18288000" cy="0"/>
          </a:xfrm>
          <a:prstGeom prst="line">
            <a:avLst/>
          </a:prstGeom>
          <a:ln w="9525" cap="rnd">
            <a:solidFill>
              <a:srgbClr val="F4F4F4"/>
            </a:solidFill>
            <a:prstDash val="solid"/>
            <a:headEnd type="none" w="sm" len="sm"/>
            <a:tailEnd type="none" w="sm" len="sm"/>
          </a:ln>
        </p:spPr>
      </p:sp>
      <p:sp>
        <p:nvSpPr>
          <p:cNvPr id="4" name="TextBox 4"/>
          <p:cNvSpPr txBox="1"/>
          <p:nvPr/>
        </p:nvSpPr>
        <p:spPr>
          <a:xfrm>
            <a:off x="838200" y="876300"/>
            <a:ext cx="8839378" cy="1038746"/>
          </a:xfrm>
          <a:prstGeom prst="rect">
            <a:avLst/>
          </a:prstGeom>
        </p:spPr>
        <p:txBody>
          <a:bodyPr lIns="0" tIns="0" rIns="0" bIns="0" rtlCol="0" anchor="t">
            <a:spAutoFit/>
          </a:bodyPr>
          <a:lstStyle/>
          <a:p>
            <a:pPr marL="0" lvl="0" indent="0" algn="l">
              <a:lnSpc>
                <a:spcPts val="8122"/>
              </a:lnSpc>
            </a:pPr>
            <a:r>
              <a:rPr lang="en-US" sz="7000" spc="-359" dirty="0">
                <a:solidFill>
                  <a:srgbClr val="F4F4F4"/>
                </a:solidFill>
                <a:latin typeface="Poppins Medium"/>
                <a:ea typeface="Poppins Medium"/>
                <a:cs typeface="Poppins Medium"/>
                <a:sym typeface="Poppins Medium"/>
              </a:rPr>
              <a:t>Seat Category</a:t>
            </a:r>
          </a:p>
        </p:txBody>
      </p:sp>
      <p:pic>
        <p:nvPicPr>
          <p:cNvPr id="8" name="Picture 7">
            <a:extLst>
              <a:ext uri="{FF2B5EF4-FFF2-40B4-BE49-F238E27FC236}">
                <a16:creationId xmlns:a16="http://schemas.microsoft.com/office/drawing/2014/main" id="{955B389C-5E9A-4932-B8FB-15B2343FAAE4}"/>
              </a:ext>
            </a:extLst>
          </p:cNvPr>
          <p:cNvPicPr>
            <a:picLocks noChangeAspect="1"/>
          </p:cNvPicPr>
          <p:nvPr/>
        </p:nvPicPr>
        <p:blipFill>
          <a:blip r:embed="rId2"/>
          <a:stretch>
            <a:fillRect/>
          </a:stretch>
        </p:blipFill>
        <p:spPr>
          <a:xfrm>
            <a:off x="3733800" y="2933700"/>
            <a:ext cx="10563225" cy="51911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3624397"/>
            <a:ext cx="18288000" cy="0"/>
          </a:xfrm>
          <a:prstGeom prst="line">
            <a:avLst/>
          </a:prstGeom>
          <a:ln w="9525" cap="rnd">
            <a:solidFill>
              <a:srgbClr val="F4F4F4"/>
            </a:solidFill>
            <a:prstDash val="solid"/>
            <a:headEnd type="none" w="sm" len="sm"/>
            <a:tailEnd type="none" w="sm" len="sm"/>
          </a:ln>
        </p:spPr>
      </p:sp>
      <p:sp>
        <p:nvSpPr>
          <p:cNvPr id="3" name="TextBox 3"/>
          <p:cNvSpPr txBox="1"/>
          <p:nvPr/>
        </p:nvSpPr>
        <p:spPr>
          <a:xfrm>
            <a:off x="862133" y="8103552"/>
            <a:ext cx="7041070" cy="2214372"/>
          </a:xfrm>
          <a:prstGeom prst="rect">
            <a:avLst/>
          </a:prstGeom>
        </p:spPr>
        <p:txBody>
          <a:bodyPr lIns="0" tIns="0" rIns="0" bIns="0" rtlCol="0" anchor="t">
            <a:spAutoFit/>
          </a:bodyPr>
          <a:lstStyle/>
          <a:p>
            <a:pPr marL="0" lvl="0" indent="0" algn="l">
              <a:lnSpc>
                <a:spcPts val="8116"/>
              </a:lnSpc>
            </a:pPr>
            <a:r>
              <a:rPr lang="en-US" sz="8544" b="1" spc="-358" dirty="0">
                <a:solidFill>
                  <a:srgbClr val="F4F4F4"/>
                </a:solidFill>
                <a:latin typeface="Poppins Medium"/>
                <a:ea typeface="Poppins Medium"/>
                <a:cs typeface="Poppins Medium"/>
                <a:sym typeface="Poppins Medium"/>
              </a:rPr>
              <a:t>Correlation</a:t>
            </a:r>
          </a:p>
          <a:p>
            <a:pPr marL="0" lvl="0" indent="0" algn="l">
              <a:lnSpc>
                <a:spcPts val="8116"/>
              </a:lnSpc>
            </a:pPr>
            <a:r>
              <a:rPr lang="en-US" sz="8544" b="1" spc="-358" dirty="0">
                <a:solidFill>
                  <a:srgbClr val="F4F4F4"/>
                </a:solidFill>
                <a:latin typeface="Poppins Medium"/>
                <a:ea typeface="Poppins Medium"/>
                <a:cs typeface="Poppins Medium"/>
                <a:sym typeface="Poppins Medium"/>
              </a:rPr>
              <a:t>Heatmap</a:t>
            </a:r>
          </a:p>
        </p:txBody>
      </p:sp>
      <p:sp>
        <p:nvSpPr>
          <p:cNvPr id="4" name="TextBox 4"/>
          <p:cNvSpPr txBox="1"/>
          <p:nvPr/>
        </p:nvSpPr>
        <p:spPr>
          <a:xfrm>
            <a:off x="10292284" y="7051791"/>
            <a:ext cx="6967016" cy="509411"/>
          </a:xfrm>
          <a:prstGeom prst="rect">
            <a:avLst/>
          </a:prstGeom>
        </p:spPr>
        <p:txBody>
          <a:bodyPr lIns="0" tIns="0" rIns="0" bIns="0" rtlCol="0" anchor="t">
            <a:spAutoFit/>
          </a:bodyPr>
          <a:lstStyle/>
          <a:p>
            <a:pPr marL="0" lvl="0" indent="0" algn="l">
              <a:lnSpc>
                <a:spcPts val="3947"/>
              </a:lnSpc>
              <a:spcBef>
                <a:spcPct val="0"/>
              </a:spcBef>
            </a:pPr>
            <a:r>
              <a:rPr lang="en-US" sz="2819" spc="-118" dirty="0">
                <a:solidFill>
                  <a:srgbClr val="F4F4F4"/>
                </a:solidFill>
                <a:latin typeface="Poppins"/>
                <a:ea typeface="Poppins"/>
                <a:cs typeface="Poppins"/>
                <a:sym typeface="Poppins"/>
              </a:rPr>
              <a:t>Strongest Rating Relationships</a:t>
            </a:r>
          </a:p>
        </p:txBody>
      </p:sp>
      <p:sp>
        <p:nvSpPr>
          <p:cNvPr id="5" name="TextBox 5"/>
          <p:cNvSpPr txBox="1"/>
          <p:nvPr/>
        </p:nvSpPr>
        <p:spPr>
          <a:xfrm>
            <a:off x="10292284" y="8103552"/>
            <a:ext cx="6967016" cy="945782"/>
          </a:xfrm>
          <a:prstGeom prst="rect">
            <a:avLst/>
          </a:prstGeom>
        </p:spPr>
        <p:txBody>
          <a:bodyPr lIns="0" tIns="0" rIns="0" bIns="0" rtlCol="0" anchor="t">
            <a:spAutoFit/>
          </a:bodyPr>
          <a:lstStyle/>
          <a:p>
            <a:pPr marL="0" lvl="0" indent="0" algn="just">
              <a:lnSpc>
                <a:spcPts val="1945"/>
              </a:lnSpc>
              <a:spcBef>
                <a:spcPct val="0"/>
              </a:spcBef>
            </a:pPr>
            <a:r>
              <a:rPr lang="en-US" sz="1389" dirty="0">
                <a:solidFill>
                  <a:srgbClr val="F4F4F4"/>
                </a:solidFill>
                <a:latin typeface="Inter Extra-Light"/>
                <a:ea typeface="Inter Extra-Light"/>
                <a:cs typeface="Inter Extra-Light"/>
                <a:sym typeface="Inter Extra-Light"/>
              </a:rPr>
              <a:t>Key findings: Seat Comfort vs Cabin Staff Service (0.86) and Cabin Staff Service vs Food &amp; Beverages (0.80) show the strongest links. Value for Money vs Recommended (0.77) and Ground Service vs Recommended (0.71) are top drivers of satisfaction. Wi-Fi &amp; Connectivity shows the weakest correlations across all categories.</a:t>
            </a:r>
          </a:p>
        </p:txBody>
      </p:sp>
      <p:pic>
        <p:nvPicPr>
          <p:cNvPr id="9" name="Picture 8">
            <a:extLst>
              <a:ext uri="{FF2B5EF4-FFF2-40B4-BE49-F238E27FC236}">
                <a16:creationId xmlns:a16="http://schemas.microsoft.com/office/drawing/2014/main" id="{CC134FC4-D81E-7408-7E38-02B2E4778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133" y="650492"/>
            <a:ext cx="6848613" cy="3731008"/>
          </a:xfrm>
          <a:prstGeom prst="rect">
            <a:avLst/>
          </a:prstGeom>
        </p:spPr>
      </p:pic>
      <p:sp>
        <p:nvSpPr>
          <p:cNvPr id="11" name="TextBox 5">
            <a:extLst>
              <a:ext uri="{FF2B5EF4-FFF2-40B4-BE49-F238E27FC236}">
                <a16:creationId xmlns:a16="http://schemas.microsoft.com/office/drawing/2014/main" id="{3BE8D3D4-D95F-79B7-26B1-3EA7606DAD3F}"/>
              </a:ext>
            </a:extLst>
          </p:cNvPr>
          <p:cNvSpPr txBox="1"/>
          <p:nvPr/>
        </p:nvSpPr>
        <p:spPr>
          <a:xfrm>
            <a:off x="936187" y="5274396"/>
            <a:ext cx="6967016" cy="1687321"/>
          </a:xfrm>
          <a:prstGeom prst="rect">
            <a:avLst/>
          </a:prstGeom>
        </p:spPr>
        <p:txBody>
          <a:bodyPr lIns="0" tIns="0" rIns="0" bIns="0" rtlCol="0" anchor="t">
            <a:spAutoFit/>
          </a:bodyPr>
          <a:lstStyle/>
          <a:p>
            <a:pPr marL="0" lvl="0" indent="0" algn="just">
              <a:lnSpc>
                <a:spcPts val="1945"/>
              </a:lnSpc>
              <a:spcBef>
                <a:spcPct val="0"/>
              </a:spcBef>
            </a:pPr>
            <a:r>
              <a:rPr lang="en-US" sz="1389" dirty="0">
                <a:solidFill>
                  <a:srgbClr val="F4F4F4"/>
                </a:solidFill>
                <a:latin typeface="Inter Extra-Light"/>
                <a:ea typeface="Inter Extra-Light"/>
                <a:cs typeface="Inter Extra-Light"/>
                <a:sym typeface="Inter Extra-Light"/>
              </a:rPr>
              <a:t>The heatmap shows that airline service ratings varied across categories and time. Cabin staff service and seat comfort consistently scored higher, suggesting passengers valued these aspects most. In contrast, food, beverages, and inflight entertainment often lagged, reflecting weaker satisfaction in non‑essential services. Notably, ratings dipped around mid‑2020, likely due to pandemic disruptions, but recovered by late 2021–2022, with improvements in ground service and value for money indicating renewed customer confidence.</a:t>
            </a:r>
          </a:p>
        </p:txBody>
      </p:sp>
      <p:pic>
        <p:nvPicPr>
          <p:cNvPr id="12" name="Picture 11">
            <a:extLst>
              <a:ext uri="{FF2B5EF4-FFF2-40B4-BE49-F238E27FC236}">
                <a16:creationId xmlns:a16="http://schemas.microsoft.com/office/drawing/2014/main" id="{09B587A3-31A9-B003-3B8F-5FD5711128CC}"/>
              </a:ext>
            </a:extLst>
          </p:cNvPr>
          <p:cNvPicPr>
            <a:picLocks noChangeAspect="1"/>
          </p:cNvPicPr>
          <p:nvPr/>
        </p:nvPicPr>
        <p:blipFill>
          <a:blip r:embed="rId4"/>
          <a:stretch>
            <a:fillRect/>
          </a:stretch>
        </p:blipFill>
        <p:spPr>
          <a:xfrm>
            <a:off x="9144000" y="625435"/>
            <a:ext cx="8351540" cy="59979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5143500"/>
            <a:ext cx="18288000" cy="0"/>
          </a:xfrm>
          <a:prstGeom prst="line">
            <a:avLst/>
          </a:prstGeom>
          <a:ln w="9525" cap="rnd">
            <a:solidFill>
              <a:srgbClr val="F4F4F4"/>
            </a:solidFill>
            <a:prstDash val="solid"/>
            <a:headEnd type="none" w="sm" len="sm"/>
            <a:tailEnd type="none" w="sm" len="sm"/>
          </a:ln>
        </p:spPr>
      </p:sp>
      <p:grpSp>
        <p:nvGrpSpPr>
          <p:cNvPr id="3" name="Group 3"/>
          <p:cNvGrpSpPr/>
          <p:nvPr/>
        </p:nvGrpSpPr>
        <p:grpSpPr>
          <a:xfrm>
            <a:off x="1028700" y="1638300"/>
            <a:ext cx="19418997" cy="7755257"/>
            <a:chOff x="0" y="-70047"/>
            <a:chExt cx="25891997" cy="10340342"/>
          </a:xfrm>
        </p:grpSpPr>
        <p:sp>
          <p:nvSpPr>
            <p:cNvPr id="4" name="TextBox 4"/>
            <p:cNvSpPr txBox="1"/>
            <p:nvPr/>
          </p:nvSpPr>
          <p:spPr>
            <a:xfrm>
              <a:off x="14106159" y="-70047"/>
              <a:ext cx="11785838" cy="2990596"/>
            </a:xfrm>
            <a:prstGeom prst="rect">
              <a:avLst/>
            </a:prstGeom>
          </p:spPr>
          <p:txBody>
            <a:bodyPr lIns="0" tIns="0" rIns="0" bIns="0" rtlCol="0" anchor="t">
              <a:spAutoFit/>
            </a:bodyPr>
            <a:lstStyle/>
            <a:p>
              <a:pPr marL="0" lvl="0" indent="0" algn="l">
                <a:lnSpc>
                  <a:spcPts val="8116"/>
                </a:lnSpc>
              </a:pPr>
              <a:r>
                <a:rPr lang="en-US" sz="8544" b="1" spc="-358" dirty="0">
                  <a:solidFill>
                    <a:srgbClr val="F4F4F4"/>
                  </a:solidFill>
                  <a:latin typeface="Poppins Medium"/>
                  <a:ea typeface="Poppins Medium"/>
                  <a:cs typeface="Poppins Medium"/>
                  <a:sym typeface="Poppins Medium"/>
                </a:rPr>
                <a:t>Seat Type Comparison</a:t>
              </a:r>
            </a:p>
          </p:txBody>
        </p:sp>
        <p:sp>
          <p:nvSpPr>
            <p:cNvPr id="5" name="TextBox 5"/>
            <p:cNvSpPr txBox="1"/>
            <p:nvPr/>
          </p:nvSpPr>
          <p:spPr>
            <a:xfrm>
              <a:off x="0" y="6007667"/>
              <a:ext cx="9289355" cy="1311040"/>
            </a:xfrm>
            <a:prstGeom prst="rect">
              <a:avLst/>
            </a:prstGeom>
          </p:spPr>
          <p:txBody>
            <a:bodyPr lIns="0" tIns="0" rIns="0" bIns="0" rtlCol="0" anchor="t">
              <a:spAutoFit/>
            </a:bodyPr>
            <a:lstStyle/>
            <a:p>
              <a:pPr marL="0" lvl="0" indent="0" algn="l">
                <a:lnSpc>
                  <a:spcPts val="3947"/>
                </a:lnSpc>
                <a:spcBef>
                  <a:spcPct val="0"/>
                </a:spcBef>
              </a:pPr>
              <a:r>
                <a:rPr lang="en-US" sz="2819" spc="-118" dirty="0">
                  <a:solidFill>
                    <a:srgbClr val="F4F4F4"/>
                  </a:solidFill>
                  <a:latin typeface="Poppins"/>
                  <a:ea typeface="Poppins"/>
                  <a:cs typeface="Poppins"/>
                  <a:sym typeface="Poppins"/>
                </a:rPr>
                <a:t>Economy, Business, Premium Economy &amp; First Class</a:t>
              </a:r>
            </a:p>
          </p:txBody>
        </p:sp>
        <p:sp>
          <p:nvSpPr>
            <p:cNvPr id="6" name="TextBox 6"/>
            <p:cNvSpPr txBox="1"/>
            <p:nvPr/>
          </p:nvSpPr>
          <p:spPr>
            <a:xfrm>
              <a:off x="0" y="8041907"/>
              <a:ext cx="9289355" cy="2228388"/>
            </a:xfrm>
            <a:prstGeom prst="rect">
              <a:avLst/>
            </a:prstGeom>
          </p:spPr>
          <p:txBody>
            <a:bodyPr lIns="0" tIns="0" rIns="0" bIns="0" rtlCol="0" anchor="t">
              <a:spAutoFit/>
            </a:bodyPr>
            <a:lstStyle/>
            <a:p>
              <a:pPr marL="0" lvl="0" indent="0" algn="just">
                <a:lnSpc>
                  <a:spcPts val="2238"/>
                </a:lnSpc>
                <a:spcBef>
                  <a:spcPct val="0"/>
                </a:spcBef>
              </a:pPr>
              <a:r>
                <a:rPr lang="en-US" sz="1598" dirty="0">
                  <a:solidFill>
                    <a:srgbClr val="F4F4F4"/>
                  </a:solidFill>
                  <a:latin typeface="Inter Extra-Light"/>
                  <a:ea typeface="Inter Extra-Light"/>
                  <a:cs typeface="Inter Extra-Light"/>
                  <a:sym typeface="Inter Extra-Light"/>
                </a:rPr>
                <a:t>Premium Economy reports higher satisfaction across almost all service dimensions except for inflight entertainment, consistently outperforming other cabin classes. Economy Class shows the greatest variability in ratings, reflecting inconsistent passenger experiences. Both Premium Economy and First Class have smaller sample sizes, which limits the generalizability of their results.</a:t>
              </a:r>
            </a:p>
          </p:txBody>
        </p:sp>
      </p:grpSp>
      <p:pic>
        <p:nvPicPr>
          <p:cNvPr id="10" name="Picture 9">
            <a:extLst>
              <a:ext uri="{FF2B5EF4-FFF2-40B4-BE49-F238E27FC236}">
                <a16:creationId xmlns:a16="http://schemas.microsoft.com/office/drawing/2014/main" id="{D5F2566E-7BD1-E180-91CC-AB42F1165658}"/>
              </a:ext>
            </a:extLst>
          </p:cNvPr>
          <p:cNvPicPr>
            <a:picLocks noChangeAspect="1"/>
          </p:cNvPicPr>
          <p:nvPr/>
        </p:nvPicPr>
        <p:blipFill>
          <a:blip r:embed="rId2"/>
          <a:stretch>
            <a:fillRect/>
          </a:stretch>
        </p:blipFill>
        <p:spPr>
          <a:xfrm>
            <a:off x="685800" y="647700"/>
            <a:ext cx="10363200" cy="51423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5143500"/>
            <a:ext cx="18288000" cy="0"/>
          </a:xfrm>
          <a:prstGeom prst="line">
            <a:avLst/>
          </a:prstGeom>
          <a:ln w="9525" cap="rnd">
            <a:solidFill>
              <a:srgbClr val="F4F4F4"/>
            </a:solidFill>
            <a:prstDash val="solid"/>
            <a:headEnd type="none" w="sm" len="sm"/>
            <a:tailEnd type="none" w="sm" len="sm"/>
          </a:ln>
        </p:spPr>
      </p:sp>
      <p:grpSp>
        <p:nvGrpSpPr>
          <p:cNvPr id="3" name="Group 3"/>
          <p:cNvGrpSpPr/>
          <p:nvPr/>
        </p:nvGrpSpPr>
        <p:grpSpPr>
          <a:xfrm>
            <a:off x="1028700" y="1690835"/>
            <a:ext cx="8839378" cy="6648234"/>
            <a:chOff x="0" y="0"/>
            <a:chExt cx="11785838" cy="8864312"/>
          </a:xfrm>
        </p:grpSpPr>
        <p:sp>
          <p:nvSpPr>
            <p:cNvPr id="4" name="TextBox 4"/>
            <p:cNvSpPr txBox="1"/>
            <p:nvPr/>
          </p:nvSpPr>
          <p:spPr>
            <a:xfrm>
              <a:off x="0" y="114300"/>
              <a:ext cx="11785838" cy="1619250"/>
            </a:xfrm>
            <a:prstGeom prst="rect">
              <a:avLst/>
            </a:prstGeom>
          </p:spPr>
          <p:txBody>
            <a:bodyPr lIns="0" tIns="0" rIns="0" bIns="0" rtlCol="0" anchor="t">
              <a:spAutoFit/>
            </a:bodyPr>
            <a:lstStyle/>
            <a:p>
              <a:pPr marL="0" lvl="0" indent="0" algn="l">
                <a:lnSpc>
                  <a:spcPts val="8122"/>
                </a:lnSpc>
              </a:pPr>
              <a:r>
                <a:rPr lang="en-US" sz="8550" b="1" spc="-359">
                  <a:solidFill>
                    <a:srgbClr val="F4F4F4"/>
                  </a:solidFill>
                  <a:latin typeface="Poppins Medium"/>
                  <a:ea typeface="Poppins Medium"/>
                  <a:cs typeface="Poppins Medium"/>
                  <a:sym typeface="Poppins Medium"/>
                </a:rPr>
                <a:t>Route Analysis</a:t>
              </a:r>
            </a:p>
          </p:txBody>
        </p:sp>
        <p:sp>
          <p:nvSpPr>
            <p:cNvPr id="5" name="TextBox 5"/>
            <p:cNvSpPr txBox="1"/>
            <p:nvPr/>
          </p:nvSpPr>
          <p:spPr>
            <a:xfrm>
              <a:off x="0" y="4636321"/>
              <a:ext cx="9289355" cy="1311040"/>
            </a:xfrm>
            <a:prstGeom prst="rect">
              <a:avLst/>
            </a:prstGeom>
          </p:spPr>
          <p:txBody>
            <a:bodyPr lIns="0" tIns="0" rIns="0" bIns="0" rtlCol="0" anchor="t">
              <a:spAutoFit/>
            </a:bodyPr>
            <a:lstStyle/>
            <a:p>
              <a:pPr marL="0" lvl="0" indent="0" algn="l">
                <a:lnSpc>
                  <a:spcPts val="3947"/>
                </a:lnSpc>
                <a:spcBef>
                  <a:spcPct val="0"/>
                </a:spcBef>
              </a:pPr>
              <a:r>
                <a:rPr lang="en-US" sz="2819" spc="-118">
                  <a:solidFill>
                    <a:srgbClr val="F4F4F4"/>
                  </a:solidFill>
                  <a:latin typeface="Poppins"/>
                  <a:ea typeface="Poppins"/>
                  <a:cs typeface="Poppins"/>
                  <a:sym typeface="Poppins"/>
                </a:rPr>
                <a:t>Seat Comfort by Route &amp; Top Aircraft Performance</a:t>
              </a:r>
            </a:p>
          </p:txBody>
        </p:sp>
        <p:sp>
          <p:nvSpPr>
            <p:cNvPr id="6" name="TextBox 6"/>
            <p:cNvSpPr txBox="1"/>
            <p:nvPr/>
          </p:nvSpPr>
          <p:spPr>
            <a:xfrm>
              <a:off x="0" y="6670561"/>
              <a:ext cx="9289355" cy="2193752"/>
            </a:xfrm>
            <a:prstGeom prst="rect">
              <a:avLst/>
            </a:prstGeom>
          </p:spPr>
          <p:txBody>
            <a:bodyPr lIns="0" tIns="0" rIns="0" bIns="0" rtlCol="0" anchor="t">
              <a:spAutoFit/>
            </a:bodyPr>
            <a:lstStyle/>
            <a:p>
              <a:pPr marL="0" lvl="0" indent="0" algn="just">
                <a:lnSpc>
                  <a:spcPts val="2238"/>
                </a:lnSpc>
                <a:spcBef>
                  <a:spcPct val="0"/>
                </a:spcBef>
              </a:pPr>
              <a:r>
                <a:rPr lang="en-US" sz="1598" dirty="0">
                  <a:solidFill>
                    <a:srgbClr val="F4F4F4"/>
                  </a:solidFill>
                  <a:latin typeface="Inter Extra-Light"/>
                  <a:ea typeface="Inter Extra-Light"/>
                  <a:cs typeface="Inter Extra-Light"/>
                  <a:sym typeface="Inter Extra-Light"/>
                </a:rPr>
                <a:t>Route-level analysis reveals significant variation in seat comfort scores across destinations. Long-haul international routes tend to show lower comfort ratings, while select regional routes perform better. Aircraft type plays a key role: wide-body aircraft consistently receive higher ratings. Top-performing aircraft models show stronger overall satisfaction, reinforcing the link between equipment and passenger experience.</a:t>
              </a:r>
            </a:p>
          </p:txBody>
        </p:sp>
      </p:grpSp>
      <p:pic>
        <p:nvPicPr>
          <p:cNvPr id="14" name="Picture 13">
            <a:extLst>
              <a:ext uri="{FF2B5EF4-FFF2-40B4-BE49-F238E27FC236}">
                <a16:creationId xmlns:a16="http://schemas.microsoft.com/office/drawing/2014/main" id="{C5B3AF55-B6F8-CB36-191D-7A16D22004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2600" y="2857500"/>
            <a:ext cx="8510753" cy="42231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ED980F17-B991-D88D-18ED-384CBD60336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39DE53B-8C97-5A3C-B15A-98AE4B94A528}"/>
              </a:ext>
            </a:extLst>
          </p:cNvPr>
          <p:cNvSpPr/>
          <p:nvPr/>
        </p:nvSpPr>
        <p:spPr>
          <a:xfrm flipV="1">
            <a:off x="0" y="5143500"/>
            <a:ext cx="18288000" cy="0"/>
          </a:xfrm>
          <a:prstGeom prst="line">
            <a:avLst/>
          </a:prstGeom>
          <a:ln w="9525" cap="rnd">
            <a:solidFill>
              <a:srgbClr val="F4F4F4"/>
            </a:solidFill>
            <a:prstDash val="solid"/>
            <a:headEnd type="none" w="sm" len="sm"/>
            <a:tailEnd type="none" w="sm" len="sm"/>
          </a:ln>
        </p:spPr>
      </p:sp>
      <p:grpSp>
        <p:nvGrpSpPr>
          <p:cNvPr id="3" name="Group 3">
            <a:extLst>
              <a:ext uri="{FF2B5EF4-FFF2-40B4-BE49-F238E27FC236}">
                <a16:creationId xmlns:a16="http://schemas.microsoft.com/office/drawing/2014/main" id="{AB0212D4-8AB7-E83A-E371-BC1C88BCA0F1}"/>
              </a:ext>
            </a:extLst>
          </p:cNvPr>
          <p:cNvGrpSpPr/>
          <p:nvPr/>
        </p:nvGrpSpPr>
        <p:grpSpPr>
          <a:xfrm>
            <a:off x="1028700" y="1776560"/>
            <a:ext cx="8839378" cy="6093187"/>
            <a:chOff x="0" y="114300"/>
            <a:chExt cx="11785838" cy="8124249"/>
          </a:xfrm>
        </p:grpSpPr>
        <p:sp>
          <p:nvSpPr>
            <p:cNvPr id="4" name="TextBox 4">
              <a:extLst>
                <a:ext uri="{FF2B5EF4-FFF2-40B4-BE49-F238E27FC236}">
                  <a16:creationId xmlns:a16="http://schemas.microsoft.com/office/drawing/2014/main" id="{A8940170-BFE9-400F-B39B-F651382D4C5C}"/>
                </a:ext>
              </a:extLst>
            </p:cNvPr>
            <p:cNvSpPr txBox="1"/>
            <p:nvPr/>
          </p:nvSpPr>
          <p:spPr>
            <a:xfrm>
              <a:off x="0" y="114300"/>
              <a:ext cx="11785838" cy="1619250"/>
            </a:xfrm>
            <a:prstGeom prst="rect">
              <a:avLst/>
            </a:prstGeom>
          </p:spPr>
          <p:txBody>
            <a:bodyPr lIns="0" tIns="0" rIns="0" bIns="0" rtlCol="0" anchor="t">
              <a:spAutoFit/>
            </a:bodyPr>
            <a:lstStyle/>
            <a:p>
              <a:pPr marL="0" lvl="0" indent="0" algn="l">
                <a:lnSpc>
                  <a:spcPts val="8122"/>
                </a:lnSpc>
              </a:pPr>
              <a:r>
                <a:rPr lang="en-US" sz="8550" b="1" spc="-359">
                  <a:solidFill>
                    <a:srgbClr val="F4F4F4"/>
                  </a:solidFill>
                  <a:latin typeface="Poppins Medium"/>
                  <a:ea typeface="Poppins Medium"/>
                  <a:cs typeface="Poppins Medium"/>
                  <a:sym typeface="Poppins Medium"/>
                </a:rPr>
                <a:t>Overall Ratings</a:t>
              </a:r>
            </a:p>
          </p:txBody>
        </p:sp>
        <p:sp>
          <p:nvSpPr>
            <p:cNvPr id="5" name="TextBox 5">
              <a:extLst>
                <a:ext uri="{FF2B5EF4-FFF2-40B4-BE49-F238E27FC236}">
                  <a16:creationId xmlns:a16="http://schemas.microsoft.com/office/drawing/2014/main" id="{26D22F9D-F679-7215-D0C1-C0058DB15710}"/>
                </a:ext>
              </a:extLst>
            </p:cNvPr>
            <p:cNvSpPr txBox="1"/>
            <p:nvPr/>
          </p:nvSpPr>
          <p:spPr>
            <a:xfrm>
              <a:off x="0" y="4636321"/>
              <a:ext cx="9289355" cy="650640"/>
            </a:xfrm>
            <a:prstGeom prst="rect">
              <a:avLst/>
            </a:prstGeom>
          </p:spPr>
          <p:txBody>
            <a:bodyPr lIns="0" tIns="0" rIns="0" bIns="0" rtlCol="0" anchor="t">
              <a:spAutoFit/>
            </a:bodyPr>
            <a:lstStyle/>
            <a:p>
              <a:pPr marL="0" lvl="0" indent="0" algn="l">
                <a:lnSpc>
                  <a:spcPts val="3947"/>
                </a:lnSpc>
                <a:spcBef>
                  <a:spcPct val="0"/>
                </a:spcBef>
              </a:pPr>
              <a:r>
                <a:rPr lang="en-US" sz="2819" spc="-118">
                  <a:solidFill>
                    <a:srgbClr val="F4F4F4"/>
                  </a:solidFill>
                  <a:latin typeface="Poppins"/>
                  <a:ea typeface="Poppins"/>
                  <a:cs typeface="Poppins"/>
                  <a:sym typeface="Poppins"/>
                </a:rPr>
                <a:t>Rating Distribution by Service Category</a:t>
              </a:r>
            </a:p>
          </p:txBody>
        </p:sp>
        <p:sp>
          <p:nvSpPr>
            <p:cNvPr id="6" name="TextBox 6">
              <a:extLst>
                <a:ext uri="{FF2B5EF4-FFF2-40B4-BE49-F238E27FC236}">
                  <a16:creationId xmlns:a16="http://schemas.microsoft.com/office/drawing/2014/main" id="{87A4B63F-1548-AE4B-FD96-B5E1FE7FABA7}"/>
                </a:ext>
              </a:extLst>
            </p:cNvPr>
            <p:cNvSpPr txBox="1"/>
            <p:nvPr/>
          </p:nvSpPr>
          <p:spPr>
            <a:xfrm>
              <a:off x="0" y="6010161"/>
              <a:ext cx="9289355" cy="2228388"/>
            </a:xfrm>
            <a:prstGeom prst="rect">
              <a:avLst/>
            </a:prstGeom>
          </p:spPr>
          <p:txBody>
            <a:bodyPr lIns="0" tIns="0" rIns="0" bIns="0" rtlCol="0" anchor="t">
              <a:spAutoFit/>
            </a:bodyPr>
            <a:lstStyle/>
            <a:p>
              <a:pPr marL="0" lvl="0" indent="0" algn="just">
                <a:lnSpc>
                  <a:spcPts val="2238"/>
                </a:lnSpc>
                <a:spcBef>
                  <a:spcPct val="0"/>
                </a:spcBef>
              </a:pPr>
              <a:r>
                <a:rPr lang="en-US" sz="1598" dirty="0">
                  <a:solidFill>
                    <a:srgbClr val="F4F4F4"/>
                  </a:solidFill>
                  <a:latin typeface="Inter Extra-Light"/>
                  <a:ea typeface="Inter Extra-Light"/>
                  <a:cs typeface="Inter Extra-Light"/>
                  <a:sym typeface="Inter Extra-Light"/>
                </a:rPr>
                <a:t>Cabin Staff Service and Seat Comfort earn the highest ratings, clustering near 4–5 on recommended flights. Food &amp; Beverages and Inflight Entertainment sit mid‑range, while Ground Service and Value for Money show the widest variation, reflecting inconsistency across routes. Strong staff service and comfort emerge as the most reliable drivers of positive recommendations.</a:t>
              </a:r>
            </a:p>
          </p:txBody>
        </p:sp>
      </p:grpSp>
      <p:pic>
        <p:nvPicPr>
          <p:cNvPr id="14" name="Picture 13">
            <a:extLst>
              <a:ext uri="{FF2B5EF4-FFF2-40B4-BE49-F238E27FC236}">
                <a16:creationId xmlns:a16="http://schemas.microsoft.com/office/drawing/2014/main" id="{0880C706-8645-EA20-1384-8CB400AAA8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6800" y="3314700"/>
            <a:ext cx="8839378" cy="4386235"/>
          </a:xfrm>
          <a:prstGeom prst="rect">
            <a:avLst/>
          </a:prstGeom>
        </p:spPr>
      </p:pic>
    </p:spTree>
    <p:extLst>
      <p:ext uri="{BB962C8B-B14F-4D97-AF65-F5344CB8AC3E}">
        <p14:creationId xmlns:p14="http://schemas.microsoft.com/office/powerpoint/2010/main" val="663113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5143500"/>
            <a:ext cx="18288000" cy="0"/>
          </a:xfrm>
          <a:prstGeom prst="line">
            <a:avLst/>
          </a:prstGeom>
          <a:ln w="9525" cap="rnd">
            <a:solidFill>
              <a:srgbClr val="F4F4F4"/>
            </a:solidFill>
            <a:prstDash val="solid"/>
            <a:headEnd type="none" w="sm" len="sm"/>
            <a:tailEnd type="none" w="sm" len="sm"/>
          </a:ln>
        </p:spPr>
      </p:sp>
      <p:sp>
        <p:nvSpPr>
          <p:cNvPr id="4" name="TextBox 4"/>
          <p:cNvSpPr txBox="1"/>
          <p:nvPr/>
        </p:nvSpPr>
        <p:spPr>
          <a:xfrm>
            <a:off x="9494920" y="6322866"/>
            <a:ext cx="6967016" cy="501761"/>
          </a:xfrm>
          <a:prstGeom prst="rect">
            <a:avLst/>
          </a:prstGeom>
        </p:spPr>
        <p:txBody>
          <a:bodyPr lIns="0" tIns="0" rIns="0" bIns="0" rtlCol="0" anchor="t">
            <a:spAutoFit/>
          </a:bodyPr>
          <a:lstStyle/>
          <a:p>
            <a:pPr marL="0" lvl="0" indent="0" algn="l">
              <a:lnSpc>
                <a:spcPts val="3843"/>
              </a:lnSpc>
              <a:spcBef>
                <a:spcPct val="0"/>
              </a:spcBef>
            </a:pPr>
            <a:r>
              <a:rPr lang="en-US" sz="2745" spc="-115">
                <a:solidFill>
                  <a:srgbClr val="F4F4F4"/>
                </a:solidFill>
                <a:latin typeface="Poppins"/>
                <a:ea typeface="Poppins"/>
                <a:cs typeface="Poppins"/>
                <a:sym typeface="Poppins"/>
              </a:rPr>
              <a:t>Rating Patterns &amp; Recommendation Trends</a:t>
            </a:r>
          </a:p>
        </p:txBody>
      </p:sp>
      <p:sp>
        <p:nvSpPr>
          <p:cNvPr id="5" name="TextBox 5"/>
          <p:cNvSpPr txBox="1"/>
          <p:nvPr/>
        </p:nvSpPr>
        <p:spPr>
          <a:xfrm>
            <a:off x="9494920" y="7332082"/>
            <a:ext cx="7556647" cy="2235548"/>
          </a:xfrm>
          <a:prstGeom prst="rect">
            <a:avLst/>
          </a:prstGeom>
        </p:spPr>
        <p:txBody>
          <a:bodyPr lIns="0" tIns="0" rIns="0" bIns="0" rtlCol="0" anchor="t">
            <a:spAutoFit/>
          </a:bodyPr>
          <a:lstStyle/>
          <a:p>
            <a:pPr marL="0" lvl="0" indent="0" algn="just">
              <a:lnSpc>
                <a:spcPts val="2238"/>
              </a:lnSpc>
              <a:spcBef>
                <a:spcPct val="0"/>
              </a:spcBef>
            </a:pPr>
            <a:r>
              <a:rPr lang="en-US" sz="1598" dirty="0">
                <a:solidFill>
                  <a:srgbClr val="F4F4F4"/>
                </a:solidFill>
                <a:latin typeface="Inter Extra-Light"/>
                <a:ea typeface="Inter Extra-Light"/>
                <a:cs typeface="Inter Extra-Light"/>
                <a:sym typeface="Inter Extra-Light"/>
              </a:rPr>
              <a:t>The dataset reflects how external shocks — particularly the pandemic — reshaped passenger perceptions. Core service elements like Ground Service and Value for Money suffered during and after 2020, dragging down recommendation rates. Meanwhile, persistent dissatisfaction with connectivity and entertainment highlights structural issues that predate and outlast the pandemic. Airlines that invested in recovery efforts post‑2021 show gradual improvement, but uneven review volume makes trend reliability weaker in earlier years.</a:t>
            </a:r>
          </a:p>
        </p:txBody>
      </p:sp>
      <p:grpSp>
        <p:nvGrpSpPr>
          <p:cNvPr id="6" name="Group 6"/>
          <p:cNvGrpSpPr/>
          <p:nvPr/>
        </p:nvGrpSpPr>
        <p:grpSpPr>
          <a:xfrm>
            <a:off x="-5105400" y="1409700"/>
            <a:ext cx="9573334" cy="8229600"/>
            <a:chOff x="0" y="0"/>
            <a:chExt cx="1483160" cy="1274980"/>
          </a:xfrm>
        </p:grpSpPr>
        <p:sp>
          <p:nvSpPr>
            <p:cNvPr id="7" name="Freeform 7"/>
            <p:cNvSpPr/>
            <p:nvPr/>
          </p:nvSpPr>
          <p:spPr>
            <a:xfrm>
              <a:off x="0" y="0"/>
              <a:ext cx="1483160" cy="1274980"/>
            </a:xfrm>
            <a:custGeom>
              <a:avLst/>
              <a:gdLst/>
              <a:ahLst/>
              <a:cxnLst/>
              <a:rect l="l" t="t" r="r" b="b"/>
              <a:pathLst>
                <a:path w="1483160" h="1274980">
                  <a:moveTo>
                    <a:pt x="49330" y="0"/>
                  </a:moveTo>
                  <a:lnTo>
                    <a:pt x="1433829" y="0"/>
                  </a:lnTo>
                  <a:cubicBezTo>
                    <a:pt x="1446913" y="0"/>
                    <a:pt x="1459460" y="5197"/>
                    <a:pt x="1468711" y="14449"/>
                  </a:cubicBezTo>
                  <a:cubicBezTo>
                    <a:pt x="1477963" y="23700"/>
                    <a:pt x="1483160" y="36247"/>
                    <a:pt x="1483160" y="49330"/>
                  </a:cubicBezTo>
                  <a:lnTo>
                    <a:pt x="1483160" y="1225650"/>
                  </a:lnTo>
                  <a:cubicBezTo>
                    <a:pt x="1483160" y="1238733"/>
                    <a:pt x="1477963" y="1251281"/>
                    <a:pt x="1468711" y="1260532"/>
                  </a:cubicBezTo>
                  <a:cubicBezTo>
                    <a:pt x="1459460" y="1269783"/>
                    <a:pt x="1446913" y="1274980"/>
                    <a:pt x="1433829" y="1274980"/>
                  </a:cubicBezTo>
                  <a:lnTo>
                    <a:pt x="49330" y="1274980"/>
                  </a:lnTo>
                  <a:cubicBezTo>
                    <a:pt x="36247" y="1274980"/>
                    <a:pt x="23700" y="1269783"/>
                    <a:pt x="14449" y="1260532"/>
                  </a:cubicBezTo>
                  <a:cubicBezTo>
                    <a:pt x="5197" y="1251281"/>
                    <a:pt x="0" y="1238733"/>
                    <a:pt x="0" y="1225650"/>
                  </a:cubicBezTo>
                  <a:lnTo>
                    <a:pt x="0" y="49330"/>
                  </a:lnTo>
                  <a:cubicBezTo>
                    <a:pt x="0" y="36247"/>
                    <a:pt x="5197" y="23700"/>
                    <a:pt x="14449" y="14449"/>
                  </a:cubicBezTo>
                  <a:cubicBezTo>
                    <a:pt x="23700" y="5197"/>
                    <a:pt x="36247" y="0"/>
                    <a:pt x="49330" y="0"/>
                  </a:cubicBezTo>
                  <a:close/>
                </a:path>
              </a:pathLst>
            </a:custGeom>
            <a:blipFill>
              <a:blip r:embed="rId2"/>
              <a:stretch>
                <a:fillRect l="-197" r="-197"/>
              </a:stretch>
            </a:blipFill>
            <a:ln w="9525" cap="rnd">
              <a:solidFill>
                <a:srgbClr val="FFFFFF"/>
              </a:solidFill>
              <a:prstDash val="solid"/>
              <a:round/>
            </a:ln>
          </p:spPr>
        </p:sp>
      </p:grpSp>
      <p:pic>
        <p:nvPicPr>
          <p:cNvPr id="9" name="Picture 8">
            <a:extLst>
              <a:ext uri="{FF2B5EF4-FFF2-40B4-BE49-F238E27FC236}">
                <a16:creationId xmlns:a16="http://schemas.microsoft.com/office/drawing/2014/main" id="{54B7E9FD-3487-E319-8C94-5FC3D4F933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2800" y="446048"/>
            <a:ext cx="10872238" cy="5394971"/>
          </a:xfrm>
          <a:prstGeom prst="rect">
            <a:avLst/>
          </a:prstGeom>
        </p:spPr>
      </p:pic>
      <p:sp>
        <p:nvSpPr>
          <p:cNvPr id="3" name="TextBox 3"/>
          <p:cNvSpPr txBox="1"/>
          <p:nvPr/>
        </p:nvSpPr>
        <p:spPr>
          <a:xfrm>
            <a:off x="533400" y="402969"/>
            <a:ext cx="6967016" cy="2214372"/>
          </a:xfrm>
          <a:prstGeom prst="rect">
            <a:avLst/>
          </a:prstGeom>
        </p:spPr>
        <p:txBody>
          <a:bodyPr lIns="0" tIns="0" rIns="0" bIns="0" rtlCol="0" anchor="t">
            <a:spAutoFit/>
          </a:bodyPr>
          <a:lstStyle/>
          <a:p>
            <a:pPr marL="0" lvl="0" indent="0" algn="l">
              <a:lnSpc>
                <a:spcPts val="8116"/>
              </a:lnSpc>
            </a:pPr>
            <a:r>
              <a:rPr lang="en-US" sz="8544" b="1" spc="-358" dirty="0">
                <a:solidFill>
                  <a:srgbClr val="F4F4F4"/>
                </a:solidFill>
                <a:latin typeface="Poppins Medium"/>
                <a:ea typeface="Poppins Medium"/>
                <a:cs typeface="Poppins Medium"/>
                <a:sym typeface="Poppins Medium"/>
              </a:rPr>
              <a:t>Trends</a:t>
            </a:r>
          </a:p>
          <a:p>
            <a:pPr marL="0" lvl="0" indent="0" algn="l">
              <a:lnSpc>
                <a:spcPts val="8116"/>
              </a:lnSpc>
            </a:pPr>
            <a:r>
              <a:rPr lang="en-US" sz="8544" b="1" spc="-358" dirty="0">
                <a:solidFill>
                  <a:srgbClr val="F4F4F4"/>
                </a:solidFill>
                <a:latin typeface="Poppins Medium"/>
                <a:ea typeface="Poppins Medium"/>
                <a:cs typeface="Poppins Medium"/>
                <a:sym typeface="Poppins Medium"/>
              </a:rPr>
              <a:t>Over Time</a:t>
            </a:r>
          </a:p>
        </p:txBody>
      </p:sp>
      <p:pic>
        <p:nvPicPr>
          <p:cNvPr id="10" name="Picture 9">
            <a:extLst>
              <a:ext uri="{FF2B5EF4-FFF2-40B4-BE49-F238E27FC236}">
                <a16:creationId xmlns:a16="http://schemas.microsoft.com/office/drawing/2014/main" id="{AE72C16F-03E9-BB96-F9B2-171796F25804}"/>
              </a:ext>
            </a:extLst>
          </p:cNvPr>
          <p:cNvPicPr>
            <a:picLocks noChangeAspect="1"/>
          </p:cNvPicPr>
          <p:nvPr/>
        </p:nvPicPr>
        <p:blipFill>
          <a:blip r:embed="rId4"/>
          <a:stretch>
            <a:fillRect/>
          </a:stretch>
        </p:blipFill>
        <p:spPr>
          <a:xfrm>
            <a:off x="499300" y="6210300"/>
            <a:ext cx="6482127" cy="321653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44299" y="5138737"/>
            <a:ext cx="18288000" cy="0"/>
          </a:xfrm>
          <a:prstGeom prst="line">
            <a:avLst/>
          </a:prstGeom>
          <a:ln w="9525" cap="rnd">
            <a:solidFill>
              <a:srgbClr val="F4F4F4"/>
            </a:solidFill>
            <a:prstDash val="solid"/>
            <a:headEnd type="none" w="sm" len="sm"/>
            <a:tailEnd type="none" w="sm" len="sm"/>
          </a:ln>
        </p:spPr>
      </p:sp>
      <p:sp>
        <p:nvSpPr>
          <p:cNvPr id="3" name="AutoShape 3"/>
          <p:cNvSpPr/>
          <p:nvPr/>
        </p:nvSpPr>
        <p:spPr>
          <a:xfrm flipV="1">
            <a:off x="-44299" y="3948657"/>
            <a:ext cx="18288000" cy="0"/>
          </a:xfrm>
          <a:prstGeom prst="line">
            <a:avLst/>
          </a:prstGeom>
          <a:ln w="9525" cap="rnd">
            <a:solidFill>
              <a:srgbClr val="F4F4F4"/>
            </a:solidFill>
            <a:prstDash val="solid"/>
            <a:headEnd type="none" w="sm" len="sm"/>
            <a:tailEnd type="none" w="sm" len="sm"/>
          </a:ln>
        </p:spPr>
      </p:sp>
      <p:sp>
        <p:nvSpPr>
          <p:cNvPr id="4" name="AutoShape 4"/>
          <p:cNvSpPr/>
          <p:nvPr/>
        </p:nvSpPr>
        <p:spPr>
          <a:xfrm flipV="1">
            <a:off x="-22150" y="9228218"/>
            <a:ext cx="18288000" cy="0"/>
          </a:xfrm>
          <a:prstGeom prst="line">
            <a:avLst/>
          </a:prstGeom>
          <a:ln w="9525" cap="rnd">
            <a:solidFill>
              <a:srgbClr val="F4F4F4"/>
            </a:solidFill>
            <a:prstDash val="solid"/>
            <a:headEnd type="none" w="sm" len="sm"/>
            <a:tailEnd type="none" w="sm" len="sm"/>
          </a:ln>
        </p:spPr>
      </p:sp>
      <p:grpSp>
        <p:nvGrpSpPr>
          <p:cNvPr id="5" name="Group 5"/>
          <p:cNvGrpSpPr/>
          <p:nvPr/>
        </p:nvGrpSpPr>
        <p:grpSpPr>
          <a:xfrm>
            <a:off x="249764" y="5855985"/>
            <a:ext cx="18182866" cy="2501254"/>
            <a:chOff x="-67083" y="-385763"/>
            <a:chExt cx="22162807" cy="3335006"/>
          </a:xfrm>
        </p:grpSpPr>
        <p:grpSp>
          <p:nvGrpSpPr>
            <p:cNvPr id="6" name="Group 6"/>
            <p:cNvGrpSpPr/>
            <p:nvPr/>
          </p:nvGrpSpPr>
          <p:grpSpPr>
            <a:xfrm>
              <a:off x="723421" y="-385763"/>
              <a:ext cx="11417780" cy="1484241"/>
              <a:chOff x="0" y="-76200"/>
              <a:chExt cx="2255364" cy="293183"/>
            </a:xfrm>
          </p:grpSpPr>
          <p:sp>
            <p:nvSpPr>
              <p:cNvPr id="7" name="Freeform 7"/>
              <p:cNvSpPr/>
              <p:nvPr/>
            </p:nvSpPr>
            <p:spPr>
              <a:xfrm>
                <a:off x="0" y="0"/>
                <a:ext cx="2255364" cy="216983"/>
              </a:xfrm>
              <a:custGeom>
                <a:avLst/>
                <a:gdLst/>
                <a:ahLst/>
                <a:cxnLst/>
                <a:rect l="l" t="t" r="r" b="b"/>
                <a:pathLst>
                  <a:path w="1424656" h="216983">
                    <a:moveTo>
                      <a:pt x="108492" y="0"/>
                    </a:moveTo>
                    <a:lnTo>
                      <a:pt x="1316164" y="0"/>
                    </a:lnTo>
                    <a:cubicBezTo>
                      <a:pt x="1376083" y="0"/>
                      <a:pt x="1424656" y="48573"/>
                      <a:pt x="1424656" y="108492"/>
                    </a:cubicBezTo>
                    <a:lnTo>
                      <a:pt x="1424656" y="108492"/>
                    </a:lnTo>
                    <a:cubicBezTo>
                      <a:pt x="1424656" y="168410"/>
                      <a:pt x="1376083" y="216983"/>
                      <a:pt x="1316164" y="216983"/>
                    </a:cubicBezTo>
                    <a:lnTo>
                      <a:pt x="108492" y="216983"/>
                    </a:lnTo>
                    <a:cubicBezTo>
                      <a:pt x="48573" y="216983"/>
                      <a:pt x="0" y="168410"/>
                      <a:pt x="0" y="108492"/>
                    </a:cubicBezTo>
                    <a:lnTo>
                      <a:pt x="0" y="108492"/>
                    </a:lnTo>
                    <a:cubicBezTo>
                      <a:pt x="0" y="48573"/>
                      <a:pt x="48573" y="0"/>
                      <a:pt x="108492" y="0"/>
                    </a:cubicBezTo>
                    <a:close/>
                  </a:path>
                </a:pathLst>
              </a:custGeom>
              <a:ln w="9525" cap="rnd">
                <a:solidFill>
                  <a:srgbClr val="F4F4F4"/>
                </a:solidFill>
                <a:prstDash val="solid"/>
                <a:round/>
              </a:ln>
            </p:spPr>
          </p:sp>
          <p:sp>
            <p:nvSpPr>
              <p:cNvPr id="8" name="TextBox 8"/>
              <p:cNvSpPr txBox="1"/>
              <p:nvPr/>
            </p:nvSpPr>
            <p:spPr>
              <a:xfrm>
                <a:off x="0" y="-76200"/>
                <a:ext cx="1424656" cy="293183"/>
              </a:xfrm>
              <a:prstGeom prst="rect">
                <a:avLst/>
              </a:prstGeom>
            </p:spPr>
            <p:txBody>
              <a:bodyPr lIns="50800" tIns="50800" rIns="50800" bIns="50800" rtlCol="0" anchor="ctr"/>
              <a:lstStyle/>
              <a:p>
                <a:pPr marL="0" lvl="0" indent="0" algn="ctr">
                  <a:lnSpc>
                    <a:spcPts val="3530"/>
                  </a:lnSpc>
                </a:pPr>
                <a:endParaRPr/>
              </a:p>
            </p:txBody>
          </p:sp>
        </p:grpSp>
        <p:sp>
          <p:nvSpPr>
            <p:cNvPr id="9" name="TextBox 9"/>
            <p:cNvSpPr txBox="1"/>
            <p:nvPr/>
          </p:nvSpPr>
          <p:spPr>
            <a:xfrm>
              <a:off x="3894187" y="230688"/>
              <a:ext cx="8615324" cy="486971"/>
            </a:xfrm>
            <a:prstGeom prst="rect">
              <a:avLst/>
            </a:prstGeom>
          </p:spPr>
          <p:txBody>
            <a:bodyPr wrap="square" lIns="0" tIns="0" rIns="0" bIns="0" rtlCol="0" anchor="t">
              <a:spAutoFit/>
            </a:bodyPr>
            <a:lstStyle/>
            <a:p>
              <a:pPr marL="0" lvl="0" indent="0" algn="l">
                <a:lnSpc>
                  <a:spcPts val="3176"/>
                </a:lnSpc>
                <a:spcBef>
                  <a:spcPct val="0"/>
                </a:spcBef>
              </a:pPr>
              <a:r>
                <a:rPr lang="en-US" sz="1600" spc="-95" dirty="0">
                  <a:solidFill>
                    <a:srgbClr val="F4F4F4"/>
                  </a:solidFill>
                  <a:latin typeface="Poppins"/>
                  <a:ea typeface="Poppins"/>
                  <a:cs typeface="Poppins"/>
                  <a:sym typeface="Poppins"/>
                </a:rPr>
                <a:t>Strong cabin staff &amp; seat comfort ratings; high correlation (r=0.86)</a:t>
              </a:r>
            </a:p>
          </p:txBody>
        </p:sp>
        <p:grpSp>
          <p:nvGrpSpPr>
            <p:cNvPr id="10" name="Group 10"/>
            <p:cNvGrpSpPr/>
            <p:nvPr/>
          </p:nvGrpSpPr>
          <p:grpSpPr>
            <a:xfrm>
              <a:off x="-21455" y="-181212"/>
              <a:ext cx="3547334" cy="1436021"/>
              <a:chOff x="-4238" y="-35795"/>
              <a:chExt cx="700708" cy="283658"/>
            </a:xfrm>
          </p:grpSpPr>
          <p:sp>
            <p:nvSpPr>
              <p:cNvPr id="11" name="Freeform 11"/>
              <p:cNvSpPr/>
              <p:nvPr/>
            </p:nvSpPr>
            <p:spPr>
              <a:xfrm>
                <a:off x="0" y="0"/>
                <a:ext cx="696470" cy="216983"/>
              </a:xfrm>
              <a:custGeom>
                <a:avLst/>
                <a:gdLst/>
                <a:ahLst/>
                <a:cxnLst/>
                <a:rect l="l" t="t" r="r" b="b"/>
                <a:pathLst>
                  <a:path w="696470" h="216983">
                    <a:moveTo>
                      <a:pt x="108492" y="0"/>
                    </a:moveTo>
                    <a:lnTo>
                      <a:pt x="587978" y="0"/>
                    </a:lnTo>
                    <a:cubicBezTo>
                      <a:pt x="647897" y="0"/>
                      <a:pt x="696470" y="48573"/>
                      <a:pt x="696470" y="108492"/>
                    </a:cubicBezTo>
                    <a:lnTo>
                      <a:pt x="696470" y="108492"/>
                    </a:lnTo>
                    <a:cubicBezTo>
                      <a:pt x="696470" y="168410"/>
                      <a:pt x="647897" y="216983"/>
                      <a:pt x="587978"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2" name="TextBox 12"/>
              <p:cNvSpPr txBox="1"/>
              <p:nvPr/>
            </p:nvSpPr>
            <p:spPr>
              <a:xfrm>
                <a:off x="-4238" y="-35795"/>
                <a:ext cx="696470" cy="283658"/>
              </a:xfrm>
              <a:prstGeom prst="rect">
                <a:avLst/>
              </a:prstGeom>
            </p:spPr>
            <p:txBody>
              <a:bodyPr lIns="50800" tIns="50800" rIns="50800" bIns="50800" rtlCol="0" anchor="ctr"/>
              <a:lstStyle/>
              <a:p>
                <a:pPr marL="0" lvl="0" indent="0" algn="ctr">
                  <a:lnSpc>
                    <a:spcPts val="3065"/>
                  </a:lnSpc>
                </a:pPr>
                <a:r>
                  <a:rPr lang="en-US" sz="2189" b="1" spc="45" dirty="0">
                    <a:solidFill>
                      <a:srgbClr val="F4F4F4"/>
                    </a:solidFill>
                    <a:latin typeface="Poppins Medium"/>
                    <a:ea typeface="Poppins Medium"/>
                    <a:cs typeface="Poppins Medium"/>
                    <a:sym typeface="Poppins Medium"/>
                  </a:rPr>
                  <a:t>STRENGTHS</a:t>
                </a:r>
              </a:p>
            </p:txBody>
          </p:sp>
        </p:grpSp>
        <p:grpSp>
          <p:nvGrpSpPr>
            <p:cNvPr id="13" name="Group 13"/>
            <p:cNvGrpSpPr/>
            <p:nvPr/>
          </p:nvGrpSpPr>
          <p:grpSpPr>
            <a:xfrm>
              <a:off x="14039710" y="0"/>
              <a:ext cx="7601090" cy="1098478"/>
              <a:chOff x="0" y="0"/>
              <a:chExt cx="1501450" cy="216983"/>
            </a:xfrm>
          </p:grpSpPr>
          <p:sp>
            <p:nvSpPr>
              <p:cNvPr id="14" name="Freeform 14"/>
              <p:cNvSpPr/>
              <p:nvPr/>
            </p:nvSpPr>
            <p:spPr>
              <a:xfrm>
                <a:off x="0" y="0"/>
                <a:ext cx="1501450" cy="216983"/>
              </a:xfrm>
              <a:custGeom>
                <a:avLst/>
                <a:gdLst/>
                <a:ahLst/>
                <a:cxnLst/>
                <a:rect l="l" t="t" r="r" b="b"/>
                <a:pathLst>
                  <a:path w="1501450" h="216983">
                    <a:moveTo>
                      <a:pt x="108492" y="0"/>
                    </a:moveTo>
                    <a:lnTo>
                      <a:pt x="1392958" y="0"/>
                    </a:lnTo>
                    <a:cubicBezTo>
                      <a:pt x="1452876" y="0"/>
                      <a:pt x="1501450" y="48573"/>
                      <a:pt x="1501450" y="108492"/>
                    </a:cubicBezTo>
                    <a:lnTo>
                      <a:pt x="1501450" y="108492"/>
                    </a:lnTo>
                    <a:cubicBezTo>
                      <a:pt x="1501450" y="168410"/>
                      <a:pt x="1452876" y="216983"/>
                      <a:pt x="1392958" y="216983"/>
                    </a:cubicBezTo>
                    <a:lnTo>
                      <a:pt x="108492" y="216983"/>
                    </a:lnTo>
                    <a:cubicBezTo>
                      <a:pt x="48573" y="216983"/>
                      <a:pt x="0" y="168410"/>
                      <a:pt x="0" y="108492"/>
                    </a:cubicBezTo>
                    <a:lnTo>
                      <a:pt x="0" y="108492"/>
                    </a:lnTo>
                    <a:cubicBezTo>
                      <a:pt x="0" y="48573"/>
                      <a:pt x="48573" y="0"/>
                      <a:pt x="108492" y="0"/>
                    </a:cubicBezTo>
                    <a:close/>
                  </a:path>
                </a:pathLst>
              </a:custGeom>
              <a:ln w="9525" cap="rnd">
                <a:solidFill>
                  <a:srgbClr val="F4F4F4"/>
                </a:solidFill>
                <a:prstDash val="solid"/>
                <a:round/>
              </a:ln>
            </p:spPr>
          </p:sp>
          <p:sp>
            <p:nvSpPr>
              <p:cNvPr id="15" name="TextBox 15"/>
              <p:cNvSpPr txBox="1"/>
              <p:nvPr/>
            </p:nvSpPr>
            <p:spPr>
              <a:xfrm>
                <a:off x="0" y="-76200"/>
                <a:ext cx="1501450" cy="293183"/>
              </a:xfrm>
              <a:prstGeom prst="rect">
                <a:avLst/>
              </a:prstGeom>
            </p:spPr>
            <p:txBody>
              <a:bodyPr lIns="50800" tIns="50800" rIns="50800" bIns="50800" rtlCol="0" anchor="ctr"/>
              <a:lstStyle/>
              <a:p>
                <a:pPr marL="0" lvl="0" indent="0" algn="ctr">
                  <a:lnSpc>
                    <a:spcPts val="3530"/>
                  </a:lnSpc>
                </a:pPr>
                <a:endParaRPr/>
              </a:p>
            </p:txBody>
          </p:sp>
        </p:grpSp>
        <p:sp>
          <p:nvSpPr>
            <p:cNvPr id="16" name="TextBox 16"/>
            <p:cNvSpPr txBox="1"/>
            <p:nvPr/>
          </p:nvSpPr>
          <p:spPr>
            <a:xfrm>
              <a:off x="15882304" y="-14943"/>
              <a:ext cx="5537797" cy="1034130"/>
            </a:xfrm>
            <a:prstGeom prst="rect">
              <a:avLst/>
            </a:prstGeom>
          </p:spPr>
          <p:txBody>
            <a:bodyPr wrap="square" lIns="0" tIns="0" rIns="0" bIns="0" rtlCol="0" anchor="t">
              <a:spAutoFit/>
            </a:bodyPr>
            <a:lstStyle/>
            <a:p>
              <a:pPr marL="0" lvl="0" indent="0" algn="l">
                <a:lnSpc>
                  <a:spcPts val="3176"/>
                </a:lnSpc>
                <a:spcBef>
                  <a:spcPct val="0"/>
                </a:spcBef>
              </a:pPr>
              <a:r>
                <a:rPr lang="en-US" sz="1600" spc="-95" dirty="0">
                  <a:solidFill>
                    <a:srgbClr val="F4F4F4"/>
                  </a:solidFill>
                  <a:latin typeface="Poppins"/>
                  <a:ea typeface="Poppins"/>
                  <a:cs typeface="Poppins"/>
                  <a:sym typeface="Poppins"/>
                </a:rPr>
                <a:t>Wi-Fi &amp; inflight entertainment scored lowest; weak recommendation links</a:t>
              </a:r>
            </a:p>
          </p:txBody>
        </p:sp>
        <p:grpSp>
          <p:nvGrpSpPr>
            <p:cNvPr id="17" name="Group 17"/>
            <p:cNvGrpSpPr/>
            <p:nvPr/>
          </p:nvGrpSpPr>
          <p:grpSpPr>
            <a:xfrm>
              <a:off x="12309728" y="-175917"/>
              <a:ext cx="3861234" cy="1436021"/>
              <a:chOff x="-198827" y="-34749"/>
              <a:chExt cx="762713" cy="283658"/>
            </a:xfrm>
          </p:grpSpPr>
          <p:sp>
            <p:nvSpPr>
              <p:cNvPr id="18" name="Freeform 18"/>
              <p:cNvSpPr/>
              <p:nvPr/>
            </p:nvSpPr>
            <p:spPr>
              <a:xfrm>
                <a:off x="-198827" y="825"/>
                <a:ext cx="696470" cy="216983"/>
              </a:xfrm>
              <a:custGeom>
                <a:avLst/>
                <a:gdLst/>
                <a:ahLst/>
                <a:cxnLst/>
                <a:rect l="l" t="t" r="r" b="b"/>
                <a:pathLst>
                  <a:path w="696470" h="216983">
                    <a:moveTo>
                      <a:pt x="108492" y="0"/>
                    </a:moveTo>
                    <a:lnTo>
                      <a:pt x="587978" y="0"/>
                    </a:lnTo>
                    <a:cubicBezTo>
                      <a:pt x="647897" y="0"/>
                      <a:pt x="696470" y="48573"/>
                      <a:pt x="696470" y="108492"/>
                    </a:cubicBezTo>
                    <a:lnTo>
                      <a:pt x="696470" y="108492"/>
                    </a:lnTo>
                    <a:cubicBezTo>
                      <a:pt x="696470" y="168410"/>
                      <a:pt x="647897" y="216983"/>
                      <a:pt x="587978"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txBody>
              <a:bodyPr/>
              <a:lstStyle/>
              <a:p>
                <a:endParaRPr lang="en-PH" dirty="0"/>
              </a:p>
            </p:txBody>
          </p:sp>
          <p:sp>
            <p:nvSpPr>
              <p:cNvPr id="19" name="TextBox 19"/>
              <p:cNvSpPr txBox="1"/>
              <p:nvPr/>
            </p:nvSpPr>
            <p:spPr>
              <a:xfrm>
                <a:off x="-132584" y="-34749"/>
                <a:ext cx="696470" cy="283658"/>
              </a:xfrm>
              <a:prstGeom prst="rect">
                <a:avLst/>
              </a:prstGeom>
            </p:spPr>
            <p:txBody>
              <a:bodyPr lIns="50800" tIns="50800" rIns="50800" bIns="50800" rtlCol="0" anchor="ctr"/>
              <a:lstStyle/>
              <a:p>
                <a:pPr marL="0" lvl="0" indent="0" algn="ctr">
                  <a:lnSpc>
                    <a:spcPts val="3065"/>
                  </a:lnSpc>
                </a:pPr>
                <a:r>
                  <a:rPr lang="en-US" sz="2189" b="1" spc="45" dirty="0">
                    <a:solidFill>
                      <a:srgbClr val="F4F4F4"/>
                    </a:solidFill>
                    <a:latin typeface="Poppins Medium"/>
                    <a:ea typeface="Poppins Medium"/>
                    <a:cs typeface="Poppins Medium"/>
                    <a:sym typeface="Poppins Medium"/>
                  </a:rPr>
                  <a:t>WEAKNESSES</a:t>
                </a:r>
              </a:p>
            </p:txBody>
          </p:sp>
        </p:grpSp>
        <p:grpSp>
          <p:nvGrpSpPr>
            <p:cNvPr id="20" name="Group 20"/>
            <p:cNvGrpSpPr/>
            <p:nvPr/>
          </p:nvGrpSpPr>
          <p:grpSpPr>
            <a:xfrm>
              <a:off x="723421" y="1284215"/>
              <a:ext cx="9970831" cy="1484241"/>
              <a:chOff x="0" y="-76200"/>
              <a:chExt cx="1969547" cy="293183"/>
            </a:xfrm>
          </p:grpSpPr>
          <p:sp>
            <p:nvSpPr>
              <p:cNvPr id="21" name="Freeform 21"/>
              <p:cNvSpPr/>
              <p:nvPr/>
            </p:nvSpPr>
            <p:spPr>
              <a:xfrm>
                <a:off x="0" y="0"/>
                <a:ext cx="1969547" cy="216983"/>
              </a:xfrm>
              <a:custGeom>
                <a:avLst/>
                <a:gdLst/>
                <a:ahLst/>
                <a:cxnLst/>
                <a:rect l="l" t="t" r="r" b="b"/>
                <a:pathLst>
                  <a:path w="1501450" h="216983">
                    <a:moveTo>
                      <a:pt x="108492" y="0"/>
                    </a:moveTo>
                    <a:lnTo>
                      <a:pt x="1392958" y="0"/>
                    </a:lnTo>
                    <a:cubicBezTo>
                      <a:pt x="1452876" y="0"/>
                      <a:pt x="1501450" y="48573"/>
                      <a:pt x="1501450" y="108492"/>
                    </a:cubicBezTo>
                    <a:lnTo>
                      <a:pt x="1501450" y="108492"/>
                    </a:lnTo>
                    <a:cubicBezTo>
                      <a:pt x="1501450" y="168410"/>
                      <a:pt x="1452876" y="216983"/>
                      <a:pt x="1392958" y="216983"/>
                    </a:cubicBezTo>
                    <a:lnTo>
                      <a:pt x="108492" y="216983"/>
                    </a:lnTo>
                    <a:cubicBezTo>
                      <a:pt x="48573" y="216983"/>
                      <a:pt x="0" y="168410"/>
                      <a:pt x="0" y="108492"/>
                    </a:cubicBezTo>
                    <a:lnTo>
                      <a:pt x="0" y="108492"/>
                    </a:lnTo>
                    <a:cubicBezTo>
                      <a:pt x="0" y="48573"/>
                      <a:pt x="48573" y="0"/>
                      <a:pt x="108492" y="0"/>
                    </a:cubicBezTo>
                    <a:close/>
                  </a:path>
                </a:pathLst>
              </a:custGeom>
              <a:ln w="9525" cap="rnd">
                <a:solidFill>
                  <a:srgbClr val="F4F4F4"/>
                </a:solidFill>
                <a:prstDash val="solid"/>
                <a:round/>
              </a:ln>
            </p:spPr>
          </p:sp>
          <p:sp>
            <p:nvSpPr>
              <p:cNvPr id="22" name="TextBox 22"/>
              <p:cNvSpPr txBox="1"/>
              <p:nvPr/>
            </p:nvSpPr>
            <p:spPr>
              <a:xfrm>
                <a:off x="0" y="-76200"/>
                <a:ext cx="1501450" cy="293183"/>
              </a:xfrm>
              <a:prstGeom prst="rect">
                <a:avLst/>
              </a:prstGeom>
            </p:spPr>
            <p:txBody>
              <a:bodyPr lIns="50800" tIns="50800" rIns="50800" bIns="50800" rtlCol="0" anchor="ctr"/>
              <a:lstStyle/>
              <a:p>
                <a:pPr marL="0" lvl="0" indent="0" algn="ctr">
                  <a:lnSpc>
                    <a:spcPts val="3530"/>
                  </a:lnSpc>
                </a:pPr>
                <a:endParaRPr/>
              </a:p>
            </p:txBody>
          </p:sp>
        </p:grpSp>
        <p:sp>
          <p:nvSpPr>
            <p:cNvPr id="23" name="TextBox 23"/>
            <p:cNvSpPr txBox="1"/>
            <p:nvPr/>
          </p:nvSpPr>
          <p:spPr>
            <a:xfrm>
              <a:off x="3894187" y="1900665"/>
              <a:ext cx="8036484" cy="486971"/>
            </a:xfrm>
            <a:prstGeom prst="rect">
              <a:avLst/>
            </a:prstGeom>
          </p:spPr>
          <p:txBody>
            <a:bodyPr wrap="square" lIns="0" tIns="0" rIns="0" bIns="0" rtlCol="0" anchor="t">
              <a:spAutoFit/>
            </a:bodyPr>
            <a:lstStyle/>
            <a:p>
              <a:pPr marL="0" lvl="0" indent="0" algn="l">
                <a:lnSpc>
                  <a:spcPts val="3176"/>
                </a:lnSpc>
                <a:spcBef>
                  <a:spcPct val="0"/>
                </a:spcBef>
              </a:pPr>
              <a:r>
                <a:rPr lang="en-US" sz="1600" spc="-95" dirty="0">
                  <a:solidFill>
                    <a:srgbClr val="F4F4F4"/>
                  </a:solidFill>
                  <a:latin typeface="Poppins"/>
                  <a:ea typeface="Poppins"/>
                  <a:cs typeface="Poppins"/>
                  <a:sym typeface="Poppins"/>
                </a:rPr>
                <a:t>Evidence-based insights from 891 reviews across 15 attributes</a:t>
              </a:r>
            </a:p>
          </p:txBody>
        </p:sp>
        <p:grpSp>
          <p:nvGrpSpPr>
            <p:cNvPr id="24" name="Group 24"/>
            <p:cNvGrpSpPr/>
            <p:nvPr/>
          </p:nvGrpSpPr>
          <p:grpSpPr>
            <a:xfrm>
              <a:off x="-67083" y="1459362"/>
              <a:ext cx="3592962" cy="1436021"/>
              <a:chOff x="-13251" y="-41603"/>
              <a:chExt cx="709721" cy="283658"/>
            </a:xfrm>
          </p:grpSpPr>
          <p:sp>
            <p:nvSpPr>
              <p:cNvPr id="25" name="Freeform 25"/>
              <p:cNvSpPr/>
              <p:nvPr/>
            </p:nvSpPr>
            <p:spPr>
              <a:xfrm>
                <a:off x="0" y="0"/>
                <a:ext cx="696470" cy="216983"/>
              </a:xfrm>
              <a:custGeom>
                <a:avLst/>
                <a:gdLst/>
                <a:ahLst/>
                <a:cxnLst/>
                <a:rect l="l" t="t" r="r" b="b"/>
                <a:pathLst>
                  <a:path w="696470" h="216983">
                    <a:moveTo>
                      <a:pt x="108492" y="0"/>
                    </a:moveTo>
                    <a:lnTo>
                      <a:pt x="587978" y="0"/>
                    </a:lnTo>
                    <a:cubicBezTo>
                      <a:pt x="647897" y="0"/>
                      <a:pt x="696470" y="48573"/>
                      <a:pt x="696470" y="108492"/>
                    </a:cubicBezTo>
                    <a:lnTo>
                      <a:pt x="696470" y="108492"/>
                    </a:lnTo>
                    <a:cubicBezTo>
                      <a:pt x="696470" y="168410"/>
                      <a:pt x="647897" y="216983"/>
                      <a:pt x="587978"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26" name="TextBox 26"/>
              <p:cNvSpPr txBox="1"/>
              <p:nvPr/>
            </p:nvSpPr>
            <p:spPr>
              <a:xfrm>
                <a:off x="-13251" y="-41603"/>
                <a:ext cx="696470" cy="283658"/>
              </a:xfrm>
              <a:prstGeom prst="rect">
                <a:avLst/>
              </a:prstGeom>
            </p:spPr>
            <p:txBody>
              <a:bodyPr lIns="50800" tIns="50800" rIns="50800" bIns="50800" rtlCol="0" anchor="ctr"/>
              <a:lstStyle/>
              <a:p>
                <a:pPr marL="0" lvl="0" indent="0" algn="ctr">
                  <a:lnSpc>
                    <a:spcPts val="3065"/>
                  </a:lnSpc>
                </a:pPr>
                <a:r>
                  <a:rPr lang="en-US" sz="2189" b="1" spc="45" dirty="0">
                    <a:solidFill>
                      <a:srgbClr val="F4F4F4"/>
                    </a:solidFill>
                    <a:latin typeface="Poppins Medium"/>
                    <a:ea typeface="Poppins Medium"/>
                    <a:cs typeface="Poppins Medium"/>
                    <a:sym typeface="Poppins Medium"/>
                  </a:rPr>
                  <a:t>OUTCOME</a:t>
                </a:r>
              </a:p>
            </p:txBody>
          </p:sp>
        </p:grpSp>
        <p:grpSp>
          <p:nvGrpSpPr>
            <p:cNvPr id="27" name="Group 27"/>
            <p:cNvGrpSpPr/>
            <p:nvPr/>
          </p:nvGrpSpPr>
          <p:grpSpPr>
            <a:xfrm>
              <a:off x="11484756" y="1669978"/>
              <a:ext cx="10156044" cy="1098478"/>
              <a:chOff x="0" y="0"/>
              <a:chExt cx="2006132" cy="216983"/>
            </a:xfrm>
          </p:grpSpPr>
          <p:sp>
            <p:nvSpPr>
              <p:cNvPr id="28" name="Freeform 28"/>
              <p:cNvSpPr/>
              <p:nvPr/>
            </p:nvSpPr>
            <p:spPr>
              <a:xfrm>
                <a:off x="0" y="0"/>
                <a:ext cx="2006132" cy="216983"/>
              </a:xfrm>
              <a:custGeom>
                <a:avLst/>
                <a:gdLst/>
                <a:ahLst/>
                <a:cxnLst/>
                <a:rect l="l" t="t" r="r" b="b"/>
                <a:pathLst>
                  <a:path w="2006132" h="216983">
                    <a:moveTo>
                      <a:pt x="101640" y="0"/>
                    </a:moveTo>
                    <a:lnTo>
                      <a:pt x="1904493" y="0"/>
                    </a:lnTo>
                    <a:cubicBezTo>
                      <a:pt x="1960627" y="0"/>
                      <a:pt x="2006132" y="45506"/>
                      <a:pt x="2006132" y="101640"/>
                    </a:cubicBezTo>
                    <a:lnTo>
                      <a:pt x="2006132" y="115344"/>
                    </a:lnTo>
                    <a:cubicBezTo>
                      <a:pt x="2006132" y="171478"/>
                      <a:pt x="1960627" y="216983"/>
                      <a:pt x="1904493" y="216983"/>
                    </a:cubicBezTo>
                    <a:lnTo>
                      <a:pt x="101640" y="216983"/>
                    </a:lnTo>
                    <a:cubicBezTo>
                      <a:pt x="45506" y="216983"/>
                      <a:pt x="0" y="171478"/>
                      <a:pt x="0" y="115344"/>
                    </a:cubicBezTo>
                    <a:lnTo>
                      <a:pt x="0" y="101640"/>
                    </a:lnTo>
                    <a:cubicBezTo>
                      <a:pt x="0" y="45506"/>
                      <a:pt x="45506" y="0"/>
                      <a:pt x="101640" y="0"/>
                    </a:cubicBezTo>
                    <a:close/>
                  </a:path>
                </a:pathLst>
              </a:custGeom>
              <a:ln w="9525" cap="rnd">
                <a:solidFill>
                  <a:srgbClr val="F4F4F4"/>
                </a:solidFill>
                <a:prstDash val="solid"/>
                <a:round/>
              </a:ln>
            </p:spPr>
          </p:sp>
          <p:sp>
            <p:nvSpPr>
              <p:cNvPr id="29" name="TextBox 29"/>
              <p:cNvSpPr txBox="1"/>
              <p:nvPr/>
            </p:nvSpPr>
            <p:spPr>
              <a:xfrm>
                <a:off x="0" y="-76200"/>
                <a:ext cx="2006132" cy="293183"/>
              </a:xfrm>
              <a:prstGeom prst="rect">
                <a:avLst/>
              </a:prstGeom>
            </p:spPr>
            <p:txBody>
              <a:bodyPr lIns="50800" tIns="50800" rIns="50800" bIns="50800" rtlCol="0" anchor="ctr"/>
              <a:lstStyle/>
              <a:p>
                <a:pPr marL="0" lvl="0" indent="0" algn="ctr">
                  <a:lnSpc>
                    <a:spcPts val="3530"/>
                  </a:lnSpc>
                </a:pPr>
                <a:endParaRPr/>
              </a:p>
            </p:txBody>
          </p:sp>
        </p:grpSp>
        <p:sp>
          <p:nvSpPr>
            <p:cNvPr id="30" name="TextBox 30"/>
            <p:cNvSpPr txBox="1"/>
            <p:nvPr/>
          </p:nvSpPr>
          <p:spPr>
            <a:xfrm>
              <a:off x="15090917" y="1672943"/>
              <a:ext cx="7004807" cy="1056635"/>
            </a:xfrm>
            <a:prstGeom prst="rect">
              <a:avLst/>
            </a:prstGeom>
          </p:spPr>
          <p:txBody>
            <a:bodyPr wrap="square" lIns="0" tIns="0" rIns="0" bIns="0" rtlCol="0" anchor="t">
              <a:spAutoFit/>
            </a:bodyPr>
            <a:lstStyle/>
            <a:p>
              <a:pPr marL="0" lvl="0" indent="0" algn="l">
                <a:lnSpc>
                  <a:spcPts val="3176"/>
                </a:lnSpc>
                <a:spcBef>
                  <a:spcPct val="0"/>
                </a:spcBef>
              </a:pPr>
              <a:r>
                <a:rPr lang="en-US" sz="1600" spc="-95" dirty="0">
                  <a:solidFill>
                    <a:srgbClr val="F4F4F4"/>
                  </a:solidFill>
                  <a:latin typeface="Poppins"/>
                  <a:ea typeface="Poppins"/>
                  <a:cs typeface="Poppins"/>
                  <a:sym typeface="Poppins"/>
                </a:rPr>
                <a:t>Prioritize value for money, ground service, Wi-Fi &amp; food improvements</a:t>
              </a:r>
            </a:p>
          </p:txBody>
        </p:sp>
        <p:grpSp>
          <p:nvGrpSpPr>
            <p:cNvPr id="31" name="Group 31"/>
            <p:cNvGrpSpPr/>
            <p:nvPr/>
          </p:nvGrpSpPr>
          <p:grpSpPr>
            <a:xfrm>
              <a:off x="10761335" y="1513222"/>
              <a:ext cx="4192178" cy="1436021"/>
              <a:chOff x="0" y="-30964"/>
              <a:chExt cx="828084" cy="283658"/>
            </a:xfrm>
          </p:grpSpPr>
          <p:sp>
            <p:nvSpPr>
              <p:cNvPr id="32" name="Freeform 32"/>
              <p:cNvSpPr/>
              <p:nvPr/>
            </p:nvSpPr>
            <p:spPr>
              <a:xfrm>
                <a:off x="58862" y="0"/>
                <a:ext cx="769222" cy="216983"/>
              </a:xfrm>
              <a:custGeom>
                <a:avLst/>
                <a:gdLst/>
                <a:ahLst/>
                <a:cxnLst/>
                <a:rect l="l" t="t" r="r" b="b"/>
                <a:pathLst>
                  <a:path w="769222" h="216983">
                    <a:moveTo>
                      <a:pt x="108492" y="0"/>
                    </a:moveTo>
                    <a:lnTo>
                      <a:pt x="660731" y="0"/>
                    </a:lnTo>
                    <a:cubicBezTo>
                      <a:pt x="720649" y="0"/>
                      <a:pt x="769222" y="48573"/>
                      <a:pt x="769222" y="108492"/>
                    </a:cubicBezTo>
                    <a:lnTo>
                      <a:pt x="769222" y="108492"/>
                    </a:lnTo>
                    <a:cubicBezTo>
                      <a:pt x="769222" y="168410"/>
                      <a:pt x="720649" y="216983"/>
                      <a:pt x="660731"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txBody>
              <a:bodyPr/>
              <a:lstStyle/>
              <a:p>
                <a:endParaRPr lang="en-PH" dirty="0"/>
              </a:p>
            </p:txBody>
          </p:sp>
          <p:sp>
            <p:nvSpPr>
              <p:cNvPr id="33" name="TextBox 33"/>
              <p:cNvSpPr txBox="1"/>
              <p:nvPr/>
            </p:nvSpPr>
            <p:spPr>
              <a:xfrm>
                <a:off x="0" y="-30964"/>
                <a:ext cx="769222" cy="283658"/>
              </a:xfrm>
              <a:prstGeom prst="rect">
                <a:avLst/>
              </a:prstGeom>
            </p:spPr>
            <p:txBody>
              <a:bodyPr lIns="50800" tIns="50800" rIns="50800" bIns="50800" rtlCol="0" anchor="ctr"/>
              <a:lstStyle/>
              <a:p>
                <a:pPr marL="0" lvl="0" indent="0" algn="ctr">
                  <a:lnSpc>
                    <a:spcPts val="3065"/>
                  </a:lnSpc>
                </a:pPr>
                <a:r>
                  <a:rPr lang="en-US" sz="2189" b="1" spc="45" dirty="0">
                    <a:solidFill>
                      <a:srgbClr val="F4F4F4"/>
                    </a:solidFill>
                    <a:latin typeface="Poppins Medium"/>
                    <a:ea typeface="Poppins Medium"/>
                    <a:cs typeface="Poppins Medium"/>
                    <a:sym typeface="Poppins Medium"/>
                  </a:rPr>
                  <a:t>RECOMMEND</a:t>
                </a:r>
              </a:p>
            </p:txBody>
          </p:sp>
        </p:grpSp>
      </p:grpSp>
      <p:sp>
        <p:nvSpPr>
          <p:cNvPr id="34" name="TextBox 34"/>
          <p:cNvSpPr txBox="1"/>
          <p:nvPr/>
        </p:nvSpPr>
        <p:spPr>
          <a:xfrm>
            <a:off x="1982873" y="1684998"/>
            <a:ext cx="14322254" cy="1185672"/>
          </a:xfrm>
          <a:prstGeom prst="rect">
            <a:avLst/>
          </a:prstGeom>
        </p:spPr>
        <p:txBody>
          <a:bodyPr lIns="0" tIns="0" rIns="0" bIns="0" rtlCol="0" anchor="t">
            <a:spAutoFit/>
          </a:bodyPr>
          <a:lstStyle/>
          <a:p>
            <a:pPr marL="0" lvl="0" indent="0" algn="ctr">
              <a:lnSpc>
                <a:spcPts val="8116"/>
              </a:lnSpc>
            </a:pPr>
            <a:r>
              <a:rPr lang="en-US" sz="8544" b="1" spc="-358">
                <a:solidFill>
                  <a:srgbClr val="F4F4F4"/>
                </a:solidFill>
                <a:latin typeface="Poppins Medium"/>
                <a:ea typeface="Poppins Medium"/>
                <a:cs typeface="Poppins Medium"/>
                <a:sym typeface="Poppins Medium"/>
              </a:rPr>
              <a:t>Conclusion</a:t>
            </a:r>
          </a:p>
        </p:txBody>
      </p:sp>
      <p:sp>
        <p:nvSpPr>
          <p:cNvPr id="35" name="TextBox 35"/>
          <p:cNvSpPr txBox="1"/>
          <p:nvPr/>
        </p:nvSpPr>
        <p:spPr>
          <a:xfrm>
            <a:off x="5117293" y="4239169"/>
            <a:ext cx="8515562" cy="442589"/>
          </a:xfrm>
          <a:prstGeom prst="rect">
            <a:avLst/>
          </a:prstGeom>
        </p:spPr>
        <p:txBody>
          <a:bodyPr lIns="0" tIns="0" rIns="0" bIns="0" rtlCol="0" anchor="t">
            <a:spAutoFit/>
          </a:bodyPr>
          <a:lstStyle/>
          <a:p>
            <a:pPr marL="0" lvl="0" indent="0" algn="ctr">
              <a:lnSpc>
                <a:spcPts val="3430"/>
              </a:lnSpc>
              <a:spcBef>
                <a:spcPct val="0"/>
              </a:spcBef>
            </a:pPr>
            <a:r>
              <a:rPr lang="en-US" sz="2450" spc="-102">
                <a:solidFill>
                  <a:srgbClr val="F4F4F4"/>
                </a:solidFill>
                <a:latin typeface="Poppins"/>
                <a:ea typeface="Poppins"/>
                <a:cs typeface="Poppins"/>
                <a:sym typeface="Poppins"/>
              </a:rPr>
              <a:t>Philippine Airlines Passenger Review Analysis — Key Findings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0" y="5143500"/>
            <a:ext cx="12279636" cy="0"/>
          </a:xfrm>
          <a:prstGeom prst="line">
            <a:avLst/>
          </a:prstGeom>
          <a:ln w="9525" cap="rnd">
            <a:solidFill>
              <a:srgbClr val="F4F4F4"/>
            </a:solidFill>
            <a:prstDash val="solid"/>
            <a:headEnd type="none" w="sm" len="sm"/>
            <a:tailEnd type="none" w="sm" len="sm"/>
          </a:ln>
        </p:spPr>
      </p:sp>
      <p:sp>
        <p:nvSpPr>
          <p:cNvPr id="3" name="AutoShape 3"/>
          <p:cNvSpPr/>
          <p:nvPr/>
        </p:nvSpPr>
        <p:spPr>
          <a:xfrm flipV="1">
            <a:off x="12279636" y="0"/>
            <a:ext cx="0" cy="10321060"/>
          </a:xfrm>
          <a:prstGeom prst="line">
            <a:avLst/>
          </a:prstGeom>
          <a:ln w="9525" cap="rnd">
            <a:solidFill>
              <a:srgbClr val="F4F4F4"/>
            </a:solidFill>
            <a:prstDash val="solid"/>
            <a:headEnd type="none" w="sm" len="sm"/>
            <a:tailEnd type="none" w="sm" len="sm"/>
          </a:ln>
        </p:spPr>
      </p:sp>
      <p:grpSp>
        <p:nvGrpSpPr>
          <p:cNvPr id="4" name="Group 4"/>
          <p:cNvGrpSpPr/>
          <p:nvPr/>
        </p:nvGrpSpPr>
        <p:grpSpPr>
          <a:xfrm>
            <a:off x="13356138" y="1028700"/>
            <a:ext cx="3903162" cy="823858"/>
            <a:chOff x="0" y="0"/>
            <a:chExt cx="1027993" cy="216983"/>
          </a:xfrm>
        </p:grpSpPr>
        <p:sp>
          <p:nvSpPr>
            <p:cNvPr id="5" name="Freeform 5"/>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6" name="TextBox 6"/>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DROP INDEX COLUMN</a:t>
              </a:r>
            </a:p>
          </p:txBody>
        </p:sp>
      </p:grpSp>
      <p:grpSp>
        <p:nvGrpSpPr>
          <p:cNvPr id="7" name="Group 7"/>
          <p:cNvGrpSpPr/>
          <p:nvPr/>
        </p:nvGrpSpPr>
        <p:grpSpPr>
          <a:xfrm>
            <a:off x="13356138" y="2848191"/>
            <a:ext cx="3903162" cy="823858"/>
            <a:chOff x="0" y="0"/>
            <a:chExt cx="1027993" cy="216983"/>
          </a:xfrm>
        </p:grpSpPr>
        <p:sp>
          <p:nvSpPr>
            <p:cNvPr id="8" name="Freeform 8"/>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9" name="TextBox 9"/>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STANDARDIZE NAMES</a:t>
              </a:r>
            </a:p>
          </p:txBody>
        </p:sp>
      </p:grpSp>
      <p:grpSp>
        <p:nvGrpSpPr>
          <p:cNvPr id="10" name="Group 10"/>
          <p:cNvGrpSpPr/>
          <p:nvPr/>
        </p:nvGrpSpPr>
        <p:grpSpPr>
          <a:xfrm>
            <a:off x="13356138" y="4710275"/>
            <a:ext cx="3903162" cy="1170439"/>
            <a:chOff x="0" y="0"/>
            <a:chExt cx="1027993" cy="308264"/>
          </a:xfrm>
        </p:grpSpPr>
        <p:sp>
          <p:nvSpPr>
            <p:cNvPr id="11" name="Freeform 11"/>
            <p:cNvSpPr/>
            <p:nvPr/>
          </p:nvSpPr>
          <p:spPr>
            <a:xfrm>
              <a:off x="0" y="0"/>
              <a:ext cx="1027993" cy="308264"/>
            </a:xfrm>
            <a:custGeom>
              <a:avLst/>
              <a:gdLst/>
              <a:ahLst/>
              <a:cxnLst/>
              <a:rect l="l" t="t" r="r" b="b"/>
              <a:pathLst>
                <a:path w="1027993" h="308264">
                  <a:moveTo>
                    <a:pt x="154132" y="0"/>
                  </a:moveTo>
                  <a:lnTo>
                    <a:pt x="873861" y="0"/>
                  </a:lnTo>
                  <a:cubicBezTo>
                    <a:pt x="914740" y="0"/>
                    <a:pt x="953944" y="16239"/>
                    <a:pt x="982849" y="45144"/>
                  </a:cubicBezTo>
                  <a:cubicBezTo>
                    <a:pt x="1011755" y="74050"/>
                    <a:pt x="1027993" y="113254"/>
                    <a:pt x="1027993" y="154132"/>
                  </a:cubicBezTo>
                  <a:lnTo>
                    <a:pt x="1027993" y="154132"/>
                  </a:lnTo>
                  <a:cubicBezTo>
                    <a:pt x="1027993" y="239257"/>
                    <a:pt x="958986" y="308264"/>
                    <a:pt x="873861" y="308264"/>
                  </a:cubicBezTo>
                  <a:lnTo>
                    <a:pt x="154132" y="308264"/>
                  </a:lnTo>
                  <a:cubicBezTo>
                    <a:pt x="69007" y="308264"/>
                    <a:pt x="0" y="239257"/>
                    <a:pt x="0" y="154132"/>
                  </a:cubicBezTo>
                  <a:lnTo>
                    <a:pt x="0" y="154132"/>
                  </a:lnTo>
                  <a:cubicBezTo>
                    <a:pt x="0" y="69007"/>
                    <a:pt x="69007" y="0"/>
                    <a:pt x="15413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2" name="TextBox 12"/>
            <p:cNvSpPr txBox="1"/>
            <p:nvPr/>
          </p:nvSpPr>
          <p:spPr>
            <a:xfrm>
              <a:off x="0" y="-76200"/>
              <a:ext cx="1027993" cy="384464"/>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ENCODE RECOMMENDED</a:t>
              </a:r>
            </a:p>
          </p:txBody>
        </p:sp>
      </p:grpSp>
      <p:grpSp>
        <p:nvGrpSpPr>
          <p:cNvPr id="13" name="Group 13"/>
          <p:cNvGrpSpPr/>
          <p:nvPr/>
        </p:nvGrpSpPr>
        <p:grpSpPr>
          <a:xfrm>
            <a:off x="13356138" y="6572358"/>
            <a:ext cx="3903162" cy="823858"/>
            <a:chOff x="0" y="0"/>
            <a:chExt cx="1027993" cy="216983"/>
          </a:xfrm>
        </p:grpSpPr>
        <p:sp>
          <p:nvSpPr>
            <p:cNvPr id="14" name="Freeform 14"/>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5" name="TextBox 15"/>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FILL MISSING AIRCRAFT</a:t>
              </a:r>
            </a:p>
          </p:txBody>
        </p:sp>
      </p:grpSp>
      <p:grpSp>
        <p:nvGrpSpPr>
          <p:cNvPr id="16" name="Group 16"/>
          <p:cNvGrpSpPr/>
          <p:nvPr/>
        </p:nvGrpSpPr>
        <p:grpSpPr>
          <a:xfrm>
            <a:off x="13356138" y="8434442"/>
            <a:ext cx="3903162" cy="823858"/>
            <a:chOff x="0" y="0"/>
            <a:chExt cx="1027993" cy="216983"/>
          </a:xfrm>
        </p:grpSpPr>
        <p:sp>
          <p:nvSpPr>
            <p:cNvPr id="17" name="Freeform 17"/>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8" name="TextBox 18"/>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CONVERT TO NUMERIC</a:t>
              </a:r>
            </a:p>
          </p:txBody>
        </p:sp>
      </p:grpSp>
      <p:grpSp>
        <p:nvGrpSpPr>
          <p:cNvPr id="19" name="Group 19"/>
          <p:cNvGrpSpPr/>
          <p:nvPr/>
        </p:nvGrpSpPr>
        <p:grpSpPr>
          <a:xfrm>
            <a:off x="11873585" y="1040458"/>
            <a:ext cx="812101" cy="812101"/>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1" name="TextBox 21"/>
            <p:cNvSpPr txBox="1"/>
            <p:nvPr/>
          </p:nvSpPr>
          <p:spPr>
            <a:xfrm>
              <a:off x="76200" y="9525"/>
              <a:ext cx="660400" cy="727075"/>
            </a:xfrm>
            <a:prstGeom prst="rect">
              <a:avLst/>
            </a:prstGeom>
          </p:spPr>
          <p:txBody>
            <a:bodyPr lIns="50800" tIns="50800" rIns="50800" bIns="50800" rtlCol="0" anchor="ctr"/>
            <a:lstStyle/>
            <a:p>
              <a:pPr marL="0" lvl="0" indent="0" algn="ctr">
                <a:lnSpc>
                  <a:spcPts val="3110"/>
                </a:lnSpc>
              </a:pPr>
              <a:r>
                <a:rPr lang="en-US" sz="2221" b="1" spc="46">
                  <a:solidFill>
                    <a:srgbClr val="FFFFFF"/>
                  </a:solidFill>
                  <a:latin typeface="Poppins Medium"/>
                  <a:ea typeface="Poppins Medium"/>
                  <a:cs typeface="Poppins Medium"/>
                  <a:sym typeface="Poppins Medium"/>
                </a:rPr>
                <a:t>1</a:t>
              </a:r>
            </a:p>
          </p:txBody>
        </p:sp>
      </p:grpSp>
      <p:grpSp>
        <p:nvGrpSpPr>
          <p:cNvPr id="22" name="Group 22"/>
          <p:cNvGrpSpPr/>
          <p:nvPr/>
        </p:nvGrpSpPr>
        <p:grpSpPr>
          <a:xfrm>
            <a:off x="11873585" y="2848191"/>
            <a:ext cx="812101" cy="812101"/>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4" name="TextBox 24"/>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2</a:t>
              </a:r>
            </a:p>
          </p:txBody>
        </p:sp>
      </p:grpSp>
      <p:grpSp>
        <p:nvGrpSpPr>
          <p:cNvPr id="25" name="Group 25"/>
          <p:cNvGrpSpPr/>
          <p:nvPr/>
        </p:nvGrpSpPr>
        <p:grpSpPr>
          <a:xfrm>
            <a:off x="11873585" y="4737450"/>
            <a:ext cx="812101" cy="81210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7" name="TextBox 27"/>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3</a:t>
              </a:r>
            </a:p>
          </p:txBody>
        </p:sp>
      </p:grpSp>
      <p:grpSp>
        <p:nvGrpSpPr>
          <p:cNvPr id="28" name="Group 28"/>
          <p:cNvGrpSpPr/>
          <p:nvPr/>
        </p:nvGrpSpPr>
        <p:grpSpPr>
          <a:xfrm>
            <a:off x="11873585" y="6584116"/>
            <a:ext cx="812101" cy="812101"/>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0" name="TextBox 30"/>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4</a:t>
              </a:r>
            </a:p>
          </p:txBody>
        </p:sp>
      </p:grpSp>
      <p:grpSp>
        <p:nvGrpSpPr>
          <p:cNvPr id="31" name="Group 31"/>
          <p:cNvGrpSpPr/>
          <p:nvPr/>
        </p:nvGrpSpPr>
        <p:grpSpPr>
          <a:xfrm>
            <a:off x="11873585" y="8472542"/>
            <a:ext cx="812101" cy="81210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3" name="TextBox 33"/>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5</a:t>
              </a:r>
            </a:p>
          </p:txBody>
        </p:sp>
      </p:grpSp>
      <p:grpSp>
        <p:nvGrpSpPr>
          <p:cNvPr id="34" name="Group 34"/>
          <p:cNvGrpSpPr/>
          <p:nvPr/>
        </p:nvGrpSpPr>
        <p:grpSpPr>
          <a:xfrm>
            <a:off x="1028700" y="1864215"/>
            <a:ext cx="9306328" cy="5541606"/>
            <a:chOff x="0" y="0"/>
            <a:chExt cx="12408437" cy="7388808"/>
          </a:xfrm>
        </p:grpSpPr>
        <p:sp>
          <p:nvSpPr>
            <p:cNvPr id="35" name="TextBox 35"/>
            <p:cNvSpPr txBox="1"/>
            <p:nvPr/>
          </p:nvSpPr>
          <p:spPr>
            <a:xfrm>
              <a:off x="0" y="114300"/>
              <a:ext cx="11221669" cy="1619250"/>
            </a:xfrm>
            <a:prstGeom prst="rect">
              <a:avLst/>
            </a:prstGeom>
          </p:spPr>
          <p:txBody>
            <a:bodyPr lIns="0" tIns="0" rIns="0" bIns="0" rtlCol="0" anchor="t">
              <a:spAutoFit/>
            </a:bodyPr>
            <a:lstStyle/>
            <a:p>
              <a:pPr marL="0" lvl="0" indent="0" algn="l">
                <a:lnSpc>
                  <a:spcPts val="8122"/>
                </a:lnSpc>
              </a:pPr>
              <a:r>
                <a:rPr lang="en-US" sz="8550" b="1" spc="-359">
                  <a:solidFill>
                    <a:srgbClr val="F4F4F4"/>
                  </a:solidFill>
                  <a:latin typeface="Poppins Medium"/>
                  <a:ea typeface="Poppins Medium"/>
                  <a:cs typeface="Poppins Medium"/>
                  <a:sym typeface="Poppins Medium"/>
                </a:rPr>
                <a:t>Data Cleaning</a:t>
              </a:r>
            </a:p>
          </p:txBody>
        </p:sp>
        <p:sp>
          <p:nvSpPr>
            <p:cNvPr id="36" name="TextBox 36"/>
            <p:cNvSpPr txBox="1"/>
            <p:nvPr/>
          </p:nvSpPr>
          <p:spPr>
            <a:xfrm>
              <a:off x="0" y="4557817"/>
              <a:ext cx="9289355" cy="650640"/>
            </a:xfrm>
            <a:prstGeom prst="rect">
              <a:avLst/>
            </a:prstGeom>
          </p:spPr>
          <p:txBody>
            <a:bodyPr lIns="0" tIns="0" rIns="0" bIns="0" rtlCol="0" anchor="t">
              <a:spAutoFit/>
            </a:bodyPr>
            <a:lstStyle/>
            <a:p>
              <a:pPr marL="0" lvl="0" indent="0" algn="l">
                <a:lnSpc>
                  <a:spcPts val="3947"/>
                </a:lnSpc>
                <a:spcBef>
                  <a:spcPct val="0"/>
                </a:spcBef>
              </a:pPr>
              <a:r>
                <a:rPr lang="en-US" sz="2819" spc="-118">
                  <a:solidFill>
                    <a:srgbClr val="F4F4F4"/>
                  </a:solidFill>
                  <a:latin typeface="Poppins"/>
                  <a:ea typeface="Poppins"/>
                  <a:cs typeface="Poppins"/>
                  <a:sym typeface="Poppins"/>
                </a:rPr>
                <a:t>5 Preprocessing Steps Applied</a:t>
              </a:r>
            </a:p>
          </p:txBody>
        </p:sp>
        <p:sp>
          <p:nvSpPr>
            <p:cNvPr id="37" name="TextBox 37"/>
            <p:cNvSpPr txBox="1"/>
            <p:nvPr/>
          </p:nvSpPr>
          <p:spPr>
            <a:xfrm>
              <a:off x="0" y="5931656"/>
              <a:ext cx="12408437" cy="1457152"/>
            </a:xfrm>
            <a:prstGeom prst="rect">
              <a:avLst/>
            </a:prstGeom>
          </p:spPr>
          <p:txBody>
            <a:bodyPr lIns="0" tIns="0" rIns="0" bIns="0" rtlCol="0" anchor="t">
              <a:spAutoFit/>
            </a:bodyPr>
            <a:lstStyle/>
            <a:p>
              <a:pPr marL="0" lvl="0" indent="0" algn="just">
                <a:lnSpc>
                  <a:spcPts val="2238"/>
                </a:lnSpc>
                <a:spcBef>
                  <a:spcPct val="0"/>
                </a:spcBef>
              </a:pPr>
              <a:r>
                <a:rPr lang="en-US" sz="1598">
                  <a:solidFill>
                    <a:srgbClr val="F4F4F4"/>
                  </a:solidFill>
                  <a:latin typeface="Inter Extra-Light"/>
                  <a:ea typeface="Inter Extra-Light"/>
                  <a:cs typeface="Inter Extra-Light"/>
                  <a:sym typeface="Inter Extra-Light"/>
                </a:rPr>
                <a:t>The raw dataset of 891 reviews underwent systematic cleaning to ensure data quality and consistency. Key transformations included removing redundant fields, standardizing naming conventions, encoding categorical variables, handling missing values, and enforcing correct data types across all rating columns.</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B10ADF8E-92B7-D6C2-5A18-9D7035CEFACB}"/>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2BBE2C69-3928-72AD-32DA-6A92092314A8}"/>
              </a:ext>
            </a:extLst>
          </p:cNvPr>
          <p:cNvSpPr/>
          <p:nvPr/>
        </p:nvSpPr>
        <p:spPr>
          <a:xfrm flipV="1">
            <a:off x="12279636" y="0"/>
            <a:ext cx="0" cy="10321060"/>
          </a:xfrm>
          <a:prstGeom prst="line">
            <a:avLst/>
          </a:prstGeom>
          <a:ln w="9525" cap="rnd">
            <a:solidFill>
              <a:srgbClr val="F4F4F4"/>
            </a:solidFill>
            <a:prstDash val="solid"/>
            <a:headEnd type="none" w="sm" len="sm"/>
            <a:tailEnd type="none" w="sm" len="sm"/>
          </a:ln>
        </p:spPr>
      </p:sp>
      <p:grpSp>
        <p:nvGrpSpPr>
          <p:cNvPr id="4" name="Group 4">
            <a:extLst>
              <a:ext uri="{FF2B5EF4-FFF2-40B4-BE49-F238E27FC236}">
                <a16:creationId xmlns:a16="http://schemas.microsoft.com/office/drawing/2014/main" id="{666A53D9-79E2-857A-11F1-2230D5425C52}"/>
              </a:ext>
            </a:extLst>
          </p:cNvPr>
          <p:cNvGrpSpPr/>
          <p:nvPr/>
        </p:nvGrpSpPr>
        <p:grpSpPr>
          <a:xfrm>
            <a:off x="13356138" y="1028700"/>
            <a:ext cx="3903162" cy="823858"/>
            <a:chOff x="0" y="0"/>
            <a:chExt cx="1027993" cy="216983"/>
          </a:xfrm>
        </p:grpSpPr>
        <p:sp>
          <p:nvSpPr>
            <p:cNvPr id="5" name="Freeform 5">
              <a:extLst>
                <a:ext uri="{FF2B5EF4-FFF2-40B4-BE49-F238E27FC236}">
                  <a16:creationId xmlns:a16="http://schemas.microsoft.com/office/drawing/2014/main" id="{02AF564E-7B48-1D26-93A8-988B7A469C3A}"/>
                </a:ext>
              </a:extLst>
            </p:cNvPr>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6" name="TextBox 6">
              <a:extLst>
                <a:ext uri="{FF2B5EF4-FFF2-40B4-BE49-F238E27FC236}">
                  <a16:creationId xmlns:a16="http://schemas.microsoft.com/office/drawing/2014/main" id="{8D92EB3A-5151-B4AD-CB3B-A54CF7247236}"/>
                </a:ext>
              </a:extLst>
            </p:cNvPr>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DROP INDEX COLUMN</a:t>
              </a:r>
            </a:p>
          </p:txBody>
        </p:sp>
      </p:grpSp>
      <p:grpSp>
        <p:nvGrpSpPr>
          <p:cNvPr id="19" name="Group 19">
            <a:extLst>
              <a:ext uri="{FF2B5EF4-FFF2-40B4-BE49-F238E27FC236}">
                <a16:creationId xmlns:a16="http://schemas.microsoft.com/office/drawing/2014/main" id="{078A8503-035D-665A-0D96-D09838ED23EA}"/>
              </a:ext>
            </a:extLst>
          </p:cNvPr>
          <p:cNvGrpSpPr/>
          <p:nvPr/>
        </p:nvGrpSpPr>
        <p:grpSpPr>
          <a:xfrm>
            <a:off x="11873585" y="1040458"/>
            <a:ext cx="812101" cy="812101"/>
            <a:chOff x="0" y="0"/>
            <a:chExt cx="812800" cy="812800"/>
          </a:xfrm>
        </p:grpSpPr>
        <p:sp>
          <p:nvSpPr>
            <p:cNvPr id="20" name="Freeform 20">
              <a:extLst>
                <a:ext uri="{FF2B5EF4-FFF2-40B4-BE49-F238E27FC236}">
                  <a16:creationId xmlns:a16="http://schemas.microsoft.com/office/drawing/2014/main" id="{F8C4E72D-E9C8-19C5-229F-30CE10EA44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1" name="TextBox 21">
              <a:extLst>
                <a:ext uri="{FF2B5EF4-FFF2-40B4-BE49-F238E27FC236}">
                  <a16:creationId xmlns:a16="http://schemas.microsoft.com/office/drawing/2014/main" id="{47262200-22FB-0C1C-602B-F84D2BE4E266}"/>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10"/>
                </a:lnSpc>
              </a:pPr>
              <a:r>
                <a:rPr lang="en-US" sz="2221" b="1" spc="46">
                  <a:solidFill>
                    <a:srgbClr val="FFFFFF"/>
                  </a:solidFill>
                  <a:latin typeface="Poppins Medium"/>
                  <a:ea typeface="Poppins Medium"/>
                  <a:cs typeface="Poppins Medium"/>
                  <a:sym typeface="Poppins Medium"/>
                </a:rPr>
                <a:t>1</a:t>
              </a:r>
            </a:p>
          </p:txBody>
        </p:sp>
      </p:grpSp>
      <p:grpSp>
        <p:nvGrpSpPr>
          <p:cNvPr id="22" name="Group 22">
            <a:extLst>
              <a:ext uri="{FF2B5EF4-FFF2-40B4-BE49-F238E27FC236}">
                <a16:creationId xmlns:a16="http://schemas.microsoft.com/office/drawing/2014/main" id="{76AD8E29-E727-098A-498F-21C9CC64F101}"/>
              </a:ext>
            </a:extLst>
          </p:cNvPr>
          <p:cNvGrpSpPr/>
          <p:nvPr/>
        </p:nvGrpSpPr>
        <p:grpSpPr>
          <a:xfrm>
            <a:off x="11873585" y="2848191"/>
            <a:ext cx="812101" cy="812101"/>
            <a:chOff x="0" y="0"/>
            <a:chExt cx="812800" cy="812800"/>
          </a:xfrm>
        </p:grpSpPr>
        <p:sp>
          <p:nvSpPr>
            <p:cNvPr id="23" name="Freeform 23">
              <a:extLst>
                <a:ext uri="{FF2B5EF4-FFF2-40B4-BE49-F238E27FC236}">
                  <a16:creationId xmlns:a16="http://schemas.microsoft.com/office/drawing/2014/main" id="{748EA509-4194-5081-D716-39C803B2FF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4" name="TextBox 24">
              <a:extLst>
                <a:ext uri="{FF2B5EF4-FFF2-40B4-BE49-F238E27FC236}">
                  <a16:creationId xmlns:a16="http://schemas.microsoft.com/office/drawing/2014/main" id="{ADB835BF-BEEA-2B5E-F1AA-834E21B7BBEC}"/>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2</a:t>
              </a:r>
            </a:p>
          </p:txBody>
        </p:sp>
      </p:grpSp>
      <p:grpSp>
        <p:nvGrpSpPr>
          <p:cNvPr id="25" name="Group 25">
            <a:extLst>
              <a:ext uri="{FF2B5EF4-FFF2-40B4-BE49-F238E27FC236}">
                <a16:creationId xmlns:a16="http://schemas.microsoft.com/office/drawing/2014/main" id="{AB29FFAD-2144-4351-C183-AD59D233DF43}"/>
              </a:ext>
            </a:extLst>
          </p:cNvPr>
          <p:cNvGrpSpPr/>
          <p:nvPr/>
        </p:nvGrpSpPr>
        <p:grpSpPr>
          <a:xfrm>
            <a:off x="11873585" y="4737450"/>
            <a:ext cx="812101" cy="812101"/>
            <a:chOff x="0" y="0"/>
            <a:chExt cx="812800" cy="812800"/>
          </a:xfrm>
        </p:grpSpPr>
        <p:sp>
          <p:nvSpPr>
            <p:cNvPr id="26" name="Freeform 26">
              <a:extLst>
                <a:ext uri="{FF2B5EF4-FFF2-40B4-BE49-F238E27FC236}">
                  <a16:creationId xmlns:a16="http://schemas.microsoft.com/office/drawing/2014/main" id="{A6AF032F-CCBF-64CE-A9B0-FAD31B51F5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7" name="TextBox 27">
              <a:extLst>
                <a:ext uri="{FF2B5EF4-FFF2-40B4-BE49-F238E27FC236}">
                  <a16:creationId xmlns:a16="http://schemas.microsoft.com/office/drawing/2014/main" id="{96CA5D14-DF68-DA97-8722-1D5B768C7F48}"/>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3</a:t>
              </a:r>
            </a:p>
          </p:txBody>
        </p:sp>
      </p:grpSp>
      <p:grpSp>
        <p:nvGrpSpPr>
          <p:cNvPr id="28" name="Group 28">
            <a:extLst>
              <a:ext uri="{FF2B5EF4-FFF2-40B4-BE49-F238E27FC236}">
                <a16:creationId xmlns:a16="http://schemas.microsoft.com/office/drawing/2014/main" id="{C3B5DCA7-3656-6053-BAF2-7F103D318D43}"/>
              </a:ext>
            </a:extLst>
          </p:cNvPr>
          <p:cNvGrpSpPr/>
          <p:nvPr/>
        </p:nvGrpSpPr>
        <p:grpSpPr>
          <a:xfrm>
            <a:off x="11873585" y="6584116"/>
            <a:ext cx="812101" cy="812101"/>
            <a:chOff x="0" y="0"/>
            <a:chExt cx="812800" cy="812800"/>
          </a:xfrm>
        </p:grpSpPr>
        <p:sp>
          <p:nvSpPr>
            <p:cNvPr id="29" name="Freeform 29">
              <a:extLst>
                <a:ext uri="{FF2B5EF4-FFF2-40B4-BE49-F238E27FC236}">
                  <a16:creationId xmlns:a16="http://schemas.microsoft.com/office/drawing/2014/main" id="{C48C6B3B-7E67-6B43-F4F2-56A056A3F1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0" name="TextBox 30">
              <a:extLst>
                <a:ext uri="{FF2B5EF4-FFF2-40B4-BE49-F238E27FC236}">
                  <a16:creationId xmlns:a16="http://schemas.microsoft.com/office/drawing/2014/main" id="{344DBBF1-90A7-6232-4FD1-C122262A0592}"/>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4</a:t>
              </a:r>
            </a:p>
          </p:txBody>
        </p:sp>
      </p:grpSp>
      <p:grpSp>
        <p:nvGrpSpPr>
          <p:cNvPr id="31" name="Group 31">
            <a:extLst>
              <a:ext uri="{FF2B5EF4-FFF2-40B4-BE49-F238E27FC236}">
                <a16:creationId xmlns:a16="http://schemas.microsoft.com/office/drawing/2014/main" id="{8A55CBFE-0F17-17EF-C281-E3E5AC255AE7}"/>
              </a:ext>
            </a:extLst>
          </p:cNvPr>
          <p:cNvGrpSpPr/>
          <p:nvPr/>
        </p:nvGrpSpPr>
        <p:grpSpPr>
          <a:xfrm>
            <a:off x="11873585" y="8472542"/>
            <a:ext cx="812101" cy="812101"/>
            <a:chOff x="0" y="0"/>
            <a:chExt cx="812800" cy="812800"/>
          </a:xfrm>
        </p:grpSpPr>
        <p:sp>
          <p:nvSpPr>
            <p:cNvPr id="32" name="Freeform 32">
              <a:extLst>
                <a:ext uri="{FF2B5EF4-FFF2-40B4-BE49-F238E27FC236}">
                  <a16:creationId xmlns:a16="http://schemas.microsoft.com/office/drawing/2014/main" id="{6847D030-9F29-D22D-550A-CC6828D901E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3" name="TextBox 33">
              <a:extLst>
                <a:ext uri="{FF2B5EF4-FFF2-40B4-BE49-F238E27FC236}">
                  <a16:creationId xmlns:a16="http://schemas.microsoft.com/office/drawing/2014/main" id="{FB80CA66-40D7-0843-04C6-8B18360AA551}"/>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5</a:t>
              </a:r>
            </a:p>
          </p:txBody>
        </p:sp>
      </p:grpSp>
      <p:pic>
        <p:nvPicPr>
          <p:cNvPr id="41" name="Picture 40">
            <a:extLst>
              <a:ext uri="{FF2B5EF4-FFF2-40B4-BE49-F238E27FC236}">
                <a16:creationId xmlns:a16="http://schemas.microsoft.com/office/drawing/2014/main" id="{508FCCBC-7498-65C3-5C3E-0742B90792FF}"/>
              </a:ext>
            </a:extLst>
          </p:cNvPr>
          <p:cNvPicPr>
            <a:picLocks noChangeAspect="1"/>
          </p:cNvPicPr>
          <p:nvPr/>
        </p:nvPicPr>
        <p:blipFill>
          <a:blip r:embed="rId2"/>
          <a:stretch>
            <a:fillRect/>
          </a:stretch>
        </p:blipFill>
        <p:spPr>
          <a:xfrm>
            <a:off x="888853" y="4245034"/>
            <a:ext cx="10239024" cy="1730316"/>
          </a:xfrm>
          <a:prstGeom prst="rect">
            <a:avLst/>
          </a:prstGeom>
        </p:spPr>
      </p:pic>
    </p:spTree>
    <p:extLst>
      <p:ext uri="{BB962C8B-B14F-4D97-AF65-F5344CB8AC3E}">
        <p14:creationId xmlns:p14="http://schemas.microsoft.com/office/powerpoint/2010/main" val="440529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B28B2923-09D5-79CD-2782-63598B22DA58}"/>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0694ADCA-4FE9-B2A8-01CC-A94A1498945D}"/>
              </a:ext>
            </a:extLst>
          </p:cNvPr>
          <p:cNvSpPr/>
          <p:nvPr/>
        </p:nvSpPr>
        <p:spPr>
          <a:xfrm flipV="1">
            <a:off x="12279636" y="0"/>
            <a:ext cx="0" cy="10321060"/>
          </a:xfrm>
          <a:prstGeom prst="line">
            <a:avLst/>
          </a:prstGeom>
          <a:ln w="9525" cap="rnd">
            <a:solidFill>
              <a:srgbClr val="F4F4F4"/>
            </a:solidFill>
            <a:prstDash val="solid"/>
            <a:headEnd type="none" w="sm" len="sm"/>
            <a:tailEnd type="none" w="sm" len="sm"/>
          </a:ln>
        </p:spPr>
      </p:sp>
      <p:grpSp>
        <p:nvGrpSpPr>
          <p:cNvPr id="4" name="Group 4">
            <a:extLst>
              <a:ext uri="{FF2B5EF4-FFF2-40B4-BE49-F238E27FC236}">
                <a16:creationId xmlns:a16="http://schemas.microsoft.com/office/drawing/2014/main" id="{D7F6B902-D82A-5993-0FEB-C9465E441A06}"/>
              </a:ext>
            </a:extLst>
          </p:cNvPr>
          <p:cNvGrpSpPr/>
          <p:nvPr/>
        </p:nvGrpSpPr>
        <p:grpSpPr>
          <a:xfrm>
            <a:off x="13356138" y="1028700"/>
            <a:ext cx="3903162" cy="823858"/>
            <a:chOff x="0" y="0"/>
            <a:chExt cx="1027993" cy="216983"/>
          </a:xfrm>
        </p:grpSpPr>
        <p:sp>
          <p:nvSpPr>
            <p:cNvPr id="5" name="Freeform 5">
              <a:extLst>
                <a:ext uri="{FF2B5EF4-FFF2-40B4-BE49-F238E27FC236}">
                  <a16:creationId xmlns:a16="http://schemas.microsoft.com/office/drawing/2014/main" id="{0E9A9EA5-1836-2860-16E3-E3DB2D946174}"/>
                </a:ext>
              </a:extLst>
            </p:cNvPr>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6" name="TextBox 6">
              <a:extLst>
                <a:ext uri="{FF2B5EF4-FFF2-40B4-BE49-F238E27FC236}">
                  <a16:creationId xmlns:a16="http://schemas.microsoft.com/office/drawing/2014/main" id="{B2AC8A0A-D606-5265-C98D-5C837A8DDBD8}"/>
                </a:ext>
              </a:extLst>
            </p:cNvPr>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DROP INDEX COLUMN</a:t>
              </a:r>
            </a:p>
          </p:txBody>
        </p:sp>
      </p:grpSp>
      <p:grpSp>
        <p:nvGrpSpPr>
          <p:cNvPr id="7" name="Group 7">
            <a:extLst>
              <a:ext uri="{FF2B5EF4-FFF2-40B4-BE49-F238E27FC236}">
                <a16:creationId xmlns:a16="http://schemas.microsoft.com/office/drawing/2014/main" id="{F4D5D463-FC77-713A-AE1F-D0E37803A983}"/>
              </a:ext>
            </a:extLst>
          </p:cNvPr>
          <p:cNvGrpSpPr/>
          <p:nvPr/>
        </p:nvGrpSpPr>
        <p:grpSpPr>
          <a:xfrm>
            <a:off x="13356138" y="2848191"/>
            <a:ext cx="3903162" cy="823858"/>
            <a:chOff x="0" y="0"/>
            <a:chExt cx="1027993" cy="216983"/>
          </a:xfrm>
        </p:grpSpPr>
        <p:sp>
          <p:nvSpPr>
            <p:cNvPr id="8" name="Freeform 8">
              <a:extLst>
                <a:ext uri="{FF2B5EF4-FFF2-40B4-BE49-F238E27FC236}">
                  <a16:creationId xmlns:a16="http://schemas.microsoft.com/office/drawing/2014/main" id="{76954C41-430F-1869-34F3-667C74C43184}"/>
                </a:ext>
              </a:extLst>
            </p:cNvPr>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9" name="TextBox 9">
              <a:extLst>
                <a:ext uri="{FF2B5EF4-FFF2-40B4-BE49-F238E27FC236}">
                  <a16:creationId xmlns:a16="http://schemas.microsoft.com/office/drawing/2014/main" id="{4908748A-CEF9-A4B3-C730-AB106312D0D2}"/>
                </a:ext>
              </a:extLst>
            </p:cNvPr>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STANDARDIZE NAMES</a:t>
              </a:r>
            </a:p>
          </p:txBody>
        </p:sp>
      </p:grpSp>
      <p:grpSp>
        <p:nvGrpSpPr>
          <p:cNvPr id="19" name="Group 19">
            <a:extLst>
              <a:ext uri="{FF2B5EF4-FFF2-40B4-BE49-F238E27FC236}">
                <a16:creationId xmlns:a16="http://schemas.microsoft.com/office/drawing/2014/main" id="{A36BB427-56ED-EE38-A31D-60702FCA2127}"/>
              </a:ext>
            </a:extLst>
          </p:cNvPr>
          <p:cNvGrpSpPr/>
          <p:nvPr/>
        </p:nvGrpSpPr>
        <p:grpSpPr>
          <a:xfrm>
            <a:off x="11873585" y="1040458"/>
            <a:ext cx="812101" cy="812101"/>
            <a:chOff x="0" y="0"/>
            <a:chExt cx="812800" cy="812800"/>
          </a:xfrm>
        </p:grpSpPr>
        <p:sp>
          <p:nvSpPr>
            <p:cNvPr id="20" name="Freeform 20">
              <a:extLst>
                <a:ext uri="{FF2B5EF4-FFF2-40B4-BE49-F238E27FC236}">
                  <a16:creationId xmlns:a16="http://schemas.microsoft.com/office/drawing/2014/main" id="{5DE6694C-B8E1-D808-E67F-34DF4029C33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1" name="TextBox 21">
              <a:extLst>
                <a:ext uri="{FF2B5EF4-FFF2-40B4-BE49-F238E27FC236}">
                  <a16:creationId xmlns:a16="http://schemas.microsoft.com/office/drawing/2014/main" id="{6432DEE6-36AB-64FF-E308-A8BC029D4EA3}"/>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10"/>
                </a:lnSpc>
              </a:pPr>
              <a:r>
                <a:rPr lang="en-US" sz="2221" b="1" spc="46">
                  <a:solidFill>
                    <a:srgbClr val="FFFFFF"/>
                  </a:solidFill>
                  <a:latin typeface="Poppins Medium"/>
                  <a:ea typeface="Poppins Medium"/>
                  <a:cs typeface="Poppins Medium"/>
                  <a:sym typeface="Poppins Medium"/>
                </a:rPr>
                <a:t>1</a:t>
              </a:r>
            </a:p>
          </p:txBody>
        </p:sp>
      </p:grpSp>
      <p:grpSp>
        <p:nvGrpSpPr>
          <p:cNvPr id="22" name="Group 22">
            <a:extLst>
              <a:ext uri="{FF2B5EF4-FFF2-40B4-BE49-F238E27FC236}">
                <a16:creationId xmlns:a16="http://schemas.microsoft.com/office/drawing/2014/main" id="{A4F0B276-95A8-38F7-FB27-A9DE62C374E9}"/>
              </a:ext>
            </a:extLst>
          </p:cNvPr>
          <p:cNvGrpSpPr/>
          <p:nvPr/>
        </p:nvGrpSpPr>
        <p:grpSpPr>
          <a:xfrm>
            <a:off x="11873585" y="2848191"/>
            <a:ext cx="812101" cy="812101"/>
            <a:chOff x="0" y="0"/>
            <a:chExt cx="812800" cy="812800"/>
          </a:xfrm>
        </p:grpSpPr>
        <p:sp>
          <p:nvSpPr>
            <p:cNvPr id="23" name="Freeform 23">
              <a:extLst>
                <a:ext uri="{FF2B5EF4-FFF2-40B4-BE49-F238E27FC236}">
                  <a16:creationId xmlns:a16="http://schemas.microsoft.com/office/drawing/2014/main" id="{771360D2-B9A3-BCD5-E012-82E24DE4543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4" name="TextBox 24">
              <a:extLst>
                <a:ext uri="{FF2B5EF4-FFF2-40B4-BE49-F238E27FC236}">
                  <a16:creationId xmlns:a16="http://schemas.microsoft.com/office/drawing/2014/main" id="{71D727F0-2711-0796-8086-ED35A6EC7699}"/>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2</a:t>
              </a:r>
            </a:p>
          </p:txBody>
        </p:sp>
      </p:grpSp>
      <p:grpSp>
        <p:nvGrpSpPr>
          <p:cNvPr id="25" name="Group 25">
            <a:extLst>
              <a:ext uri="{FF2B5EF4-FFF2-40B4-BE49-F238E27FC236}">
                <a16:creationId xmlns:a16="http://schemas.microsoft.com/office/drawing/2014/main" id="{D98CD196-78F0-BED0-2551-B44BC7EBD2AB}"/>
              </a:ext>
            </a:extLst>
          </p:cNvPr>
          <p:cNvGrpSpPr/>
          <p:nvPr/>
        </p:nvGrpSpPr>
        <p:grpSpPr>
          <a:xfrm>
            <a:off x="11873585" y="4737450"/>
            <a:ext cx="812101" cy="812101"/>
            <a:chOff x="0" y="0"/>
            <a:chExt cx="812800" cy="812800"/>
          </a:xfrm>
        </p:grpSpPr>
        <p:sp>
          <p:nvSpPr>
            <p:cNvPr id="26" name="Freeform 26">
              <a:extLst>
                <a:ext uri="{FF2B5EF4-FFF2-40B4-BE49-F238E27FC236}">
                  <a16:creationId xmlns:a16="http://schemas.microsoft.com/office/drawing/2014/main" id="{03288A3B-7FFD-044F-E4E2-F54C70B54EC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7" name="TextBox 27">
              <a:extLst>
                <a:ext uri="{FF2B5EF4-FFF2-40B4-BE49-F238E27FC236}">
                  <a16:creationId xmlns:a16="http://schemas.microsoft.com/office/drawing/2014/main" id="{CF667CA7-5FC1-2649-4E77-6C9C558CE2B0}"/>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3</a:t>
              </a:r>
            </a:p>
          </p:txBody>
        </p:sp>
      </p:grpSp>
      <p:grpSp>
        <p:nvGrpSpPr>
          <p:cNvPr id="28" name="Group 28">
            <a:extLst>
              <a:ext uri="{FF2B5EF4-FFF2-40B4-BE49-F238E27FC236}">
                <a16:creationId xmlns:a16="http://schemas.microsoft.com/office/drawing/2014/main" id="{5F4A4634-0CA7-81EA-C4AD-C513B174E4B0}"/>
              </a:ext>
            </a:extLst>
          </p:cNvPr>
          <p:cNvGrpSpPr/>
          <p:nvPr/>
        </p:nvGrpSpPr>
        <p:grpSpPr>
          <a:xfrm>
            <a:off x="11873585" y="6584116"/>
            <a:ext cx="812101" cy="812101"/>
            <a:chOff x="0" y="0"/>
            <a:chExt cx="812800" cy="812800"/>
          </a:xfrm>
        </p:grpSpPr>
        <p:sp>
          <p:nvSpPr>
            <p:cNvPr id="29" name="Freeform 29">
              <a:extLst>
                <a:ext uri="{FF2B5EF4-FFF2-40B4-BE49-F238E27FC236}">
                  <a16:creationId xmlns:a16="http://schemas.microsoft.com/office/drawing/2014/main" id="{27D74F23-0EA8-C385-408E-E806F916E4C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0" name="TextBox 30">
              <a:extLst>
                <a:ext uri="{FF2B5EF4-FFF2-40B4-BE49-F238E27FC236}">
                  <a16:creationId xmlns:a16="http://schemas.microsoft.com/office/drawing/2014/main" id="{06723A46-598D-6094-5330-35369E70CDFA}"/>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4</a:t>
              </a:r>
            </a:p>
          </p:txBody>
        </p:sp>
      </p:grpSp>
      <p:grpSp>
        <p:nvGrpSpPr>
          <p:cNvPr id="31" name="Group 31">
            <a:extLst>
              <a:ext uri="{FF2B5EF4-FFF2-40B4-BE49-F238E27FC236}">
                <a16:creationId xmlns:a16="http://schemas.microsoft.com/office/drawing/2014/main" id="{F4DF50AD-F06F-A7F0-4F73-103AD244CF8F}"/>
              </a:ext>
            </a:extLst>
          </p:cNvPr>
          <p:cNvGrpSpPr/>
          <p:nvPr/>
        </p:nvGrpSpPr>
        <p:grpSpPr>
          <a:xfrm>
            <a:off x="11873585" y="8472542"/>
            <a:ext cx="812101" cy="812101"/>
            <a:chOff x="0" y="0"/>
            <a:chExt cx="812800" cy="812800"/>
          </a:xfrm>
        </p:grpSpPr>
        <p:sp>
          <p:nvSpPr>
            <p:cNvPr id="32" name="Freeform 32">
              <a:extLst>
                <a:ext uri="{FF2B5EF4-FFF2-40B4-BE49-F238E27FC236}">
                  <a16:creationId xmlns:a16="http://schemas.microsoft.com/office/drawing/2014/main" id="{792175B6-5731-29C4-3C65-43B9B608332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3" name="TextBox 33">
              <a:extLst>
                <a:ext uri="{FF2B5EF4-FFF2-40B4-BE49-F238E27FC236}">
                  <a16:creationId xmlns:a16="http://schemas.microsoft.com/office/drawing/2014/main" id="{00BA0F8D-E9B1-4B9A-5E76-0B6DE6EA7AC5}"/>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5</a:t>
              </a:r>
            </a:p>
          </p:txBody>
        </p:sp>
      </p:grpSp>
      <p:pic>
        <p:nvPicPr>
          <p:cNvPr id="43" name="Picture 42">
            <a:extLst>
              <a:ext uri="{FF2B5EF4-FFF2-40B4-BE49-F238E27FC236}">
                <a16:creationId xmlns:a16="http://schemas.microsoft.com/office/drawing/2014/main" id="{4741640C-08D9-239B-8FCD-79DE847609CE}"/>
              </a:ext>
            </a:extLst>
          </p:cNvPr>
          <p:cNvPicPr>
            <a:picLocks noChangeAspect="1"/>
          </p:cNvPicPr>
          <p:nvPr/>
        </p:nvPicPr>
        <p:blipFill>
          <a:blip r:embed="rId2"/>
          <a:stretch>
            <a:fillRect/>
          </a:stretch>
        </p:blipFill>
        <p:spPr>
          <a:xfrm>
            <a:off x="555747" y="4544750"/>
            <a:ext cx="10647388" cy="1130884"/>
          </a:xfrm>
          <a:prstGeom prst="rect">
            <a:avLst/>
          </a:prstGeom>
        </p:spPr>
      </p:pic>
    </p:spTree>
    <p:extLst>
      <p:ext uri="{BB962C8B-B14F-4D97-AF65-F5344CB8AC3E}">
        <p14:creationId xmlns:p14="http://schemas.microsoft.com/office/powerpoint/2010/main" val="636643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D979FBEC-F1B5-89EF-1346-A64B6580E4CE}"/>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69151260-1AB7-9259-A0E5-C49C0D13DF5D}"/>
              </a:ext>
            </a:extLst>
          </p:cNvPr>
          <p:cNvSpPr/>
          <p:nvPr/>
        </p:nvSpPr>
        <p:spPr>
          <a:xfrm flipV="1">
            <a:off x="12279636" y="0"/>
            <a:ext cx="0" cy="10321060"/>
          </a:xfrm>
          <a:prstGeom prst="line">
            <a:avLst/>
          </a:prstGeom>
          <a:ln w="9525" cap="rnd">
            <a:solidFill>
              <a:srgbClr val="F4F4F4"/>
            </a:solidFill>
            <a:prstDash val="solid"/>
            <a:headEnd type="none" w="sm" len="sm"/>
            <a:tailEnd type="none" w="sm" len="sm"/>
          </a:ln>
        </p:spPr>
      </p:sp>
      <p:grpSp>
        <p:nvGrpSpPr>
          <p:cNvPr id="4" name="Group 4">
            <a:extLst>
              <a:ext uri="{FF2B5EF4-FFF2-40B4-BE49-F238E27FC236}">
                <a16:creationId xmlns:a16="http://schemas.microsoft.com/office/drawing/2014/main" id="{7E455FE9-0A55-C0FE-668C-F4A04F2384C1}"/>
              </a:ext>
            </a:extLst>
          </p:cNvPr>
          <p:cNvGrpSpPr/>
          <p:nvPr/>
        </p:nvGrpSpPr>
        <p:grpSpPr>
          <a:xfrm>
            <a:off x="13356138" y="1028700"/>
            <a:ext cx="3903162" cy="823858"/>
            <a:chOff x="0" y="0"/>
            <a:chExt cx="1027993" cy="216983"/>
          </a:xfrm>
        </p:grpSpPr>
        <p:sp>
          <p:nvSpPr>
            <p:cNvPr id="5" name="Freeform 5">
              <a:extLst>
                <a:ext uri="{FF2B5EF4-FFF2-40B4-BE49-F238E27FC236}">
                  <a16:creationId xmlns:a16="http://schemas.microsoft.com/office/drawing/2014/main" id="{D7CE121D-429B-F050-50F1-F524273F106D}"/>
                </a:ext>
              </a:extLst>
            </p:cNvPr>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6" name="TextBox 6">
              <a:extLst>
                <a:ext uri="{FF2B5EF4-FFF2-40B4-BE49-F238E27FC236}">
                  <a16:creationId xmlns:a16="http://schemas.microsoft.com/office/drawing/2014/main" id="{03A29362-14EF-3088-D974-20A65FBA826A}"/>
                </a:ext>
              </a:extLst>
            </p:cNvPr>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DROP INDEX COLUMN</a:t>
              </a:r>
            </a:p>
          </p:txBody>
        </p:sp>
      </p:grpSp>
      <p:grpSp>
        <p:nvGrpSpPr>
          <p:cNvPr id="7" name="Group 7">
            <a:extLst>
              <a:ext uri="{FF2B5EF4-FFF2-40B4-BE49-F238E27FC236}">
                <a16:creationId xmlns:a16="http://schemas.microsoft.com/office/drawing/2014/main" id="{3F73FB8A-3DA0-2EB8-61BD-A56A6EAD9CCA}"/>
              </a:ext>
            </a:extLst>
          </p:cNvPr>
          <p:cNvGrpSpPr/>
          <p:nvPr/>
        </p:nvGrpSpPr>
        <p:grpSpPr>
          <a:xfrm>
            <a:off x="13356138" y="2848191"/>
            <a:ext cx="3903162" cy="823858"/>
            <a:chOff x="0" y="0"/>
            <a:chExt cx="1027993" cy="216983"/>
          </a:xfrm>
        </p:grpSpPr>
        <p:sp>
          <p:nvSpPr>
            <p:cNvPr id="8" name="Freeform 8">
              <a:extLst>
                <a:ext uri="{FF2B5EF4-FFF2-40B4-BE49-F238E27FC236}">
                  <a16:creationId xmlns:a16="http://schemas.microsoft.com/office/drawing/2014/main" id="{DA1C2AF6-B602-E3A5-872F-F7B69037A5DF}"/>
                </a:ext>
              </a:extLst>
            </p:cNvPr>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9" name="TextBox 9">
              <a:extLst>
                <a:ext uri="{FF2B5EF4-FFF2-40B4-BE49-F238E27FC236}">
                  <a16:creationId xmlns:a16="http://schemas.microsoft.com/office/drawing/2014/main" id="{577DC52D-FDD4-B7C3-FDF8-187241DF4144}"/>
                </a:ext>
              </a:extLst>
            </p:cNvPr>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STANDARDIZE NAMES</a:t>
              </a:r>
            </a:p>
          </p:txBody>
        </p:sp>
      </p:grpSp>
      <p:grpSp>
        <p:nvGrpSpPr>
          <p:cNvPr id="10" name="Group 10">
            <a:extLst>
              <a:ext uri="{FF2B5EF4-FFF2-40B4-BE49-F238E27FC236}">
                <a16:creationId xmlns:a16="http://schemas.microsoft.com/office/drawing/2014/main" id="{C62F4DF6-C36F-9210-7E16-0756119A7926}"/>
              </a:ext>
            </a:extLst>
          </p:cNvPr>
          <p:cNvGrpSpPr/>
          <p:nvPr/>
        </p:nvGrpSpPr>
        <p:grpSpPr>
          <a:xfrm>
            <a:off x="13356138" y="4710275"/>
            <a:ext cx="3903162" cy="1170439"/>
            <a:chOff x="0" y="0"/>
            <a:chExt cx="1027993" cy="308264"/>
          </a:xfrm>
        </p:grpSpPr>
        <p:sp>
          <p:nvSpPr>
            <p:cNvPr id="11" name="Freeform 11">
              <a:extLst>
                <a:ext uri="{FF2B5EF4-FFF2-40B4-BE49-F238E27FC236}">
                  <a16:creationId xmlns:a16="http://schemas.microsoft.com/office/drawing/2014/main" id="{7C6C618E-7011-4EA6-2478-4F5893306EFE}"/>
                </a:ext>
              </a:extLst>
            </p:cNvPr>
            <p:cNvSpPr/>
            <p:nvPr/>
          </p:nvSpPr>
          <p:spPr>
            <a:xfrm>
              <a:off x="0" y="0"/>
              <a:ext cx="1027993" cy="308264"/>
            </a:xfrm>
            <a:custGeom>
              <a:avLst/>
              <a:gdLst/>
              <a:ahLst/>
              <a:cxnLst/>
              <a:rect l="l" t="t" r="r" b="b"/>
              <a:pathLst>
                <a:path w="1027993" h="308264">
                  <a:moveTo>
                    <a:pt x="154132" y="0"/>
                  </a:moveTo>
                  <a:lnTo>
                    <a:pt x="873861" y="0"/>
                  </a:lnTo>
                  <a:cubicBezTo>
                    <a:pt x="914740" y="0"/>
                    <a:pt x="953944" y="16239"/>
                    <a:pt x="982849" y="45144"/>
                  </a:cubicBezTo>
                  <a:cubicBezTo>
                    <a:pt x="1011755" y="74050"/>
                    <a:pt x="1027993" y="113254"/>
                    <a:pt x="1027993" y="154132"/>
                  </a:cubicBezTo>
                  <a:lnTo>
                    <a:pt x="1027993" y="154132"/>
                  </a:lnTo>
                  <a:cubicBezTo>
                    <a:pt x="1027993" y="239257"/>
                    <a:pt x="958986" y="308264"/>
                    <a:pt x="873861" y="308264"/>
                  </a:cubicBezTo>
                  <a:lnTo>
                    <a:pt x="154132" y="308264"/>
                  </a:lnTo>
                  <a:cubicBezTo>
                    <a:pt x="69007" y="308264"/>
                    <a:pt x="0" y="239257"/>
                    <a:pt x="0" y="154132"/>
                  </a:cubicBezTo>
                  <a:lnTo>
                    <a:pt x="0" y="154132"/>
                  </a:lnTo>
                  <a:cubicBezTo>
                    <a:pt x="0" y="69007"/>
                    <a:pt x="69007" y="0"/>
                    <a:pt x="15413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2" name="TextBox 12">
              <a:extLst>
                <a:ext uri="{FF2B5EF4-FFF2-40B4-BE49-F238E27FC236}">
                  <a16:creationId xmlns:a16="http://schemas.microsoft.com/office/drawing/2014/main" id="{A6D22682-A91F-2F91-4EAA-256A3CB3CEE3}"/>
                </a:ext>
              </a:extLst>
            </p:cNvPr>
            <p:cNvSpPr txBox="1"/>
            <p:nvPr/>
          </p:nvSpPr>
          <p:spPr>
            <a:xfrm>
              <a:off x="0" y="-76200"/>
              <a:ext cx="1027993" cy="384464"/>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ENCODE RECOMMENDED</a:t>
              </a:r>
            </a:p>
          </p:txBody>
        </p:sp>
      </p:grpSp>
      <p:grpSp>
        <p:nvGrpSpPr>
          <p:cNvPr id="19" name="Group 19">
            <a:extLst>
              <a:ext uri="{FF2B5EF4-FFF2-40B4-BE49-F238E27FC236}">
                <a16:creationId xmlns:a16="http://schemas.microsoft.com/office/drawing/2014/main" id="{AFD571A6-DD4D-E83D-D11C-CE3E442CF38A}"/>
              </a:ext>
            </a:extLst>
          </p:cNvPr>
          <p:cNvGrpSpPr/>
          <p:nvPr/>
        </p:nvGrpSpPr>
        <p:grpSpPr>
          <a:xfrm>
            <a:off x="11873585" y="1040458"/>
            <a:ext cx="812101" cy="812101"/>
            <a:chOff x="0" y="0"/>
            <a:chExt cx="812800" cy="812800"/>
          </a:xfrm>
        </p:grpSpPr>
        <p:sp>
          <p:nvSpPr>
            <p:cNvPr id="20" name="Freeform 20">
              <a:extLst>
                <a:ext uri="{FF2B5EF4-FFF2-40B4-BE49-F238E27FC236}">
                  <a16:creationId xmlns:a16="http://schemas.microsoft.com/office/drawing/2014/main" id="{3BD162AD-41D1-10DD-3CD2-B9D3BB432F4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1" name="TextBox 21">
              <a:extLst>
                <a:ext uri="{FF2B5EF4-FFF2-40B4-BE49-F238E27FC236}">
                  <a16:creationId xmlns:a16="http://schemas.microsoft.com/office/drawing/2014/main" id="{858BA44A-E5B5-A70C-F55E-8677B0B5F9F9}"/>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10"/>
                </a:lnSpc>
              </a:pPr>
              <a:r>
                <a:rPr lang="en-US" sz="2221" b="1" spc="46">
                  <a:solidFill>
                    <a:srgbClr val="FFFFFF"/>
                  </a:solidFill>
                  <a:latin typeface="Poppins Medium"/>
                  <a:ea typeface="Poppins Medium"/>
                  <a:cs typeface="Poppins Medium"/>
                  <a:sym typeface="Poppins Medium"/>
                </a:rPr>
                <a:t>1</a:t>
              </a:r>
            </a:p>
          </p:txBody>
        </p:sp>
      </p:grpSp>
      <p:grpSp>
        <p:nvGrpSpPr>
          <p:cNvPr id="22" name="Group 22">
            <a:extLst>
              <a:ext uri="{FF2B5EF4-FFF2-40B4-BE49-F238E27FC236}">
                <a16:creationId xmlns:a16="http://schemas.microsoft.com/office/drawing/2014/main" id="{B58AB502-65AD-738C-6D36-37D8D344F70A}"/>
              </a:ext>
            </a:extLst>
          </p:cNvPr>
          <p:cNvGrpSpPr/>
          <p:nvPr/>
        </p:nvGrpSpPr>
        <p:grpSpPr>
          <a:xfrm>
            <a:off x="11873585" y="2848191"/>
            <a:ext cx="812101" cy="812101"/>
            <a:chOff x="0" y="0"/>
            <a:chExt cx="812800" cy="812800"/>
          </a:xfrm>
        </p:grpSpPr>
        <p:sp>
          <p:nvSpPr>
            <p:cNvPr id="23" name="Freeform 23">
              <a:extLst>
                <a:ext uri="{FF2B5EF4-FFF2-40B4-BE49-F238E27FC236}">
                  <a16:creationId xmlns:a16="http://schemas.microsoft.com/office/drawing/2014/main" id="{787DCD2F-7064-C261-1202-58AA61807B7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4" name="TextBox 24">
              <a:extLst>
                <a:ext uri="{FF2B5EF4-FFF2-40B4-BE49-F238E27FC236}">
                  <a16:creationId xmlns:a16="http://schemas.microsoft.com/office/drawing/2014/main" id="{A9728963-2714-28F6-C656-145A7B03F930}"/>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2</a:t>
              </a:r>
            </a:p>
          </p:txBody>
        </p:sp>
      </p:grpSp>
      <p:grpSp>
        <p:nvGrpSpPr>
          <p:cNvPr id="25" name="Group 25">
            <a:extLst>
              <a:ext uri="{FF2B5EF4-FFF2-40B4-BE49-F238E27FC236}">
                <a16:creationId xmlns:a16="http://schemas.microsoft.com/office/drawing/2014/main" id="{CA83C004-2005-E9E6-19F4-301C5134EB20}"/>
              </a:ext>
            </a:extLst>
          </p:cNvPr>
          <p:cNvGrpSpPr/>
          <p:nvPr/>
        </p:nvGrpSpPr>
        <p:grpSpPr>
          <a:xfrm>
            <a:off x="11873585" y="4737450"/>
            <a:ext cx="812101" cy="812101"/>
            <a:chOff x="0" y="0"/>
            <a:chExt cx="812800" cy="812800"/>
          </a:xfrm>
        </p:grpSpPr>
        <p:sp>
          <p:nvSpPr>
            <p:cNvPr id="26" name="Freeform 26">
              <a:extLst>
                <a:ext uri="{FF2B5EF4-FFF2-40B4-BE49-F238E27FC236}">
                  <a16:creationId xmlns:a16="http://schemas.microsoft.com/office/drawing/2014/main" id="{DC1BC6FB-D18F-F7CA-DB49-518E354DC70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7" name="TextBox 27">
              <a:extLst>
                <a:ext uri="{FF2B5EF4-FFF2-40B4-BE49-F238E27FC236}">
                  <a16:creationId xmlns:a16="http://schemas.microsoft.com/office/drawing/2014/main" id="{297B569E-7A97-56D2-255E-7B2E60405B45}"/>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3</a:t>
              </a:r>
            </a:p>
          </p:txBody>
        </p:sp>
      </p:grpSp>
      <p:grpSp>
        <p:nvGrpSpPr>
          <p:cNvPr id="28" name="Group 28">
            <a:extLst>
              <a:ext uri="{FF2B5EF4-FFF2-40B4-BE49-F238E27FC236}">
                <a16:creationId xmlns:a16="http://schemas.microsoft.com/office/drawing/2014/main" id="{82D06B85-BBF1-0AE4-5484-7D88501C7822}"/>
              </a:ext>
            </a:extLst>
          </p:cNvPr>
          <p:cNvGrpSpPr/>
          <p:nvPr/>
        </p:nvGrpSpPr>
        <p:grpSpPr>
          <a:xfrm>
            <a:off x="11873585" y="6584116"/>
            <a:ext cx="812101" cy="812101"/>
            <a:chOff x="0" y="0"/>
            <a:chExt cx="812800" cy="812800"/>
          </a:xfrm>
        </p:grpSpPr>
        <p:sp>
          <p:nvSpPr>
            <p:cNvPr id="29" name="Freeform 29">
              <a:extLst>
                <a:ext uri="{FF2B5EF4-FFF2-40B4-BE49-F238E27FC236}">
                  <a16:creationId xmlns:a16="http://schemas.microsoft.com/office/drawing/2014/main" id="{973DEB83-9C79-53BD-C71D-CC3F69E2E4B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0" name="TextBox 30">
              <a:extLst>
                <a:ext uri="{FF2B5EF4-FFF2-40B4-BE49-F238E27FC236}">
                  <a16:creationId xmlns:a16="http://schemas.microsoft.com/office/drawing/2014/main" id="{59F5DC4E-FF92-D97A-AC08-89CE5D7A5B4F}"/>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4</a:t>
              </a:r>
            </a:p>
          </p:txBody>
        </p:sp>
      </p:grpSp>
      <p:grpSp>
        <p:nvGrpSpPr>
          <p:cNvPr id="31" name="Group 31">
            <a:extLst>
              <a:ext uri="{FF2B5EF4-FFF2-40B4-BE49-F238E27FC236}">
                <a16:creationId xmlns:a16="http://schemas.microsoft.com/office/drawing/2014/main" id="{732FE800-EA1A-F82C-FE69-523ECA846B8F}"/>
              </a:ext>
            </a:extLst>
          </p:cNvPr>
          <p:cNvGrpSpPr/>
          <p:nvPr/>
        </p:nvGrpSpPr>
        <p:grpSpPr>
          <a:xfrm>
            <a:off x="11873585" y="8472542"/>
            <a:ext cx="812101" cy="812101"/>
            <a:chOff x="0" y="0"/>
            <a:chExt cx="812800" cy="812800"/>
          </a:xfrm>
        </p:grpSpPr>
        <p:sp>
          <p:nvSpPr>
            <p:cNvPr id="32" name="Freeform 32">
              <a:extLst>
                <a:ext uri="{FF2B5EF4-FFF2-40B4-BE49-F238E27FC236}">
                  <a16:creationId xmlns:a16="http://schemas.microsoft.com/office/drawing/2014/main" id="{B9D03A23-A44C-978B-97DF-497C2979B66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3" name="TextBox 33">
              <a:extLst>
                <a:ext uri="{FF2B5EF4-FFF2-40B4-BE49-F238E27FC236}">
                  <a16:creationId xmlns:a16="http://schemas.microsoft.com/office/drawing/2014/main" id="{A4D06DF0-2065-7647-5E4A-E57B2AD7AD5C}"/>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5</a:t>
              </a:r>
            </a:p>
          </p:txBody>
        </p:sp>
      </p:grpSp>
      <p:pic>
        <p:nvPicPr>
          <p:cNvPr id="45" name="Picture 44">
            <a:extLst>
              <a:ext uri="{FF2B5EF4-FFF2-40B4-BE49-F238E27FC236}">
                <a16:creationId xmlns:a16="http://schemas.microsoft.com/office/drawing/2014/main" id="{48FC0C6F-A712-E4C2-80A3-352E762CDE15}"/>
              </a:ext>
            </a:extLst>
          </p:cNvPr>
          <p:cNvPicPr>
            <a:picLocks noChangeAspect="1"/>
          </p:cNvPicPr>
          <p:nvPr/>
        </p:nvPicPr>
        <p:blipFill>
          <a:blip r:embed="rId2"/>
          <a:stretch>
            <a:fillRect/>
          </a:stretch>
        </p:blipFill>
        <p:spPr>
          <a:xfrm>
            <a:off x="1266849" y="2320978"/>
            <a:ext cx="9483032" cy="5645043"/>
          </a:xfrm>
          <a:prstGeom prst="rect">
            <a:avLst/>
          </a:prstGeom>
        </p:spPr>
      </p:pic>
    </p:spTree>
    <p:extLst>
      <p:ext uri="{BB962C8B-B14F-4D97-AF65-F5344CB8AC3E}">
        <p14:creationId xmlns:p14="http://schemas.microsoft.com/office/powerpoint/2010/main" val="131154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AFA1A241-69F0-F0AF-9EF9-96681B046AEC}"/>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235C2D73-B69F-3431-C6D5-86E6FE28EB29}"/>
              </a:ext>
            </a:extLst>
          </p:cNvPr>
          <p:cNvSpPr/>
          <p:nvPr/>
        </p:nvSpPr>
        <p:spPr>
          <a:xfrm flipV="1">
            <a:off x="12279636" y="0"/>
            <a:ext cx="0" cy="10321060"/>
          </a:xfrm>
          <a:prstGeom prst="line">
            <a:avLst/>
          </a:prstGeom>
          <a:ln w="9525" cap="rnd">
            <a:solidFill>
              <a:srgbClr val="F4F4F4"/>
            </a:solidFill>
            <a:prstDash val="solid"/>
            <a:headEnd type="none" w="sm" len="sm"/>
            <a:tailEnd type="none" w="sm" len="sm"/>
          </a:ln>
        </p:spPr>
      </p:sp>
      <p:grpSp>
        <p:nvGrpSpPr>
          <p:cNvPr id="4" name="Group 4">
            <a:extLst>
              <a:ext uri="{FF2B5EF4-FFF2-40B4-BE49-F238E27FC236}">
                <a16:creationId xmlns:a16="http://schemas.microsoft.com/office/drawing/2014/main" id="{482AA26B-D3C6-8D3D-0B1F-F1F27C06E797}"/>
              </a:ext>
            </a:extLst>
          </p:cNvPr>
          <p:cNvGrpSpPr/>
          <p:nvPr/>
        </p:nvGrpSpPr>
        <p:grpSpPr>
          <a:xfrm>
            <a:off x="13356138" y="1028700"/>
            <a:ext cx="3903162" cy="823858"/>
            <a:chOff x="0" y="0"/>
            <a:chExt cx="1027993" cy="216983"/>
          </a:xfrm>
        </p:grpSpPr>
        <p:sp>
          <p:nvSpPr>
            <p:cNvPr id="5" name="Freeform 5">
              <a:extLst>
                <a:ext uri="{FF2B5EF4-FFF2-40B4-BE49-F238E27FC236}">
                  <a16:creationId xmlns:a16="http://schemas.microsoft.com/office/drawing/2014/main" id="{A8CD02C4-47EE-50FB-A68D-28A861005E0B}"/>
                </a:ext>
              </a:extLst>
            </p:cNvPr>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6" name="TextBox 6">
              <a:extLst>
                <a:ext uri="{FF2B5EF4-FFF2-40B4-BE49-F238E27FC236}">
                  <a16:creationId xmlns:a16="http://schemas.microsoft.com/office/drawing/2014/main" id="{14B931E5-61C2-C448-1B40-9B30E5F7E963}"/>
                </a:ext>
              </a:extLst>
            </p:cNvPr>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DROP INDEX COLUMN</a:t>
              </a:r>
            </a:p>
          </p:txBody>
        </p:sp>
      </p:grpSp>
      <p:grpSp>
        <p:nvGrpSpPr>
          <p:cNvPr id="7" name="Group 7">
            <a:extLst>
              <a:ext uri="{FF2B5EF4-FFF2-40B4-BE49-F238E27FC236}">
                <a16:creationId xmlns:a16="http://schemas.microsoft.com/office/drawing/2014/main" id="{7A5D35D4-4E57-7B55-2197-C83BAEF60934}"/>
              </a:ext>
            </a:extLst>
          </p:cNvPr>
          <p:cNvGrpSpPr/>
          <p:nvPr/>
        </p:nvGrpSpPr>
        <p:grpSpPr>
          <a:xfrm>
            <a:off x="13356138" y="2848191"/>
            <a:ext cx="3903162" cy="823858"/>
            <a:chOff x="0" y="0"/>
            <a:chExt cx="1027993" cy="216983"/>
          </a:xfrm>
        </p:grpSpPr>
        <p:sp>
          <p:nvSpPr>
            <p:cNvPr id="8" name="Freeform 8">
              <a:extLst>
                <a:ext uri="{FF2B5EF4-FFF2-40B4-BE49-F238E27FC236}">
                  <a16:creationId xmlns:a16="http://schemas.microsoft.com/office/drawing/2014/main" id="{E5295B6B-ADCD-55F9-9E5B-B0CE5FDB849C}"/>
                </a:ext>
              </a:extLst>
            </p:cNvPr>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9" name="TextBox 9">
              <a:extLst>
                <a:ext uri="{FF2B5EF4-FFF2-40B4-BE49-F238E27FC236}">
                  <a16:creationId xmlns:a16="http://schemas.microsoft.com/office/drawing/2014/main" id="{E93946E6-DF17-1983-C373-FF27BB36A50F}"/>
                </a:ext>
              </a:extLst>
            </p:cNvPr>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dirty="0">
                  <a:solidFill>
                    <a:srgbClr val="F4F4F4"/>
                  </a:solidFill>
                  <a:latin typeface="Poppins Medium"/>
                  <a:ea typeface="Poppins Medium"/>
                  <a:cs typeface="Poppins Medium"/>
                  <a:sym typeface="Poppins Medium"/>
                </a:rPr>
                <a:t>STANDARDIZE NAMES</a:t>
              </a:r>
            </a:p>
          </p:txBody>
        </p:sp>
      </p:grpSp>
      <p:grpSp>
        <p:nvGrpSpPr>
          <p:cNvPr id="10" name="Group 10">
            <a:extLst>
              <a:ext uri="{FF2B5EF4-FFF2-40B4-BE49-F238E27FC236}">
                <a16:creationId xmlns:a16="http://schemas.microsoft.com/office/drawing/2014/main" id="{DAD5B424-79FF-2E8E-E334-851F4B2307BB}"/>
              </a:ext>
            </a:extLst>
          </p:cNvPr>
          <p:cNvGrpSpPr/>
          <p:nvPr/>
        </p:nvGrpSpPr>
        <p:grpSpPr>
          <a:xfrm>
            <a:off x="13356138" y="4710275"/>
            <a:ext cx="3903162" cy="1170439"/>
            <a:chOff x="0" y="0"/>
            <a:chExt cx="1027993" cy="308264"/>
          </a:xfrm>
        </p:grpSpPr>
        <p:sp>
          <p:nvSpPr>
            <p:cNvPr id="11" name="Freeform 11">
              <a:extLst>
                <a:ext uri="{FF2B5EF4-FFF2-40B4-BE49-F238E27FC236}">
                  <a16:creationId xmlns:a16="http://schemas.microsoft.com/office/drawing/2014/main" id="{267A92C0-828A-EE9B-A8B9-ABA9537F7DEC}"/>
                </a:ext>
              </a:extLst>
            </p:cNvPr>
            <p:cNvSpPr/>
            <p:nvPr/>
          </p:nvSpPr>
          <p:spPr>
            <a:xfrm>
              <a:off x="0" y="0"/>
              <a:ext cx="1027993" cy="308264"/>
            </a:xfrm>
            <a:custGeom>
              <a:avLst/>
              <a:gdLst/>
              <a:ahLst/>
              <a:cxnLst/>
              <a:rect l="l" t="t" r="r" b="b"/>
              <a:pathLst>
                <a:path w="1027993" h="308264">
                  <a:moveTo>
                    <a:pt x="154132" y="0"/>
                  </a:moveTo>
                  <a:lnTo>
                    <a:pt x="873861" y="0"/>
                  </a:lnTo>
                  <a:cubicBezTo>
                    <a:pt x="914740" y="0"/>
                    <a:pt x="953944" y="16239"/>
                    <a:pt x="982849" y="45144"/>
                  </a:cubicBezTo>
                  <a:cubicBezTo>
                    <a:pt x="1011755" y="74050"/>
                    <a:pt x="1027993" y="113254"/>
                    <a:pt x="1027993" y="154132"/>
                  </a:cubicBezTo>
                  <a:lnTo>
                    <a:pt x="1027993" y="154132"/>
                  </a:lnTo>
                  <a:cubicBezTo>
                    <a:pt x="1027993" y="239257"/>
                    <a:pt x="958986" y="308264"/>
                    <a:pt x="873861" y="308264"/>
                  </a:cubicBezTo>
                  <a:lnTo>
                    <a:pt x="154132" y="308264"/>
                  </a:lnTo>
                  <a:cubicBezTo>
                    <a:pt x="69007" y="308264"/>
                    <a:pt x="0" y="239257"/>
                    <a:pt x="0" y="154132"/>
                  </a:cubicBezTo>
                  <a:lnTo>
                    <a:pt x="0" y="154132"/>
                  </a:lnTo>
                  <a:cubicBezTo>
                    <a:pt x="0" y="69007"/>
                    <a:pt x="69007" y="0"/>
                    <a:pt x="15413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2" name="TextBox 12">
              <a:extLst>
                <a:ext uri="{FF2B5EF4-FFF2-40B4-BE49-F238E27FC236}">
                  <a16:creationId xmlns:a16="http://schemas.microsoft.com/office/drawing/2014/main" id="{D3811019-6165-D227-43AA-CD790511EBC8}"/>
                </a:ext>
              </a:extLst>
            </p:cNvPr>
            <p:cNvSpPr txBox="1"/>
            <p:nvPr/>
          </p:nvSpPr>
          <p:spPr>
            <a:xfrm>
              <a:off x="0" y="-76200"/>
              <a:ext cx="1027993" cy="384464"/>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ENCODE RECOMMENDED</a:t>
              </a:r>
            </a:p>
          </p:txBody>
        </p:sp>
      </p:grpSp>
      <p:grpSp>
        <p:nvGrpSpPr>
          <p:cNvPr id="13" name="Group 13">
            <a:extLst>
              <a:ext uri="{FF2B5EF4-FFF2-40B4-BE49-F238E27FC236}">
                <a16:creationId xmlns:a16="http://schemas.microsoft.com/office/drawing/2014/main" id="{F7962D3C-CFC0-464A-7DD8-DEB0322A06D7}"/>
              </a:ext>
            </a:extLst>
          </p:cNvPr>
          <p:cNvGrpSpPr/>
          <p:nvPr/>
        </p:nvGrpSpPr>
        <p:grpSpPr>
          <a:xfrm>
            <a:off x="13356138" y="6572358"/>
            <a:ext cx="3903162" cy="823858"/>
            <a:chOff x="0" y="0"/>
            <a:chExt cx="1027993" cy="216983"/>
          </a:xfrm>
        </p:grpSpPr>
        <p:sp>
          <p:nvSpPr>
            <p:cNvPr id="14" name="Freeform 14">
              <a:extLst>
                <a:ext uri="{FF2B5EF4-FFF2-40B4-BE49-F238E27FC236}">
                  <a16:creationId xmlns:a16="http://schemas.microsoft.com/office/drawing/2014/main" id="{3CE8EB61-729F-2A6B-70AF-5B620CEC419F}"/>
                </a:ext>
              </a:extLst>
            </p:cNvPr>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5" name="TextBox 15">
              <a:extLst>
                <a:ext uri="{FF2B5EF4-FFF2-40B4-BE49-F238E27FC236}">
                  <a16:creationId xmlns:a16="http://schemas.microsoft.com/office/drawing/2014/main" id="{D3CF169A-5490-DE3D-4354-F63D24B2B9D3}"/>
                </a:ext>
              </a:extLst>
            </p:cNvPr>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FILL MISSING AIRCRAFT</a:t>
              </a:r>
            </a:p>
          </p:txBody>
        </p:sp>
      </p:grpSp>
      <p:grpSp>
        <p:nvGrpSpPr>
          <p:cNvPr id="19" name="Group 19">
            <a:extLst>
              <a:ext uri="{FF2B5EF4-FFF2-40B4-BE49-F238E27FC236}">
                <a16:creationId xmlns:a16="http://schemas.microsoft.com/office/drawing/2014/main" id="{A0396D25-086E-CECC-3624-53E8D0A66AA0}"/>
              </a:ext>
            </a:extLst>
          </p:cNvPr>
          <p:cNvGrpSpPr/>
          <p:nvPr/>
        </p:nvGrpSpPr>
        <p:grpSpPr>
          <a:xfrm>
            <a:off x="11873585" y="1040458"/>
            <a:ext cx="812101" cy="812101"/>
            <a:chOff x="0" y="0"/>
            <a:chExt cx="812800" cy="812800"/>
          </a:xfrm>
        </p:grpSpPr>
        <p:sp>
          <p:nvSpPr>
            <p:cNvPr id="20" name="Freeform 20">
              <a:extLst>
                <a:ext uri="{FF2B5EF4-FFF2-40B4-BE49-F238E27FC236}">
                  <a16:creationId xmlns:a16="http://schemas.microsoft.com/office/drawing/2014/main" id="{88DF1926-BF75-2B02-22A0-1388A45CE75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1" name="TextBox 21">
              <a:extLst>
                <a:ext uri="{FF2B5EF4-FFF2-40B4-BE49-F238E27FC236}">
                  <a16:creationId xmlns:a16="http://schemas.microsoft.com/office/drawing/2014/main" id="{94ADD7E7-504B-9D8C-0878-7D5A0D14E023}"/>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10"/>
                </a:lnSpc>
              </a:pPr>
              <a:r>
                <a:rPr lang="en-US" sz="2221" b="1" spc="46">
                  <a:solidFill>
                    <a:srgbClr val="FFFFFF"/>
                  </a:solidFill>
                  <a:latin typeface="Poppins Medium"/>
                  <a:ea typeface="Poppins Medium"/>
                  <a:cs typeface="Poppins Medium"/>
                  <a:sym typeface="Poppins Medium"/>
                </a:rPr>
                <a:t>1</a:t>
              </a:r>
            </a:p>
          </p:txBody>
        </p:sp>
      </p:grpSp>
      <p:grpSp>
        <p:nvGrpSpPr>
          <p:cNvPr id="22" name="Group 22">
            <a:extLst>
              <a:ext uri="{FF2B5EF4-FFF2-40B4-BE49-F238E27FC236}">
                <a16:creationId xmlns:a16="http://schemas.microsoft.com/office/drawing/2014/main" id="{4129466D-BC6A-4FB5-3579-BA9A43E18B3B}"/>
              </a:ext>
            </a:extLst>
          </p:cNvPr>
          <p:cNvGrpSpPr/>
          <p:nvPr/>
        </p:nvGrpSpPr>
        <p:grpSpPr>
          <a:xfrm>
            <a:off x="11873585" y="2848191"/>
            <a:ext cx="812101" cy="812101"/>
            <a:chOff x="0" y="0"/>
            <a:chExt cx="812800" cy="812800"/>
          </a:xfrm>
        </p:grpSpPr>
        <p:sp>
          <p:nvSpPr>
            <p:cNvPr id="23" name="Freeform 23">
              <a:extLst>
                <a:ext uri="{FF2B5EF4-FFF2-40B4-BE49-F238E27FC236}">
                  <a16:creationId xmlns:a16="http://schemas.microsoft.com/office/drawing/2014/main" id="{728C2348-F3F7-9D83-D3F8-A82765A867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4" name="TextBox 24">
              <a:extLst>
                <a:ext uri="{FF2B5EF4-FFF2-40B4-BE49-F238E27FC236}">
                  <a16:creationId xmlns:a16="http://schemas.microsoft.com/office/drawing/2014/main" id="{AFE685C5-2704-5425-B950-BB70437EB76C}"/>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2</a:t>
              </a:r>
            </a:p>
          </p:txBody>
        </p:sp>
      </p:grpSp>
      <p:grpSp>
        <p:nvGrpSpPr>
          <p:cNvPr id="25" name="Group 25">
            <a:extLst>
              <a:ext uri="{FF2B5EF4-FFF2-40B4-BE49-F238E27FC236}">
                <a16:creationId xmlns:a16="http://schemas.microsoft.com/office/drawing/2014/main" id="{4E796796-E843-30BE-CDEE-7AC7B45A0BBA}"/>
              </a:ext>
            </a:extLst>
          </p:cNvPr>
          <p:cNvGrpSpPr/>
          <p:nvPr/>
        </p:nvGrpSpPr>
        <p:grpSpPr>
          <a:xfrm>
            <a:off x="11873585" y="4737450"/>
            <a:ext cx="812101" cy="812101"/>
            <a:chOff x="0" y="0"/>
            <a:chExt cx="812800" cy="812800"/>
          </a:xfrm>
        </p:grpSpPr>
        <p:sp>
          <p:nvSpPr>
            <p:cNvPr id="26" name="Freeform 26">
              <a:extLst>
                <a:ext uri="{FF2B5EF4-FFF2-40B4-BE49-F238E27FC236}">
                  <a16:creationId xmlns:a16="http://schemas.microsoft.com/office/drawing/2014/main" id="{36C267D5-9126-C1B7-1809-E57C6419BD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7" name="TextBox 27">
              <a:extLst>
                <a:ext uri="{FF2B5EF4-FFF2-40B4-BE49-F238E27FC236}">
                  <a16:creationId xmlns:a16="http://schemas.microsoft.com/office/drawing/2014/main" id="{3AD35CDF-2F6F-DDB0-7D2F-68886BF570C5}"/>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3</a:t>
              </a:r>
            </a:p>
          </p:txBody>
        </p:sp>
      </p:grpSp>
      <p:grpSp>
        <p:nvGrpSpPr>
          <p:cNvPr id="28" name="Group 28">
            <a:extLst>
              <a:ext uri="{FF2B5EF4-FFF2-40B4-BE49-F238E27FC236}">
                <a16:creationId xmlns:a16="http://schemas.microsoft.com/office/drawing/2014/main" id="{EFC46FE8-269F-C0B8-BFAE-AC75CF111B97}"/>
              </a:ext>
            </a:extLst>
          </p:cNvPr>
          <p:cNvGrpSpPr/>
          <p:nvPr/>
        </p:nvGrpSpPr>
        <p:grpSpPr>
          <a:xfrm>
            <a:off x="11873585" y="6584116"/>
            <a:ext cx="812101" cy="812101"/>
            <a:chOff x="0" y="0"/>
            <a:chExt cx="812800" cy="812800"/>
          </a:xfrm>
        </p:grpSpPr>
        <p:sp>
          <p:nvSpPr>
            <p:cNvPr id="29" name="Freeform 29">
              <a:extLst>
                <a:ext uri="{FF2B5EF4-FFF2-40B4-BE49-F238E27FC236}">
                  <a16:creationId xmlns:a16="http://schemas.microsoft.com/office/drawing/2014/main" id="{CEC8B858-5089-56EF-AA34-8BC22FDB08A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0" name="TextBox 30">
              <a:extLst>
                <a:ext uri="{FF2B5EF4-FFF2-40B4-BE49-F238E27FC236}">
                  <a16:creationId xmlns:a16="http://schemas.microsoft.com/office/drawing/2014/main" id="{0BA9F6E3-0003-B262-FA44-3B92C38F5625}"/>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4</a:t>
              </a:r>
            </a:p>
          </p:txBody>
        </p:sp>
      </p:grpSp>
      <p:grpSp>
        <p:nvGrpSpPr>
          <p:cNvPr id="31" name="Group 31">
            <a:extLst>
              <a:ext uri="{FF2B5EF4-FFF2-40B4-BE49-F238E27FC236}">
                <a16:creationId xmlns:a16="http://schemas.microsoft.com/office/drawing/2014/main" id="{711D7043-F75D-CFEB-EE56-4E1A3C4EBB2B}"/>
              </a:ext>
            </a:extLst>
          </p:cNvPr>
          <p:cNvGrpSpPr/>
          <p:nvPr/>
        </p:nvGrpSpPr>
        <p:grpSpPr>
          <a:xfrm>
            <a:off x="11873585" y="8472542"/>
            <a:ext cx="812101" cy="812101"/>
            <a:chOff x="0" y="0"/>
            <a:chExt cx="812800" cy="812800"/>
          </a:xfrm>
        </p:grpSpPr>
        <p:sp>
          <p:nvSpPr>
            <p:cNvPr id="32" name="Freeform 32">
              <a:extLst>
                <a:ext uri="{FF2B5EF4-FFF2-40B4-BE49-F238E27FC236}">
                  <a16:creationId xmlns:a16="http://schemas.microsoft.com/office/drawing/2014/main" id="{6CBA9913-6467-8657-3EEC-37CEE124BEA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3" name="TextBox 33">
              <a:extLst>
                <a:ext uri="{FF2B5EF4-FFF2-40B4-BE49-F238E27FC236}">
                  <a16:creationId xmlns:a16="http://schemas.microsoft.com/office/drawing/2014/main" id="{AB121317-88CB-B9E5-B438-1E4965DDFDE2}"/>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5</a:t>
              </a:r>
            </a:p>
          </p:txBody>
        </p:sp>
      </p:grpSp>
      <p:pic>
        <p:nvPicPr>
          <p:cNvPr id="47" name="Picture 46">
            <a:extLst>
              <a:ext uri="{FF2B5EF4-FFF2-40B4-BE49-F238E27FC236}">
                <a16:creationId xmlns:a16="http://schemas.microsoft.com/office/drawing/2014/main" id="{6DB03424-1181-7B81-2019-9CB3CA6F78FF}"/>
              </a:ext>
            </a:extLst>
          </p:cNvPr>
          <p:cNvPicPr>
            <a:picLocks noChangeAspect="1"/>
          </p:cNvPicPr>
          <p:nvPr/>
        </p:nvPicPr>
        <p:blipFill>
          <a:blip r:embed="rId2"/>
          <a:stretch>
            <a:fillRect/>
          </a:stretch>
        </p:blipFill>
        <p:spPr>
          <a:xfrm>
            <a:off x="1702530" y="1140040"/>
            <a:ext cx="8611669" cy="7346386"/>
          </a:xfrm>
          <a:prstGeom prst="rect">
            <a:avLst/>
          </a:prstGeom>
        </p:spPr>
      </p:pic>
    </p:spTree>
    <p:extLst>
      <p:ext uri="{BB962C8B-B14F-4D97-AF65-F5344CB8AC3E}">
        <p14:creationId xmlns:p14="http://schemas.microsoft.com/office/powerpoint/2010/main" val="3673118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B5461CEC-DB58-CF28-A4B2-D43E79B9A7BB}"/>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E90216A9-47A1-2A60-7716-609A20F9C307}"/>
              </a:ext>
            </a:extLst>
          </p:cNvPr>
          <p:cNvSpPr/>
          <p:nvPr/>
        </p:nvSpPr>
        <p:spPr>
          <a:xfrm flipV="1">
            <a:off x="12279636" y="0"/>
            <a:ext cx="0" cy="10321060"/>
          </a:xfrm>
          <a:prstGeom prst="line">
            <a:avLst/>
          </a:prstGeom>
          <a:ln w="9525" cap="rnd">
            <a:solidFill>
              <a:srgbClr val="F4F4F4"/>
            </a:solidFill>
            <a:prstDash val="solid"/>
            <a:headEnd type="none" w="sm" len="sm"/>
            <a:tailEnd type="none" w="sm" len="sm"/>
          </a:ln>
        </p:spPr>
      </p:sp>
      <p:grpSp>
        <p:nvGrpSpPr>
          <p:cNvPr id="4" name="Group 4">
            <a:extLst>
              <a:ext uri="{FF2B5EF4-FFF2-40B4-BE49-F238E27FC236}">
                <a16:creationId xmlns:a16="http://schemas.microsoft.com/office/drawing/2014/main" id="{CC3C34F4-D0C3-4109-8E7E-24FFB69B68CE}"/>
              </a:ext>
            </a:extLst>
          </p:cNvPr>
          <p:cNvGrpSpPr/>
          <p:nvPr/>
        </p:nvGrpSpPr>
        <p:grpSpPr>
          <a:xfrm>
            <a:off x="13356138" y="1028700"/>
            <a:ext cx="3903162" cy="823858"/>
            <a:chOff x="0" y="0"/>
            <a:chExt cx="1027993" cy="216983"/>
          </a:xfrm>
        </p:grpSpPr>
        <p:sp>
          <p:nvSpPr>
            <p:cNvPr id="5" name="Freeform 5">
              <a:extLst>
                <a:ext uri="{FF2B5EF4-FFF2-40B4-BE49-F238E27FC236}">
                  <a16:creationId xmlns:a16="http://schemas.microsoft.com/office/drawing/2014/main" id="{6344CCAA-E2DA-C03C-4058-C10B793EB354}"/>
                </a:ext>
              </a:extLst>
            </p:cNvPr>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6" name="TextBox 6">
              <a:extLst>
                <a:ext uri="{FF2B5EF4-FFF2-40B4-BE49-F238E27FC236}">
                  <a16:creationId xmlns:a16="http://schemas.microsoft.com/office/drawing/2014/main" id="{D4C0E16F-5F09-A998-5A43-1695FC6791DE}"/>
                </a:ext>
              </a:extLst>
            </p:cNvPr>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DROP INDEX COLUMN</a:t>
              </a:r>
            </a:p>
          </p:txBody>
        </p:sp>
      </p:grpSp>
      <p:grpSp>
        <p:nvGrpSpPr>
          <p:cNvPr id="7" name="Group 7">
            <a:extLst>
              <a:ext uri="{FF2B5EF4-FFF2-40B4-BE49-F238E27FC236}">
                <a16:creationId xmlns:a16="http://schemas.microsoft.com/office/drawing/2014/main" id="{AA8B83C5-5AF7-02BB-EFA6-1C5809EEFE2C}"/>
              </a:ext>
            </a:extLst>
          </p:cNvPr>
          <p:cNvGrpSpPr/>
          <p:nvPr/>
        </p:nvGrpSpPr>
        <p:grpSpPr>
          <a:xfrm>
            <a:off x="13356138" y="2848191"/>
            <a:ext cx="3903162" cy="823858"/>
            <a:chOff x="0" y="0"/>
            <a:chExt cx="1027993" cy="216983"/>
          </a:xfrm>
        </p:grpSpPr>
        <p:sp>
          <p:nvSpPr>
            <p:cNvPr id="8" name="Freeform 8">
              <a:extLst>
                <a:ext uri="{FF2B5EF4-FFF2-40B4-BE49-F238E27FC236}">
                  <a16:creationId xmlns:a16="http://schemas.microsoft.com/office/drawing/2014/main" id="{6E5ABC47-3CCE-E0B6-6D6C-9F4E8FD204B8}"/>
                </a:ext>
              </a:extLst>
            </p:cNvPr>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9" name="TextBox 9">
              <a:extLst>
                <a:ext uri="{FF2B5EF4-FFF2-40B4-BE49-F238E27FC236}">
                  <a16:creationId xmlns:a16="http://schemas.microsoft.com/office/drawing/2014/main" id="{3250D12E-475B-2D45-16A1-D60FDB2F98C4}"/>
                </a:ext>
              </a:extLst>
            </p:cNvPr>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STANDARDIZE NAMES</a:t>
              </a:r>
            </a:p>
          </p:txBody>
        </p:sp>
      </p:grpSp>
      <p:grpSp>
        <p:nvGrpSpPr>
          <p:cNvPr id="10" name="Group 10">
            <a:extLst>
              <a:ext uri="{FF2B5EF4-FFF2-40B4-BE49-F238E27FC236}">
                <a16:creationId xmlns:a16="http://schemas.microsoft.com/office/drawing/2014/main" id="{55CF81D7-927B-3F43-84CA-ACBDA19CF97E}"/>
              </a:ext>
            </a:extLst>
          </p:cNvPr>
          <p:cNvGrpSpPr/>
          <p:nvPr/>
        </p:nvGrpSpPr>
        <p:grpSpPr>
          <a:xfrm>
            <a:off x="13356138" y="4710275"/>
            <a:ext cx="3903162" cy="1170439"/>
            <a:chOff x="0" y="0"/>
            <a:chExt cx="1027993" cy="308264"/>
          </a:xfrm>
        </p:grpSpPr>
        <p:sp>
          <p:nvSpPr>
            <p:cNvPr id="11" name="Freeform 11">
              <a:extLst>
                <a:ext uri="{FF2B5EF4-FFF2-40B4-BE49-F238E27FC236}">
                  <a16:creationId xmlns:a16="http://schemas.microsoft.com/office/drawing/2014/main" id="{0726DA11-4C9C-9B02-31AA-D483AE0D423A}"/>
                </a:ext>
              </a:extLst>
            </p:cNvPr>
            <p:cNvSpPr/>
            <p:nvPr/>
          </p:nvSpPr>
          <p:spPr>
            <a:xfrm>
              <a:off x="0" y="0"/>
              <a:ext cx="1027993" cy="308264"/>
            </a:xfrm>
            <a:custGeom>
              <a:avLst/>
              <a:gdLst/>
              <a:ahLst/>
              <a:cxnLst/>
              <a:rect l="l" t="t" r="r" b="b"/>
              <a:pathLst>
                <a:path w="1027993" h="308264">
                  <a:moveTo>
                    <a:pt x="154132" y="0"/>
                  </a:moveTo>
                  <a:lnTo>
                    <a:pt x="873861" y="0"/>
                  </a:lnTo>
                  <a:cubicBezTo>
                    <a:pt x="914740" y="0"/>
                    <a:pt x="953944" y="16239"/>
                    <a:pt x="982849" y="45144"/>
                  </a:cubicBezTo>
                  <a:cubicBezTo>
                    <a:pt x="1011755" y="74050"/>
                    <a:pt x="1027993" y="113254"/>
                    <a:pt x="1027993" y="154132"/>
                  </a:cubicBezTo>
                  <a:lnTo>
                    <a:pt x="1027993" y="154132"/>
                  </a:lnTo>
                  <a:cubicBezTo>
                    <a:pt x="1027993" y="239257"/>
                    <a:pt x="958986" y="308264"/>
                    <a:pt x="873861" y="308264"/>
                  </a:cubicBezTo>
                  <a:lnTo>
                    <a:pt x="154132" y="308264"/>
                  </a:lnTo>
                  <a:cubicBezTo>
                    <a:pt x="69007" y="308264"/>
                    <a:pt x="0" y="239257"/>
                    <a:pt x="0" y="154132"/>
                  </a:cubicBezTo>
                  <a:lnTo>
                    <a:pt x="0" y="154132"/>
                  </a:lnTo>
                  <a:cubicBezTo>
                    <a:pt x="0" y="69007"/>
                    <a:pt x="69007" y="0"/>
                    <a:pt x="15413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2" name="TextBox 12">
              <a:extLst>
                <a:ext uri="{FF2B5EF4-FFF2-40B4-BE49-F238E27FC236}">
                  <a16:creationId xmlns:a16="http://schemas.microsoft.com/office/drawing/2014/main" id="{A9EA28EF-34AC-AD88-C8C3-4AFD844A34C9}"/>
                </a:ext>
              </a:extLst>
            </p:cNvPr>
            <p:cNvSpPr txBox="1"/>
            <p:nvPr/>
          </p:nvSpPr>
          <p:spPr>
            <a:xfrm>
              <a:off x="0" y="-76200"/>
              <a:ext cx="1027993" cy="384464"/>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ENCODE RECOMMENDED</a:t>
              </a:r>
            </a:p>
          </p:txBody>
        </p:sp>
      </p:grpSp>
      <p:grpSp>
        <p:nvGrpSpPr>
          <p:cNvPr id="13" name="Group 13">
            <a:extLst>
              <a:ext uri="{FF2B5EF4-FFF2-40B4-BE49-F238E27FC236}">
                <a16:creationId xmlns:a16="http://schemas.microsoft.com/office/drawing/2014/main" id="{8CBD3736-7DD9-E76F-DA7F-A7E7F882D766}"/>
              </a:ext>
            </a:extLst>
          </p:cNvPr>
          <p:cNvGrpSpPr/>
          <p:nvPr/>
        </p:nvGrpSpPr>
        <p:grpSpPr>
          <a:xfrm>
            <a:off x="13356138" y="6572358"/>
            <a:ext cx="3903162" cy="823858"/>
            <a:chOff x="0" y="0"/>
            <a:chExt cx="1027993" cy="216983"/>
          </a:xfrm>
        </p:grpSpPr>
        <p:sp>
          <p:nvSpPr>
            <p:cNvPr id="14" name="Freeform 14">
              <a:extLst>
                <a:ext uri="{FF2B5EF4-FFF2-40B4-BE49-F238E27FC236}">
                  <a16:creationId xmlns:a16="http://schemas.microsoft.com/office/drawing/2014/main" id="{3685F7F6-74BE-AA20-FA5B-7FB5E1D5F193}"/>
                </a:ext>
              </a:extLst>
            </p:cNvPr>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5" name="TextBox 15">
              <a:extLst>
                <a:ext uri="{FF2B5EF4-FFF2-40B4-BE49-F238E27FC236}">
                  <a16:creationId xmlns:a16="http://schemas.microsoft.com/office/drawing/2014/main" id="{575D3F90-B695-A839-FBF4-B8F4C253C4CA}"/>
                </a:ext>
              </a:extLst>
            </p:cNvPr>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FILL MISSING AIRCRAFT</a:t>
              </a:r>
            </a:p>
          </p:txBody>
        </p:sp>
      </p:grpSp>
      <p:grpSp>
        <p:nvGrpSpPr>
          <p:cNvPr id="16" name="Group 16">
            <a:extLst>
              <a:ext uri="{FF2B5EF4-FFF2-40B4-BE49-F238E27FC236}">
                <a16:creationId xmlns:a16="http://schemas.microsoft.com/office/drawing/2014/main" id="{53FB8DB5-C087-2179-60F4-3E66F1A77C3E}"/>
              </a:ext>
            </a:extLst>
          </p:cNvPr>
          <p:cNvGrpSpPr/>
          <p:nvPr/>
        </p:nvGrpSpPr>
        <p:grpSpPr>
          <a:xfrm>
            <a:off x="13356138" y="8434442"/>
            <a:ext cx="3903162" cy="823858"/>
            <a:chOff x="0" y="0"/>
            <a:chExt cx="1027993" cy="216983"/>
          </a:xfrm>
        </p:grpSpPr>
        <p:sp>
          <p:nvSpPr>
            <p:cNvPr id="17" name="Freeform 17">
              <a:extLst>
                <a:ext uri="{FF2B5EF4-FFF2-40B4-BE49-F238E27FC236}">
                  <a16:creationId xmlns:a16="http://schemas.microsoft.com/office/drawing/2014/main" id="{AC5740F9-6FBA-FEAE-E3B1-F630A9675472}"/>
                </a:ext>
              </a:extLst>
            </p:cNvPr>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8" name="TextBox 18">
              <a:extLst>
                <a:ext uri="{FF2B5EF4-FFF2-40B4-BE49-F238E27FC236}">
                  <a16:creationId xmlns:a16="http://schemas.microsoft.com/office/drawing/2014/main" id="{5AD0DA8A-D655-5413-CA86-4D81EBBC417B}"/>
                </a:ext>
              </a:extLst>
            </p:cNvPr>
            <p:cNvSpPr txBox="1"/>
            <p:nvPr/>
          </p:nvSpPr>
          <p:spPr>
            <a:xfrm>
              <a:off x="0" y="-76200"/>
              <a:ext cx="1027993" cy="293183"/>
            </a:xfrm>
            <a:prstGeom prst="rect">
              <a:avLst/>
            </a:prstGeom>
          </p:spPr>
          <p:txBody>
            <a:bodyPr lIns="50800" tIns="50800" rIns="50800" bIns="50800" rtlCol="0" anchor="ctr"/>
            <a:lstStyle/>
            <a:p>
              <a:pPr marL="0" lvl="0" indent="0" algn="ctr">
                <a:lnSpc>
                  <a:spcPts val="3527"/>
                </a:lnSpc>
              </a:pPr>
              <a:r>
                <a:rPr lang="en-US" sz="2519" b="1" spc="52">
                  <a:solidFill>
                    <a:srgbClr val="F4F4F4"/>
                  </a:solidFill>
                  <a:latin typeface="Poppins Medium"/>
                  <a:ea typeface="Poppins Medium"/>
                  <a:cs typeface="Poppins Medium"/>
                  <a:sym typeface="Poppins Medium"/>
                </a:rPr>
                <a:t>CONVERT TO NUMERIC</a:t>
              </a:r>
            </a:p>
          </p:txBody>
        </p:sp>
      </p:grpSp>
      <p:grpSp>
        <p:nvGrpSpPr>
          <p:cNvPr id="19" name="Group 19">
            <a:extLst>
              <a:ext uri="{FF2B5EF4-FFF2-40B4-BE49-F238E27FC236}">
                <a16:creationId xmlns:a16="http://schemas.microsoft.com/office/drawing/2014/main" id="{69962531-AD1B-FC66-9BA5-F25FC62651A0}"/>
              </a:ext>
            </a:extLst>
          </p:cNvPr>
          <p:cNvGrpSpPr/>
          <p:nvPr/>
        </p:nvGrpSpPr>
        <p:grpSpPr>
          <a:xfrm>
            <a:off x="11873585" y="1040458"/>
            <a:ext cx="812101" cy="812101"/>
            <a:chOff x="0" y="0"/>
            <a:chExt cx="812800" cy="812800"/>
          </a:xfrm>
        </p:grpSpPr>
        <p:sp>
          <p:nvSpPr>
            <p:cNvPr id="20" name="Freeform 20">
              <a:extLst>
                <a:ext uri="{FF2B5EF4-FFF2-40B4-BE49-F238E27FC236}">
                  <a16:creationId xmlns:a16="http://schemas.microsoft.com/office/drawing/2014/main" id="{A80C8620-2756-19F1-3EFC-9E512FDA86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1" name="TextBox 21">
              <a:extLst>
                <a:ext uri="{FF2B5EF4-FFF2-40B4-BE49-F238E27FC236}">
                  <a16:creationId xmlns:a16="http://schemas.microsoft.com/office/drawing/2014/main" id="{9AD3C239-ABFB-618E-2F2A-0D2A70991992}"/>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10"/>
                </a:lnSpc>
              </a:pPr>
              <a:r>
                <a:rPr lang="en-US" sz="2221" b="1" spc="46">
                  <a:solidFill>
                    <a:srgbClr val="FFFFFF"/>
                  </a:solidFill>
                  <a:latin typeface="Poppins Medium"/>
                  <a:ea typeface="Poppins Medium"/>
                  <a:cs typeface="Poppins Medium"/>
                  <a:sym typeface="Poppins Medium"/>
                </a:rPr>
                <a:t>1</a:t>
              </a:r>
            </a:p>
          </p:txBody>
        </p:sp>
      </p:grpSp>
      <p:grpSp>
        <p:nvGrpSpPr>
          <p:cNvPr id="22" name="Group 22">
            <a:extLst>
              <a:ext uri="{FF2B5EF4-FFF2-40B4-BE49-F238E27FC236}">
                <a16:creationId xmlns:a16="http://schemas.microsoft.com/office/drawing/2014/main" id="{1A636591-2EBD-85F5-273C-39428596B110}"/>
              </a:ext>
            </a:extLst>
          </p:cNvPr>
          <p:cNvGrpSpPr/>
          <p:nvPr/>
        </p:nvGrpSpPr>
        <p:grpSpPr>
          <a:xfrm>
            <a:off x="11873585" y="2848191"/>
            <a:ext cx="812101" cy="812101"/>
            <a:chOff x="0" y="0"/>
            <a:chExt cx="812800" cy="812800"/>
          </a:xfrm>
        </p:grpSpPr>
        <p:sp>
          <p:nvSpPr>
            <p:cNvPr id="23" name="Freeform 23">
              <a:extLst>
                <a:ext uri="{FF2B5EF4-FFF2-40B4-BE49-F238E27FC236}">
                  <a16:creationId xmlns:a16="http://schemas.microsoft.com/office/drawing/2014/main" id="{E697B92E-C5C0-7955-0034-092D0BCCD2D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4" name="TextBox 24">
              <a:extLst>
                <a:ext uri="{FF2B5EF4-FFF2-40B4-BE49-F238E27FC236}">
                  <a16:creationId xmlns:a16="http://schemas.microsoft.com/office/drawing/2014/main" id="{B60337F9-71A7-5189-98C9-A018BF1CA838}"/>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2</a:t>
              </a:r>
            </a:p>
          </p:txBody>
        </p:sp>
      </p:grpSp>
      <p:grpSp>
        <p:nvGrpSpPr>
          <p:cNvPr id="25" name="Group 25">
            <a:extLst>
              <a:ext uri="{FF2B5EF4-FFF2-40B4-BE49-F238E27FC236}">
                <a16:creationId xmlns:a16="http://schemas.microsoft.com/office/drawing/2014/main" id="{41209CC1-EF39-F174-CB71-F2DDFCE343A6}"/>
              </a:ext>
            </a:extLst>
          </p:cNvPr>
          <p:cNvGrpSpPr/>
          <p:nvPr/>
        </p:nvGrpSpPr>
        <p:grpSpPr>
          <a:xfrm>
            <a:off x="11873585" y="4737450"/>
            <a:ext cx="812101" cy="812101"/>
            <a:chOff x="0" y="0"/>
            <a:chExt cx="812800" cy="812800"/>
          </a:xfrm>
        </p:grpSpPr>
        <p:sp>
          <p:nvSpPr>
            <p:cNvPr id="26" name="Freeform 26">
              <a:extLst>
                <a:ext uri="{FF2B5EF4-FFF2-40B4-BE49-F238E27FC236}">
                  <a16:creationId xmlns:a16="http://schemas.microsoft.com/office/drawing/2014/main" id="{0F2065C1-C442-8C24-FE95-7882A605AC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7" name="TextBox 27">
              <a:extLst>
                <a:ext uri="{FF2B5EF4-FFF2-40B4-BE49-F238E27FC236}">
                  <a16:creationId xmlns:a16="http://schemas.microsoft.com/office/drawing/2014/main" id="{D9603477-3813-11CB-D8C5-D8B179106A5F}"/>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3</a:t>
              </a:r>
            </a:p>
          </p:txBody>
        </p:sp>
      </p:grpSp>
      <p:grpSp>
        <p:nvGrpSpPr>
          <p:cNvPr id="28" name="Group 28">
            <a:extLst>
              <a:ext uri="{FF2B5EF4-FFF2-40B4-BE49-F238E27FC236}">
                <a16:creationId xmlns:a16="http://schemas.microsoft.com/office/drawing/2014/main" id="{774C2481-B299-F9BE-DEFD-ED0712E10BED}"/>
              </a:ext>
            </a:extLst>
          </p:cNvPr>
          <p:cNvGrpSpPr/>
          <p:nvPr/>
        </p:nvGrpSpPr>
        <p:grpSpPr>
          <a:xfrm>
            <a:off x="11873585" y="6584116"/>
            <a:ext cx="812101" cy="812101"/>
            <a:chOff x="0" y="0"/>
            <a:chExt cx="812800" cy="812800"/>
          </a:xfrm>
        </p:grpSpPr>
        <p:sp>
          <p:nvSpPr>
            <p:cNvPr id="29" name="Freeform 29">
              <a:extLst>
                <a:ext uri="{FF2B5EF4-FFF2-40B4-BE49-F238E27FC236}">
                  <a16:creationId xmlns:a16="http://schemas.microsoft.com/office/drawing/2014/main" id="{4445DEE6-2508-DC3B-099B-0E17B1DF0FE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0" name="TextBox 30">
              <a:extLst>
                <a:ext uri="{FF2B5EF4-FFF2-40B4-BE49-F238E27FC236}">
                  <a16:creationId xmlns:a16="http://schemas.microsoft.com/office/drawing/2014/main" id="{374D5360-5A08-CE1E-C3D2-04465FAE7045}"/>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4</a:t>
              </a:r>
            </a:p>
          </p:txBody>
        </p:sp>
      </p:grpSp>
      <p:grpSp>
        <p:nvGrpSpPr>
          <p:cNvPr id="31" name="Group 31">
            <a:extLst>
              <a:ext uri="{FF2B5EF4-FFF2-40B4-BE49-F238E27FC236}">
                <a16:creationId xmlns:a16="http://schemas.microsoft.com/office/drawing/2014/main" id="{C0E7C919-E29C-AD26-9B7B-F041CA83BBEE}"/>
              </a:ext>
            </a:extLst>
          </p:cNvPr>
          <p:cNvGrpSpPr/>
          <p:nvPr/>
        </p:nvGrpSpPr>
        <p:grpSpPr>
          <a:xfrm>
            <a:off x="11873585" y="8472542"/>
            <a:ext cx="812101" cy="812101"/>
            <a:chOff x="0" y="0"/>
            <a:chExt cx="812800" cy="812800"/>
          </a:xfrm>
        </p:grpSpPr>
        <p:sp>
          <p:nvSpPr>
            <p:cNvPr id="32" name="Freeform 32">
              <a:extLst>
                <a:ext uri="{FF2B5EF4-FFF2-40B4-BE49-F238E27FC236}">
                  <a16:creationId xmlns:a16="http://schemas.microsoft.com/office/drawing/2014/main" id="{48306368-D213-7D35-E6F3-04293B2E88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3" name="TextBox 33">
              <a:extLst>
                <a:ext uri="{FF2B5EF4-FFF2-40B4-BE49-F238E27FC236}">
                  <a16:creationId xmlns:a16="http://schemas.microsoft.com/office/drawing/2014/main" id="{F48FC685-EC72-8018-DD53-C84965F2D587}"/>
                </a:ext>
              </a:extLst>
            </p:cNvPr>
            <p:cNvSpPr txBox="1"/>
            <p:nvPr/>
          </p:nvSpPr>
          <p:spPr>
            <a:xfrm>
              <a:off x="76200" y="9525"/>
              <a:ext cx="660400" cy="727075"/>
            </a:xfrm>
            <a:prstGeom prst="rect">
              <a:avLst/>
            </a:prstGeom>
          </p:spPr>
          <p:txBody>
            <a:bodyPr lIns="50800" tIns="50800" rIns="50800" bIns="50800" rtlCol="0" anchor="ctr"/>
            <a:lstStyle/>
            <a:p>
              <a:pPr marL="0" lvl="0" indent="0" algn="ctr">
                <a:lnSpc>
                  <a:spcPts val="3108"/>
                </a:lnSpc>
              </a:pPr>
              <a:r>
                <a:rPr lang="en-US" sz="2220" b="1" spc="46">
                  <a:solidFill>
                    <a:srgbClr val="FFFFFF"/>
                  </a:solidFill>
                  <a:latin typeface="Poppins Medium"/>
                  <a:ea typeface="Poppins Medium"/>
                  <a:cs typeface="Poppins Medium"/>
                  <a:sym typeface="Poppins Medium"/>
                </a:rPr>
                <a:t>5</a:t>
              </a:r>
            </a:p>
          </p:txBody>
        </p:sp>
      </p:grpSp>
      <p:pic>
        <p:nvPicPr>
          <p:cNvPr id="49" name="Picture 48">
            <a:extLst>
              <a:ext uri="{FF2B5EF4-FFF2-40B4-BE49-F238E27FC236}">
                <a16:creationId xmlns:a16="http://schemas.microsoft.com/office/drawing/2014/main" id="{863309FE-1033-16EE-17B3-8EA0EF16D73B}"/>
              </a:ext>
            </a:extLst>
          </p:cNvPr>
          <p:cNvPicPr>
            <a:picLocks noChangeAspect="1"/>
          </p:cNvPicPr>
          <p:nvPr/>
        </p:nvPicPr>
        <p:blipFill>
          <a:blip r:embed="rId2"/>
          <a:stretch>
            <a:fillRect/>
          </a:stretch>
        </p:blipFill>
        <p:spPr>
          <a:xfrm>
            <a:off x="1166096" y="4226058"/>
            <a:ext cx="9707122" cy="1834883"/>
          </a:xfrm>
          <a:prstGeom prst="rect">
            <a:avLst/>
          </a:prstGeom>
        </p:spPr>
      </p:pic>
    </p:spTree>
    <p:extLst>
      <p:ext uri="{BB962C8B-B14F-4D97-AF65-F5344CB8AC3E}">
        <p14:creationId xmlns:p14="http://schemas.microsoft.com/office/powerpoint/2010/main" val="533140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827</Words>
  <Application>Microsoft Office PowerPoint</Application>
  <PresentationFormat>Custom</PresentationFormat>
  <Paragraphs>97</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Inter Extra-Light</vt:lpstr>
      <vt:lpstr>Poppins Light</vt:lpstr>
      <vt:lpstr>Calibri</vt:lpstr>
      <vt:lpstr>Poppins</vt:lpstr>
      <vt:lpstr>Poppins Medium</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Philippine Airlines Passenger Review Analysis Milestone 2 Report</dc:title>
  <cp:lastModifiedBy>Reynnier Greg Banaban</cp:lastModifiedBy>
  <cp:revision>9</cp:revision>
  <dcterms:created xsi:type="dcterms:W3CDTF">2006-08-16T00:00:00Z</dcterms:created>
  <dcterms:modified xsi:type="dcterms:W3CDTF">2026-09-09T13:19:37Z</dcterms:modified>
  <dc:identifier>DAHUhUF3qao</dc:identifier>
</cp:coreProperties>
</file>