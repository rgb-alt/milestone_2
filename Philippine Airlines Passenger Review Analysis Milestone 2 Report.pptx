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22"/>
  </p:notesMasterIdLst>
  <p:sldIdLst>
    <p:sldId id="256" r:id="rId2"/>
    <p:sldId id="271" r:id="rId3"/>
    <p:sldId id="273" r:id="rId4"/>
    <p:sldId id="257" r:id="rId5"/>
    <p:sldId id="260" r:id="rId6"/>
    <p:sldId id="259" r:id="rId7"/>
    <p:sldId id="263" r:id="rId8"/>
    <p:sldId id="274" r:id="rId9"/>
    <p:sldId id="261" r:id="rId10"/>
    <p:sldId id="264" r:id="rId11"/>
    <p:sldId id="272" r:id="rId12"/>
    <p:sldId id="262" r:id="rId13"/>
    <p:sldId id="265" r:id="rId14"/>
    <p:sldId id="275" r:id="rId15"/>
    <p:sldId id="258" r:id="rId16"/>
    <p:sldId id="266" r:id="rId17"/>
    <p:sldId id="267" r:id="rId18"/>
    <p:sldId id="268" r:id="rId19"/>
    <p:sldId id="269" r:id="rId20"/>
    <p:sldId id="270" r:id="rId21"/>
  </p:sldIdLst>
  <p:sldSz cx="18288000" cy="10287000"/>
  <p:notesSz cx="6858000" cy="9144000"/>
  <p:embeddedFontLst>
    <p:embeddedFont>
      <p:font typeface="Inter Extra-Light" panose="020B0604020202020204" charset="0"/>
      <p:regular r:id="rId23"/>
    </p:embeddedFont>
    <p:embeddedFont>
      <p:font typeface="Poppins" panose="00000500000000000000" pitchFamily="2" charset="0"/>
      <p:regular r:id="rId24"/>
      <p:bold r:id="rId25"/>
      <p:italic r:id="rId26"/>
      <p:boldItalic r:id="rId27"/>
    </p:embeddedFont>
    <p:embeddedFont>
      <p:font typeface="Poppins Light" panose="00000400000000000000" pitchFamily="2" charset="0"/>
      <p:regular r:id="rId28"/>
      <p:italic r:id="rId29"/>
    </p:embeddedFont>
    <p:embeddedFont>
      <p:font typeface="Poppins Medium" panose="00000600000000000000" pitchFamily="2" charset="0"/>
      <p:regular r:id="rId30"/>
      <p:italic r:id="rId31"/>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2591" autoAdjust="0"/>
    <p:restoredTop sz="94622" autoAdjust="0"/>
  </p:normalViewPr>
  <p:slideViewPr>
    <p:cSldViewPr>
      <p:cViewPr varScale="1">
        <p:scale>
          <a:sx n="74" d="100"/>
          <a:sy n="74" d="100"/>
        </p:scale>
        <p:origin x="534" y="84"/>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font" Target="fonts/font4.fntdata"/><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font" Target="fonts/font3.fntdata"/><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font" Target="fonts/font7.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2.fntdata"/><Relationship Id="rId32"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1.fntdata"/><Relationship Id="rId28" Type="http://schemas.openxmlformats.org/officeDocument/2006/relationships/font" Target="fonts/font6.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font" Target="fonts/font9.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 Id="rId27" Type="http://schemas.openxmlformats.org/officeDocument/2006/relationships/font" Target="fonts/font5.fntdata"/><Relationship Id="rId30" Type="http://schemas.openxmlformats.org/officeDocument/2006/relationships/font" Target="fonts/font8.fntdata"/><Relationship Id="rId35" Type="http://schemas.openxmlformats.org/officeDocument/2006/relationships/tableStyles" Target="tableStyles.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PH"/>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2DAA40C-B144-4F89-A021-4BC12882735B}" type="datetimeFigureOut">
              <a:rPr lang="en-PH" smtClean="0"/>
              <a:t>09/09/2026</a:t>
            </a:fld>
            <a:endParaRPr lang="en-PH"/>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PH"/>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PH"/>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PH"/>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2F5806C-D682-45E3-9EAD-1531CF4CF647}" type="slidenum">
              <a:rPr lang="en-PH" smtClean="0"/>
              <a:t>‹#›</a:t>
            </a:fld>
            <a:endParaRPr lang="en-PH"/>
          </a:p>
        </p:txBody>
      </p:sp>
    </p:spTree>
    <p:extLst>
      <p:ext uri="{BB962C8B-B14F-4D97-AF65-F5344CB8AC3E}">
        <p14:creationId xmlns:p14="http://schemas.microsoft.com/office/powerpoint/2010/main" val="249103352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PH" dirty="0"/>
          </a:p>
        </p:txBody>
      </p:sp>
      <p:sp>
        <p:nvSpPr>
          <p:cNvPr id="4" name="Slide Number Placeholder 3"/>
          <p:cNvSpPr>
            <a:spLocks noGrp="1"/>
          </p:cNvSpPr>
          <p:nvPr>
            <p:ph type="sldNum" sz="quarter" idx="5"/>
          </p:nvPr>
        </p:nvSpPr>
        <p:spPr/>
        <p:txBody>
          <a:bodyPr/>
          <a:lstStyle/>
          <a:p>
            <a:fld id="{82F5806C-D682-45E3-9EAD-1531CF4CF647}" type="slidenum">
              <a:rPr lang="en-PH" smtClean="0"/>
              <a:t>7</a:t>
            </a:fld>
            <a:endParaRPr lang="en-PH"/>
          </a:p>
        </p:txBody>
      </p:sp>
    </p:spTree>
    <p:extLst>
      <p:ext uri="{BB962C8B-B14F-4D97-AF65-F5344CB8AC3E}">
        <p14:creationId xmlns:p14="http://schemas.microsoft.com/office/powerpoint/2010/main" val="191328652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EC9520-5F93-2D7C-C9A1-1324F11848C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6276709-017F-511B-981A-526EF98919A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EDBD336-DDCB-9756-83D2-8AEB3D7A1DED}"/>
              </a:ext>
            </a:extLst>
          </p:cNvPr>
          <p:cNvSpPr>
            <a:spLocks noGrp="1"/>
          </p:cNvSpPr>
          <p:nvPr>
            <p:ph type="body" idx="1"/>
          </p:nvPr>
        </p:nvSpPr>
        <p:spPr/>
        <p:txBody>
          <a:bodyPr/>
          <a:lstStyle/>
          <a:p>
            <a:endParaRPr lang="en-PH" dirty="0"/>
          </a:p>
        </p:txBody>
      </p:sp>
      <p:sp>
        <p:nvSpPr>
          <p:cNvPr id="4" name="Slide Number Placeholder 3">
            <a:extLst>
              <a:ext uri="{FF2B5EF4-FFF2-40B4-BE49-F238E27FC236}">
                <a16:creationId xmlns:a16="http://schemas.microsoft.com/office/drawing/2014/main" id="{55FA0DEC-DF93-B04A-ACFB-5B40497B0558}"/>
              </a:ext>
            </a:extLst>
          </p:cNvPr>
          <p:cNvSpPr>
            <a:spLocks noGrp="1"/>
          </p:cNvSpPr>
          <p:nvPr>
            <p:ph type="sldNum" sz="quarter" idx="5"/>
          </p:nvPr>
        </p:nvSpPr>
        <p:spPr/>
        <p:txBody>
          <a:bodyPr/>
          <a:lstStyle/>
          <a:p>
            <a:fld id="{82F5806C-D682-45E3-9EAD-1531CF4CF647}" type="slidenum">
              <a:rPr lang="en-PH" smtClean="0"/>
              <a:t>8</a:t>
            </a:fld>
            <a:endParaRPr lang="en-PH"/>
          </a:p>
        </p:txBody>
      </p:sp>
    </p:spTree>
    <p:extLst>
      <p:ext uri="{BB962C8B-B14F-4D97-AF65-F5344CB8AC3E}">
        <p14:creationId xmlns:p14="http://schemas.microsoft.com/office/powerpoint/2010/main" val="124317907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9/9/2026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9/9/2026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9/9/2026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9/9/2026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9/9/2026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9/9/2026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9/9/2026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9/9/2026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9/9/2026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9/9/2026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9/9/2026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9/9/2026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7.xml"/><Relationship Id="rId4"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gradFill rotWithShape="1">
          <a:gsLst>
            <a:gs pos="0">
              <a:srgbClr val="6B1124">
                <a:alpha val="100000"/>
              </a:srgbClr>
            </a:gs>
            <a:gs pos="50000">
              <a:srgbClr val="000000">
                <a:alpha val="100000"/>
              </a:srgbClr>
            </a:gs>
            <a:gs pos="100000">
              <a:srgbClr val="6B1124">
                <a:alpha val="100000"/>
              </a:srgbClr>
            </a:gs>
          </a:gsLst>
          <a:path path="circle">
            <a:fillToRect r="100000" b="100000"/>
          </a:path>
          <a:tileRect l="-100000" t="-100000"/>
        </a:gradFill>
        <a:effectLst/>
      </p:bgPr>
    </p:bg>
    <p:spTree>
      <p:nvGrpSpPr>
        <p:cNvPr id="1" name=""/>
        <p:cNvGrpSpPr/>
        <p:nvPr/>
      </p:nvGrpSpPr>
      <p:grpSpPr>
        <a:xfrm>
          <a:off x="0" y="0"/>
          <a:ext cx="0" cy="0"/>
          <a:chOff x="0" y="0"/>
          <a:chExt cx="0" cy="0"/>
        </a:xfrm>
      </p:grpSpPr>
      <p:sp>
        <p:nvSpPr>
          <p:cNvPr id="2" name="AutoShape 2"/>
          <p:cNvSpPr/>
          <p:nvPr/>
        </p:nvSpPr>
        <p:spPr>
          <a:xfrm flipV="1">
            <a:off x="0" y="5143500"/>
            <a:ext cx="18288000" cy="0"/>
          </a:xfrm>
          <a:prstGeom prst="line">
            <a:avLst/>
          </a:prstGeom>
          <a:ln w="9525" cap="rnd">
            <a:solidFill>
              <a:srgbClr val="F4F4F4"/>
            </a:solidFill>
            <a:prstDash val="solid"/>
            <a:headEnd type="none" w="sm" len="sm"/>
            <a:tailEnd type="none" w="sm" len="sm"/>
          </a:ln>
        </p:spPr>
        <p:txBody>
          <a:bodyPr/>
          <a:lstStyle/>
          <a:p>
            <a:endParaRPr lang="en-PH"/>
          </a:p>
        </p:txBody>
      </p:sp>
      <p:sp>
        <p:nvSpPr>
          <p:cNvPr id="3" name="TextBox 3"/>
          <p:cNvSpPr txBox="1"/>
          <p:nvPr/>
        </p:nvSpPr>
        <p:spPr>
          <a:xfrm>
            <a:off x="1028700" y="1968990"/>
            <a:ext cx="8115300" cy="2631272"/>
          </a:xfrm>
          <a:prstGeom prst="rect">
            <a:avLst/>
          </a:prstGeom>
        </p:spPr>
        <p:txBody>
          <a:bodyPr lIns="0" tIns="0" rIns="0" bIns="0" rtlCol="0" anchor="t">
            <a:spAutoFit/>
          </a:bodyPr>
          <a:lstStyle/>
          <a:p>
            <a:pPr marL="0" lvl="0" indent="0" algn="l">
              <a:lnSpc>
                <a:spcPts val="6625"/>
              </a:lnSpc>
            </a:pPr>
            <a:r>
              <a:rPr lang="en-US" sz="6974" b="1" spc="-292">
                <a:solidFill>
                  <a:srgbClr val="F4F4F4"/>
                </a:solidFill>
                <a:latin typeface="Poppins Medium"/>
                <a:ea typeface="Poppins Medium"/>
                <a:cs typeface="Poppins Medium"/>
                <a:sym typeface="Poppins Medium"/>
              </a:rPr>
              <a:t>Philippine Airlines Passenger Review Analysis</a:t>
            </a:r>
          </a:p>
        </p:txBody>
      </p:sp>
      <p:sp>
        <p:nvSpPr>
          <p:cNvPr id="4" name="TextBox 4"/>
          <p:cNvSpPr txBox="1"/>
          <p:nvPr/>
        </p:nvSpPr>
        <p:spPr>
          <a:xfrm>
            <a:off x="1028700" y="6278190"/>
            <a:ext cx="6967016" cy="509411"/>
          </a:xfrm>
          <a:prstGeom prst="rect">
            <a:avLst/>
          </a:prstGeom>
        </p:spPr>
        <p:txBody>
          <a:bodyPr lIns="0" tIns="0" rIns="0" bIns="0" rtlCol="0" anchor="t">
            <a:spAutoFit/>
          </a:bodyPr>
          <a:lstStyle/>
          <a:p>
            <a:pPr marL="0" lvl="0" indent="0" algn="l">
              <a:lnSpc>
                <a:spcPts val="3947"/>
              </a:lnSpc>
              <a:spcBef>
                <a:spcPct val="0"/>
              </a:spcBef>
            </a:pPr>
            <a:r>
              <a:rPr lang="en-US" sz="2819" spc="-118">
                <a:solidFill>
                  <a:srgbClr val="F4F4F4"/>
                </a:solidFill>
                <a:latin typeface="Poppins"/>
                <a:ea typeface="Poppins"/>
                <a:cs typeface="Poppins"/>
                <a:sym typeface="Poppins"/>
              </a:rPr>
              <a:t>Milestone 2 Report</a:t>
            </a:r>
          </a:p>
        </p:txBody>
      </p:sp>
      <p:sp>
        <p:nvSpPr>
          <p:cNvPr id="5" name="TextBox 5"/>
          <p:cNvSpPr txBox="1"/>
          <p:nvPr/>
        </p:nvSpPr>
        <p:spPr>
          <a:xfrm>
            <a:off x="1028700" y="7320425"/>
            <a:ext cx="7556647" cy="1102389"/>
          </a:xfrm>
          <a:prstGeom prst="rect">
            <a:avLst/>
          </a:prstGeom>
        </p:spPr>
        <p:txBody>
          <a:bodyPr lIns="0" tIns="0" rIns="0" bIns="0" rtlCol="0" anchor="t">
            <a:spAutoFit/>
          </a:bodyPr>
          <a:lstStyle/>
          <a:p>
            <a:pPr marL="0" lvl="0" indent="0" algn="just">
              <a:lnSpc>
                <a:spcPts val="2238"/>
              </a:lnSpc>
              <a:spcBef>
                <a:spcPct val="0"/>
              </a:spcBef>
            </a:pPr>
            <a:r>
              <a:rPr lang="en-US" sz="1598" dirty="0">
                <a:solidFill>
                  <a:srgbClr val="F4F4F4"/>
                </a:solidFill>
                <a:latin typeface="Inter Extra-Light"/>
                <a:ea typeface="Inter Extra-Light"/>
                <a:cs typeface="Inter Extra-Light"/>
                <a:sym typeface="Inter Extra-Light"/>
              </a:rPr>
              <a:t>Prepared by: Group 4</a:t>
            </a:r>
          </a:p>
          <a:p>
            <a:pPr marL="0" lvl="0" indent="0" algn="just">
              <a:lnSpc>
                <a:spcPts val="2238"/>
              </a:lnSpc>
              <a:spcBef>
                <a:spcPct val="0"/>
              </a:spcBef>
            </a:pPr>
            <a:r>
              <a:rPr lang="en-US" sz="1598" dirty="0">
                <a:solidFill>
                  <a:srgbClr val="F4F4F4"/>
                </a:solidFill>
                <a:latin typeface="Inter Extra-Light"/>
                <a:ea typeface="Inter Extra-Light"/>
                <a:cs typeface="Inter Extra-Light"/>
                <a:sym typeface="Inter Extra-Light"/>
              </a:rPr>
              <a:t>An in-depth analysis of 891 passenger reviews covering seat comfort, cabin staff service, food &amp; beverages, inflight entertainment, ground service, value for money, Wi-Fi connectivity, and recommendation drivers.</a:t>
            </a:r>
          </a:p>
        </p:txBody>
      </p:sp>
      <p:grpSp>
        <p:nvGrpSpPr>
          <p:cNvPr id="6" name="Group 6"/>
          <p:cNvGrpSpPr/>
          <p:nvPr/>
        </p:nvGrpSpPr>
        <p:grpSpPr>
          <a:xfrm>
            <a:off x="10058400" y="1028700"/>
            <a:ext cx="9297103" cy="8229600"/>
            <a:chOff x="0" y="0"/>
            <a:chExt cx="1440365" cy="1274980"/>
          </a:xfrm>
        </p:grpSpPr>
        <p:sp>
          <p:nvSpPr>
            <p:cNvPr id="7" name="Freeform 7"/>
            <p:cNvSpPr/>
            <p:nvPr/>
          </p:nvSpPr>
          <p:spPr>
            <a:xfrm>
              <a:off x="0" y="0"/>
              <a:ext cx="1440365" cy="1274980"/>
            </a:xfrm>
            <a:custGeom>
              <a:avLst/>
              <a:gdLst/>
              <a:ahLst/>
              <a:cxnLst/>
              <a:rect l="l" t="t" r="r" b="b"/>
              <a:pathLst>
                <a:path w="1440365" h="1274980">
                  <a:moveTo>
                    <a:pt x="50796" y="0"/>
                  </a:moveTo>
                  <a:lnTo>
                    <a:pt x="1389568" y="0"/>
                  </a:lnTo>
                  <a:cubicBezTo>
                    <a:pt x="1417622" y="0"/>
                    <a:pt x="1440365" y="22742"/>
                    <a:pt x="1440365" y="50796"/>
                  </a:cubicBezTo>
                  <a:lnTo>
                    <a:pt x="1440365" y="1224184"/>
                  </a:lnTo>
                  <a:cubicBezTo>
                    <a:pt x="1440365" y="1237656"/>
                    <a:pt x="1435013" y="1250576"/>
                    <a:pt x="1425487" y="1260103"/>
                  </a:cubicBezTo>
                  <a:cubicBezTo>
                    <a:pt x="1415961" y="1269629"/>
                    <a:pt x="1403040" y="1274980"/>
                    <a:pt x="1389568" y="1274980"/>
                  </a:cubicBezTo>
                  <a:lnTo>
                    <a:pt x="50796" y="1274980"/>
                  </a:lnTo>
                  <a:cubicBezTo>
                    <a:pt x="22742" y="1274980"/>
                    <a:pt x="0" y="1252238"/>
                    <a:pt x="0" y="1224184"/>
                  </a:cubicBezTo>
                  <a:lnTo>
                    <a:pt x="0" y="50796"/>
                  </a:lnTo>
                  <a:cubicBezTo>
                    <a:pt x="0" y="37324"/>
                    <a:pt x="5352" y="24404"/>
                    <a:pt x="14878" y="14878"/>
                  </a:cubicBezTo>
                  <a:cubicBezTo>
                    <a:pt x="24404" y="5352"/>
                    <a:pt x="37324" y="0"/>
                    <a:pt x="50796" y="0"/>
                  </a:cubicBezTo>
                  <a:close/>
                </a:path>
              </a:pathLst>
            </a:custGeom>
            <a:blipFill>
              <a:blip r:embed="rId2"/>
              <a:stretch>
                <a:fillRect t="-34781" b="-34781"/>
              </a:stretch>
            </a:blipFill>
            <a:ln w="9525" cap="rnd">
              <a:solidFill>
                <a:srgbClr val="FFFFFF"/>
              </a:solidFill>
              <a:prstDash val="solid"/>
              <a:round/>
            </a:ln>
          </p:spPr>
          <p:txBody>
            <a:bodyPr/>
            <a:lstStyle/>
            <a:p>
              <a:endParaRPr lang="en-PH"/>
            </a:p>
          </p:txBody>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gradFill rotWithShape="1">
          <a:gsLst>
            <a:gs pos="0">
              <a:srgbClr val="6B1124">
                <a:alpha val="100000"/>
              </a:srgbClr>
            </a:gs>
            <a:gs pos="50000">
              <a:srgbClr val="000000">
                <a:alpha val="100000"/>
              </a:srgbClr>
            </a:gs>
            <a:gs pos="100000">
              <a:srgbClr val="6B1124">
                <a:alpha val="100000"/>
              </a:srgbClr>
            </a:gs>
          </a:gsLst>
          <a:path path="circle">
            <a:fillToRect r="100000" b="100000"/>
          </a:path>
          <a:tileRect l="-100000" t="-100000"/>
        </a:gradFill>
        <a:effectLst/>
      </p:bgPr>
    </p:bg>
    <p:spTree>
      <p:nvGrpSpPr>
        <p:cNvPr id="1" name="">
          <a:extLst>
            <a:ext uri="{FF2B5EF4-FFF2-40B4-BE49-F238E27FC236}">
              <a16:creationId xmlns:a16="http://schemas.microsoft.com/office/drawing/2014/main" id="{09BC29A0-CB03-217E-DFDB-B2E3193C3827}"/>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110B670E-29EB-86C9-AB19-80B682E8F6A1}"/>
              </a:ext>
            </a:extLst>
          </p:cNvPr>
          <p:cNvSpPr txBox="1"/>
          <p:nvPr/>
        </p:nvSpPr>
        <p:spPr>
          <a:xfrm>
            <a:off x="1371600" y="1790700"/>
            <a:ext cx="6967016" cy="551959"/>
          </a:xfrm>
          <a:prstGeom prst="rect">
            <a:avLst/>
          </a:prstGeom>
        </p:spPr>
        <p:txBody>
          <a:bodyPr lIns="0" tIns="0" rIns="0" bIns="0" rtlCol="0" anchor="t">
            <a:spAutoFit/>
          </a:bodyPr>
          <a:lstStyle/>
          <a:p>
            <a:pPr marL="0" lvl="0" indent="0" algn="l">
              <a:lnSpc>
                <a:spcPts val="4227"/>
              </a:lnSpc>
              <a:spcBef>
                <a:spcPct val="0"/>
              </a:spcBef>
            </a:pPr>
            <a:r>
              <a:rPr lang="en-US" sz="4000" spc="-126" dirty="0">
                <a:solidFill>
                  <a:srgbClr val="F4F4F4"/>
                </a:solidFill>
                <a:latin typeface="Poppins"/>
                <a:ea typeface="Poppins"/>
                <a:cs typeface="Poppins"/>
                <a:sym typeface="Poppins"/>
              </a:rPr>
              <a:t>Dataset Overview</a:t>
            </a:r>
          </a:p>
        </p:txBody>
      </p:sp>
      <p:sp>
        <p:nvSpPr>
          <p:cNvPr id="13" name="TextBox 12">
            <a:extLst>
              <a:ext uri="{FF2B5EF4-FFF2-40B4-BE49-F238E27FC236}">
                <a16:creationId xmlns:a16="http://schemas.microsoft.com/office/drawing/2014/main" id="{3B3B37D6-A6D8-668F-41CB-F921EF5B1FC2}"/>
              </a:ext>
            </a:extLst>
          </p:cNvPr>
          <p:cNvSpPr txBox="1"/>
          <p:nvPr/>
        </p:nvSpPr>
        <p:spPr>
          <a:xfrm>
            <a:off x="2476500" y="3771900"/>
            <a:ext cx="13335000" cy="2400657"/>
          </a:xfrm>
          <a:prstGeom prst="rect">
            <a:avLst/>
          </a:prstGeom>
          <a:noFill/>
        </p:spPr>
        <p:txBody>
          <a:bodyPr wrap="square" rtlCol="0">
            <a:spAutoFit/>
          </a:bodyPr>
          <a:lstStyle/>
          <a:p>
            <a:pPr algn="just"/>
            <a:r>
              <a:rPr lang="en-US" sz="3000" dirty="0">
                <a:solidFill>
                  <a:srgbClr val="F4F4F4"/>
                </a:solidFill>
                <a:latin typeface="Inter Extra-Light"/>
                <a:ea typeface="Inter Extra-Light"/>
                <a:cs typeface="Inter Extra-Light"/>
                <a:sym typeface="Inter Extra-Light"/>
              </a:rPr>
              <a:t>Dataset: 891 passenger reviews across 15 columns. </a:t>
            </a:r>
          </a:p>
          <a:p>
            <a:pPr algn="just"/>
            <a:endParaRPr lang="en-US" sz="3000" dirty="0">
              <a:solidFill>
                <a:srgbClr val="F4F4F4"/>
              </a:solidFill>
              <a:latin typeface="Inter Extra-Light"/>
              <a:ea typeface="Inter Extra-Light"/>
              <a:cs typeface="Inter Extra-Light"/>
              <a:sym typeface="Inter Extra-Light"/>
            </a:endParaRPr>
          </a:p>
          <a:p>
            <a:pPr algn="just"/>
            <a:r>
              <a:rPr lang="en-US" sz="3000" dirty="0">
                <a:solidFill>
                  <a:srgbClr val="F4F4F4"/>
                </a:solidFill>
                <a:latin typeface="Inter Extra-Light"/>
                <a:ea typeface="Inter Extra-Light"/>
                <a:cs typeface="Inter Extra-Light"/>
                <a:sym typeface="Inter Extra-Light"/>
              </a:rPr>
              <a:t>Scope covers Seat Comfort, Cabin Staff Service, Food &amp; Beverages, Inflight Entertainment, Ground Service, Value for Money, Wi-Fi/Connectivity, and Recommendation. </a:t>
            </a:r>
          </a:p>
        </p:txBody>
      </p:sp>
    </p:spTree>
    <p:extLst>
      <p:ext uri="{BB962C8B-B14F-4D97-AF65-F5344CB8AC3E}">
        <p14:creationId xmlns:p14="http://schemas.microsoft.com/office/powerpoint/2010/main" val="350849572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gradFill rotWithShape="1">
          <a:gsLst>
            <a:gs pos="0">
              <a:srgbClr val="6B1124">
                <a:alpha val="100000"/>
              </a:srgbClr>
            </a:gs>
            <a:gs pos="50000">
              <a:srgbClr val="000000">
                <a:alpha val="100000"/>
              </a:srgbClr>
            </a:gs>
            <a:gs pos="100000">
              <a:srgbClr val="6B1124">
                <a:alpha val="100000"/>
              </a:srgbClr>
            </a:gs>
          </a:gsLst>
          <a:path path="circle">
            <a:fillToRect r="100000" b="100000"/>
          </a:path>
          <a:tileRect l="-100000" t="-100000"/>
        </a:gradFill>
        <a:effectLst/>
      </p:bgPr>
    </p:bg>
    <p:spTree>
      <p:nvGrpSpPr>
        <p:cNvPr id="1" name="">
          <a:extLst>
            <a:ext uri="{FF2B5EF4-FFF2-40B4-BE49-F238E27FC236}">
              <a16:creationId xmlns:a16="http://schemas.microsoft.com/office/drawing/2014/main" id="{D8D8B234-1897-02D7-6324-3131DDA8E65D}"/>
            </a:ext>
          </a:extLst>
        </p:cNvPr>
        <p:cNvGrpSpPr/>
        <p:nvPr/>
      </p:nvGrpSpPr>
      <p:grpSpPr>
        <a:xfrm>
          <a:off x="0" y="0"/>
          <a:ext cx="0" cy="0"/>
          <a:chOff x="0" y="0"/>
          <a:chExt cx="0" cy="0"/>
        </a:xfrm>
      </p:grpSpPr>
      <p:sp>
        <p:nvSpPr>
          <p:cNvPr id="13" name="TextBox 12">
            <a:extLst>
              <a:ext uri="{FF2B5EF4-FFF2-40B4-BE49-F238E27FC236}">
                <a16:creationId xmlns:a16="http://schemas.microsoft.com/office/drawing/2014/main" id="{F29D1704-B24C-E312-6F2B-3CCBC7036A81}"/>
              </a:ext>
            </a:extLst>
          </p:cNvPr>
          <p:cNvSpPr txBox="1"/>
          <p:nvPr/>
        </p:nvSpPr>
        <p:spPr>
          <a:xfrm>
            <a:off x="2209800" y="1714500"/>
            <a:ext cx="13525500" cy="6524863"/>
          </a:xfrm>
          <a:prstGeom prst="rect">
            <a:avLst/>
          </a:prstGeom>
          <a:noFill/>
        </p:spPr>
        <p:txBody>
          <a:bodyPr wrap="square" rtlCol="0">
            <a:spAutoFit/>
          </a:bodyPr>
          <a:lstStyle/>
          <a:p>
            <a:pPr fontAlgn="base"/>
            <a:r>
              <a:rPr lang="en-PH" sz="5000" b="1" dirty="0">
                <a:solidFill>
                  <a:schemeClr val="bg1"/>
                </a:solidFill>
                <a:latin typeface="Inter Extra-Light" panose="020B0604020202020204" charset="0"/>
                <a:ea typeface="Inter Extra-Light" panose="020B0604020202020204" charset="0"/>
              </a:rPr>
              <a:t>What This Analysis Delivers</a:t>
            </a:r>
          </a:p>
          <a:p>
            <a:pPr fontAlgn="base"/>
            <a:endParaRPr lang="en-PH" b="1" dirty="0">
              <a:solidFill>
                <a:schemeClr val="bg1"/>
              </a:solidFill>
            </a:endParaRPr>
          </a:p>
          <a:p>
            <a:pPr lvl="0" fontAlgn="base"/>
            <a:r>
              <a:rPr lang="en-PH" sz="2500" b="1" dirty="0">
                <a:solidFill>
                  <a:schemeClr val="bg1"/>
                </a:solidFill>
                <a:latin typeface="Inter Extra-Light" panose="020B0604020202020204" charset="0"/>
                <a:ea typeface="Inter Extra-Light" panose="020B0604020202020204" charset="0"/>
              </a:rPr>
              <a:t>For Decision-Makers</a:t>
            </a:r>
          </a:p>
          <a:p>
            <a:pPr marL="342900" lvl="0" indent="-342900" fontAlgn="base">
              <a:buFont typeface="Arial" panose="020B0604020202020204" pitchFamily="34" charset="0"/>
              <a:buChar char="•"/>
            </a:pPr>
            <a:r>
              <a:rPr lang="en-PH" sz="2500" dirty="0">
                <a:solidFill>
                  <a:schemeClr val="bg1"/>
                </a:solidFill>
                <a:latin typeface="Inter Extra-Light" panose="020B0604020202020204" charset="0"/>
                <a:ea typeface="Inter Extra-Light" panose="020B0604020202020204" charset="0"/>
              </a:rPr>
              <a:t>Clear priorities for resource allocation</a:t>
            </a:r>
          </a:p>
          <a:p>
            <a:pPr marL="342900" lvl="0" indent="-342900" fontAlgn="base">
              <a:buFont typeface="Arial" panose="020B0604020202020204" pitchFamily="34" charset="0"/>
              <a:buChar char="•"/>
            </a:pPr>
            <a:r>
              <a:rPr lang="en-PH" sz="2500" dirty="0">
                <a:solidFill>
                  <a:schemeClr val="bg1"/>
                </a:solidFill>
                <a:latin typeface="Inter Extra-Light" panose="020B0604020202020204" charset="0"/>
                <a:ea typeface="Inter Extra-Light" panose="020B0604020202020204" charset="0"/>
              </a:rPr>
              <a:t>Evidence to support strategic investments</a:t>
            </a:r>
          </a:p>
          <a:p>
            <a:pPr marL="342900" lvl="0" indent="-342900" fontAlgn="base">
              <a:buFont typeface="Arial" panose="020B0604020202020204" pitchFamily="34" charset="0"/>
              <a:buChar char="•"/>
            </a:pPr>
            <a:r>
              <a:rPr lang="en-PH" sz="2500" dirty="0">
                <a:solidFill>
                  <a:schemeClr val="bg1"/>
                </a:solidFill>
                <a:latin typeface="Inter Extra-Light" panose="020B0604020202020204" charset="0"/>
                <a:ea typeface="Inter Extra-Light" panose="020B0604020202020204" charset="0"/>
              </a:rPr>
              <a:t>Understanding of what impacts recommendations most</a:t>
            </a:r>
          </a:p>
          <a:p>
            <a:pPr lvl="0" fontAlgn="base"/>
            <a:endParaRPr lang="en-PH" sz="2500" dirty="0">
              <a:solidFill>
                <a:schemeClr val="bg1"/>
              </a:solidFill>
              <a:latin typeface="Inter Extra-Light" panose="020B0604020202020204" charset="0"/>
              <a:ea typeface="Inter Extra-Light" panose="020B0604020202020204" charset="0"/>
            </a:endParaRPr>
          </a:p>
          <a:p>
            <a:pPr lvl="0" fontAlgn="base"/>
            <a:r>
              <a:rPr lang="en-PH" sz="2500" b="1" dirty="0">
                <a:solidFill>
                  <a:schemeClr val="bg1"/>
                </a:solidFill>
                <a:latin typeface="Inter Extra-Light" panose="020B0604020202020204" charset="0"/>
                <a:ea typeface="Inter Extra-Light" panose="020B0604020202020204" charset="0"/>
              </a:rPr>
              <a:t>For Different Departments</a:t>
            </a:r>
          </a:p>
          <a:p>
            <a:pPr marL="342900" lvl="0" indent="-342900" fontAlgn="base">
              <a:buFont typeface="Arial" panose="020B0604020202020204" pitchFamily="34" charset="0"/>
              <a:buChar char="•"/>
            </a:pPr>
            <a:r>
              <a:rPr lang="en-PH" sz="2500" dirty="0">
                <a:solidFill>
                  <a:schemeClr val="bg1"/>
                </a:solidFill>
                <a:latin typeface="Inter Extra-Light" panose="020B0604020202020204" charset="0"/>
                <a:ea typeface="Inter Extra-Light" panose="020B0604020202020204" charset="0"/>
              </a:rPr>
              <a:t>Marketing: Highlight PAL's strongest attributes</a:t>
            </a:r>
          </a:p>
          <a:p>
            <a:pPr marL="342900" lvl="0" indent="-342900" fontAlgn="base">
              <a:buFont typeface="Arial" panose="020B0604020202020204" pitchFamily="34" charset="0"/>
              <a:buChar char="•"/>
            </a:pPr>
            <a:r>
              <a:rPr lang="en-PH" sz="2500" dirty="0">
                <a:solidFill>
                  <a:schemeClr val="bg1"/>
                </a:solidFill>
                <a:latin typeface="Inter Extra-Light" panose="020B0604020202020204" charset="0"/>
                <a:ea typeface="Inter Extra-Light" panose="020B0604020202020204" charset="0"/>
              </a:rPr>
              <a:t>Operations: Address critical service weaknesses</a:t>
            </a:r>
          </a:p>
          <a:p>
            <a:pPr marL="342900" lvl="0" indent="-342900" fontAlgn="base">
              <a:buFont typeface="Arial" panose="020B0604020202020204" pitchFamily="34" charset="0"/>
              <a:buChar char="•"/>
            </a:pPr>
            <a:r>
              <a:rPr lang="en-PH" sz="2500" dirty="0">
                <a:solidFill>
                  <a:schemeClr val="bg1"/>
                </a:solidFill>
                <a:latin typeface="Inter Extra-Light" panose="020B0604020202020204" charset="0"/>
                <a:ea typeface="Inter Extra-Light" panose="020B0604020202020204" charset="0"/>
              </a:rPr>
              <a:t>Customer Service: Focus on experience drivers</a:t>
            </a:r>
          </a:p>
          <a:p>
            <a:pPr lvl="0" fontAlgn="base"/>
            <a:endParaRPr lang="en-PH" sz="2500" dirty="0">
              <a:solidFill>
                <a:schemeClr val="bg1"/>
              </a:solidFill>
              <a:latin typeface="Inter Extra-Light" panose="020B0604020202020204" charset="0"/>
              <a:ea typeface="Inter Extra-Light" panose="020B0604020202020204" charset="0"/>
            </a:endParaRPr>
          </a:p>
          <a:p>
            <a:pPr lvl="0" fontAlgn="base"/>
            <a:r>
              <a:rPr lang="en-PH" sz="2500" b="1" dirty="0">
                <a:solidFill>
                  <a:schemeClr val="bg1"/>
                </a:solidFill>
                <a:latin typeface="Inter Extra-Light" panose="020B0604020202020204" charset="0"/>
                <a:ea typeface="Inter Extra-Light" panose="020B0604020202020204" charset="0"/>
              </a:rPr>
              <a:t>Bottom Line Impact</a:t>
            </a:r>
          </a:p>
          <a:p>
            <a:pPr marL="342900" lvl="0" indent="-342900" fontAlgn="base">
              <a:buFont typeface="Arial" panose="020B0604020202020204" pitchFamily="34" charset="0"/>
              <a:buChar char="•"/>
            </a:pPr>
            <a:r>
              <a:rPr lang="en-PH" sz="2500" dirty="0">
                <a:solidFill>
                  <a:schemeClr val="bg1"/>
                </a:solidFill>
                <a:latin typeface="Inter Extra-Light" panose="020B0604020202020204" charset="0"/>
                <a:ea typeface="Inter Extra-Light" panose="020B0604020202020204" charset="0"/>
              </a:rPr>
              <a:t>Targeted improvements that increase recommendations</a:t>
            </a:r>
          </a:p>
          <a:p>
            <a:pPr marL="342900" lvl="0" indent="-342900" fontAlgn="base">
              <a:buFont typeface="Arial" panose="020B0604020202020204" pitchFamily="34" charset="0"/>
              <a:buChar char="•"/>
            </a:pPr>
            <a:r>
              <a:rPr lang="en-PH" sz="2500" dirty="0">
                <a:solidFill>
                  <a:schemeClr val="bg1"/>
                </a:solidFill>
                <a:latin typeface="Inter Extra-Light" panose="020B0604020202020204" charset="0"/>
                <a:ea typeface="Inter Extra-Light" panose="020B0604020202020204" charset="0"/>
              </a:rPr>
              <a:t>Better passenger experience across all touchpoints</a:t>
            </a:r>
          </a:p>
          <a:p>
            <a:pPr marL="342900" lvl="0" indent="-342900" fontAlgn="base">
              <a:buFont typeface="Arial" panose="020B0604020202020204" pitchFamily="34" charset="0"/>
              <a:buChar char="•"/>
            </a:pPr>
            <a:r>
              <a:rPr lang="en-PH" sz="2500" dirty="0">
                <a:solidFill>
                  <a:schemeClr val="bg1"/>
                </a:solidFill>
                <a:latin typeface="Inter Extra-Light" panose="020B0604020202020204" charset="0"/>
                <a:ea typeface="Inter Extra-Light" panose="020B0604020202020204" charset="0"/>
              </a:rPr>
              <a:t>Stronger competitive position in the market</a:t>
            </a:r>
          </a:p>
        </p:txBody>
      </p:sp>
    </p:spTree>
    <p:extLst>
      <p:ext uri="{BB962C8B-B14F-4D97-AF65-F5344CB8AC3E}">
        <p14:creationId xmlns:p14="http://schemas.microsoft.com/office/powerpoint/2010/main" val="69643429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gradFill rotWithShape="1">
          <a:gsLst>
            <a:gs pos="0">
              <a:srgbClr val="6B1124">
                <a:alpha val="100000"/>
              </a:srgbClr>
            </a:gs>
            <a:gs pos="50000">
              <a:srgbClr val="000000">
                <a:alpha val="100000"/>
              </a:srgbClr>
            </a:gs>
            <a:gs pos="100000">
              <a:srgbClr val="6B1124">
                <a:alpha val="100000"/>
              </a:srgbClr>
            </a:gs>
          </a:gsLst>
          <a:path path="circle">
            <a:fillToRect r="100000" b="100000"/>
          </a:path>
          <a:tileRect l="-100000" t="-100000"/>
        </a:gradFill>
        <a:effectLst/>
      </p:bgPr>
    </p:bg>
    <p:spTree>
      <p:nvGrpSpPr>
        <p:cNvPr id="1" name=""/>
        <p:cNvGrpSpPr/>
        <p:nvPr/>
      </p:nvGrpSpPr>
      <p:grpSpPr>
        <a:xfrm>
          <a:off x="0" y="0"/>
          <a:ext cx="0" cy="0"/>
          <a:chOff x="0" y="0"/>
          <a:chExt cx="0" cy="0"/>
        </a:xfrm>
      </p:grpSpPr>
      <p:sp>
        <p:nvSpPr>
          <p:cNvPr id="2" name="AutoShape 2"/>
          <p:cNvSpPr/>
          <p:nvPr/>
        </p:nvSpPr>
        <p:spPr>
          <a:xfrm flipV="1">
            <a:off x="0" y="6569683"/>
            <a:ext cx="18288000" cy="0"/>
          </a:xfrm>
          <a:prstGeom prst="line">
            <a:avLst/>
          </a:prstGeom>
          <a:ln w="9525" cap="rnd">
            <a:solidFill>
              <a:srgbClr val="F4F4F4"/>
            </a:solidFill>
            <a:prstDash val="solid"/>
            <a:headEnd type="none" w="sm" len="sm"/>
            <a:tailEnd type="none" w="sm" len="sm"/>
          </a:ln>
        </p:spPr>
        <p:txBody>
          <a:bodyPr/>
          <a:lstStyle/>
          <a:p>
            <a:endParaRPr lang="en-PH"/>
          </a:p>
        </p:txBody>
      </p:sp>
      <p:grpSp>
        <p:nvGrpSpPr>
          <p:cNvPr id="3" name="Group 3"/>
          <p:cNvGrpSpPr/>
          <p:nvPr/>
        </p:nvGrpSpPr>
        <p:grpSpPr>
          <a:xfrm>
            <a:off x="12762529" y="8693324"/>
            <a:ext cx="4496771" cy="565767"/>
            <a:chOff x="0" y="0"/>
            <a:chExt cx="1184335" cy="149009"/>
          </a:xfrm>
        </p:grpSpPr>
        <p:sp>
          <p:nvSpPr>
            <p:cNvPr id="4" name="Freeform 4"/>
            <p:cNvSpPr/>
            <p:nvPr/>
          </p:nvSpPr>
          <p:spPr>
            <a:xfrm>
              <a:off x="0" y="0"/>
              <a:ext cx="1184335" cy="149009"/>
            </a:xfrm>
            <a:custGeom>
              <a:avLst/>
              <a:gdLst/>
              <a:ahLst/>
              <a:cxnLst/>
              <a:rect l="l" t="t" r="r" b="b"/>
              <a:pathLst>
                <a:path w="1184335" h="149009">
                  <a:moveTo>
                    <a:pt x="74504" y="0"/>
                  </a:moveTo>
                  <a:lnTo>
                    <a:pt x="1109831" y="0"/>
                  </a:lnTo>
                  <a:cubicBezTo>
                    <a:pt x="1129590" y="0"/>
                    <a:pt x="1148541" y="7850"/>
                    <a:pt x="1162513" y="21822"/>
                  </a:cubicBezTo>
                  <a:cubicBezTo>
                    <a:pt x="1176485" y="35794"/>
                    <a:pt x="1184335" y="54745"/>
                    <a:pt x="1184335" y="74504"/>
                  </a:cubicBezTo>
                  <a:lnTo>
                    <a:pt x="1184335" y="74504"/>
                  </a:lnTo>
                  <a:cubicBezTo>
                    <a:pt x="1184335" y="94264"/>
                    <a:pt x="1176485" y="113215"/>
                    <a:pt x="1162513" y="127187"/>
                  </a:cubicBezTo>
                  <a:cubicBezTo>
                    <a:pt x="1148541" y="141159"/>
                    <a:pt x="1129590" y="149009"/>
                    <a:pt x="1109831" y="149009"/>
                  </a:cubicBezTo>
                  <a:lnTo>
                    <a:pt x="74504" y="149009"/>
                  </a:lnTo>
                  <a:cubicBezTo>
                    <a:pt x="54745" y="149009"/>
                    <a:pt x="35794" y="141159"/>
                    <a:pt x="21822" y="127187"/>
                  </a:cubicBezTo>
                  <a:cubicBezTo>
                    <a:pt x="7850" y="113215"/>
                    <a:pt x="0" y="94264"/>
                    <a:pt x="0" y="74504"/>
                  </a:cubicBezTo>
                  <a:lnTo>
                    <a:pt x="0" y="74504"/>
                  </a:lnTo>
                  <a:cubicBezTo>
                    <a:pt x="0" y="54745"/>
                    <a:pt x="7850" y="35794"/>
                    <a:pt x="21822" y="21822"/>
                  </a:cubicBezTo>
                  <a:cubicBezTo>
                    <a:pt x="35794" y="7850"/>
                    <a:pt x="54745" y="0"/>
                    <a:pt x="74504" y="0"/>
                  </a:cubicBezTo>
                  <a:close/>
                </a:path>
              </a:pathLst>
            </a:custGeom>
            <a:gradFill rotWithShape="1">
              <a:gsLst>
                <a:gs pos="0">
                  <a:srgbClr val="590E1E">
                    <a:alpha val="100000"/>
                  </a:srgbClr>
                </a:gs>
                <a:gs pos="100000">
                  <a:srgbClr val="000000">
                    <a:alpha val="100000"/>
                  </a:srgbClr>
                </a:gs>
              </a:gsLst>
              <a:lin ang="0"/>
            </a:gradFill>
            <a:ln w="9525" cap="rnd">
              <a:solidFill>
                <a:srgbClr val="F4F4F4"/>
              </a:solidFill>
              <a:prstDash val="solid"/>
              <a:round/>
            </a:ln>
          </p:spPr>
          <p:txBody>
            <a:bodyPr/>
            <a:lstStyle/>
            <a:p>
              <a:endParaRPr lang="en-PH"/>
            </a:p>
          </p:txBody>
        </p:sp>
        <p:sp>
          <p:nvSpPr>
            <p:cNvPr id="5" name="TextBox 5"/>
            <p:cNvSpPr txBox="1"/>
            <p:nvPr/>
          </p:nvSpPr>
          <p:spPr>
            <a:xfrm>
              <a:off x="0" y="-38100"/>
              <a:ext cx="1184335" cy="187109"/>
            </a:xfrm>
            <a:prstGeom prst="rect">
              <a:avLst/>
            </a:prstGeom>
          </p:spPr>
          <p:txBody>
            <a:bodyPr lIns="50800" tIns="50800" rIns="50800" bIns="50800" rtlCol="0" anchor="ctr"/>
            <a:lstStyle/>
            <a:p>
              <a:pPr marL="0" lvl="0" indent="0" algn="ctr">
                <a:lnSpc>
                  <a:spcPts val="2017"/>
                </a:lnSpc>
              </a:pPr>
              <a:r>
                <a:rPr lang="en-US" sz="1441" spc="30">
                  <a:solidFill>
                    <a:srgbClr val="F4F4F4"/>
                  </a:solidFill>
                  <a:latin typeface="Poppins Light"/>
                  <a:ea typeface="Poppins Light"/>
                  <a:cs typeface="Poppins Light"/>
                  <a:sym typeface="Poppins Light"/>
                </a:rPr>
                <a:t>GROUP4 | MILESTONE 2</a:t>
              </a:r>
            </a:p>
          </p:txBody>
        </p:sp>
      </p:grpSp>
      <p:sp>
        <p:nvSpPr>
          <p:cNvPr id="7" name="TextBox 7"/>
          <p:cNvSpPr txBox="1"/>
          <p:nvPr/>
        </p:nvSpPr>
        <p:spPr>
          <a:xfrm>
            <a:off x="10292284" y="7480694"/>
            <a:ext cx="6967016" cy="551959"/>
          </a:xfrm>
          <a:prstGeom prst="rect">
            <a:avLst/>
          </a:prstGeom>
        </p:spPr>
        <p:txBody>
          <a:bodyPr lIns="0" tIns="0" rIns="0" bIns="0" rtlCol="0" anchor="t">
            <a:spAutoFit/>
          </a:bodyPr>
          <a:lstStyle/>
          <a:p>
            <a:pPr marL="0" lvl="0" indent="0" algn="r">
              <a:lnSpc>
                <a:spcPts val="4227"/>
              </a:lnSpc>
              <a:spcBef>
                <a:spcPct val="0"/>
              </a:spcBef>
            </a:pPr>
            <a:r>
              <a:rPr lang="en-US" sz="3019" spc="-126">
                <a:solidFill>
                  <a:srgbClr val="F4F4F4"/>
                </a:solidFill>
                <a:latin typeface="Poppins"/>
                <a:ea typeface="Poppins"/>
                <a:cs typeface="Poppins"/>
                <a:sym typeface="Poppins"/>
              </a:rPr>
              <a:t>Philippine Airlines Review Analysis</a:t>
            </a:r>
          </a:p>
        </p:txBody>
      </p:sp>
      <p:sp>
        <p:nvSpPr>
          <p:cNvPr id="11" name="TextBox 10">
            <a:extLst>
              <a:ext uri="{FF2B5EF4-FFF2-40B4-BE49-F238E27FC236}">
                <a16:creationId xmlns:a16="http://schemas.microsoft.com/office/drawing/2014/main" id="{68B2DDD4-4F0E-6892-D9DF-3F75B2DC6C9B}"/>
              </a:ext>
            </a:extLst>
          </p:cNvPr>
          <p:cNvSpPr txBox="1"/>
          <p:nvPr/>
        </p:nvSpPr>
        <p:spPr>
          <a:xfrm>
            <a:off x="1524000" y="2400301"/>
            <a:ext cx="14725650" cy="2400657"/>
          </a:xfrm>
          <a:prstGeom prst="rect">
            <a:avLst/>
          </a:prstGeom>
          <a:noFill/>
        </p:spPr>
        <p:txBody>
          <a:bodyPr wrap="square">
            <a:spAutoFit/>
          </a:bodyPr>
          <a:lstStyle/>
          <a:p>
            <a:pPr algn="ctr"/>
            <a:r>
              <a:rPr lang="en-US" sz="5000" dirty="0">
                <a:solidFill>
                  <a:srgbClr val="F4F4F4"/>
                </a:solidFill>
                <a:latin typeface="Inter Extra-Light"/>
                <a:ea typeface="Inter Extra-Light"/>
                <a:cs typeface="Inter Extra-Light"/>
                <a:sym typeface="Inter Extra-Light"/>
              </a:rPr>
              <a:t>Goal: Identify strengths, weaknesses, and key drivers of passenger satisfaction for PAL Airlines 2019 - 2022</a:t>
            </a:r>
            <a:endParaRPr lang="en-PH" sz="5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gradFill rotWithShape="1">
          <a:gsLst>
            <a:gs pos="0">
              <a:srgbClr val="6B1124">
                <a:alpha val="100000"/>
              </a:srgbClr>
            </a:gs>
            <a:gs pos="50000">
              <a:srgbClr val="000000">
                <a:alpha val="100000"/>
              </a:srgbClr>
            </a:gs>
            <a:gs pos="100000">
              <a:srgbClr val="6B1124">
                <a:alpha val="100000"/>
              </a:srgbClr>
            </a:gs>
          </a:gsLst>
          <a:path path="circle">
            <a:fillToRect r="100000" b="100000"/>
          </a:path>
          <a:tileRect l="-100000" t="-100000"/>
        </a:gradFill>
        <a:effectLst/>
      </p:bgPr>
    </p:bg>
    <p:spTree>
      <p:nvGrpSpPr>
        <p:cNvPr id="1" name=""/>
        <p:cNvGrpSpPr/>
        <p:nvPr/>
      </p:nvGrpSpPr>
      <p:grpSpPr>
        <a:xfrm>
          <a:off x="0" y="0"/>
          <a:ext cx="0" cy="0"/>
          <a:chOff x="0" y="0"/>
          <a:chExt cx="0" cy="0"/>
        </a:xfrm>
      </p:grpSpPr>
      <p:sp>
        <p:nvSpPr>
          <p:cNvPr id="2" name="AutoShape 2"/>
          <p:cNvSpPr/>
          <p:nvPr/>
        </p:nvSpPr>
        <p:spPr>
          <a:xfrm flipV="1">
            <a:off x="0" y="5143500"/>
            <a:ext cx="18288000" cy="0"/>
          </a:xfrm>
          <a:prstGeom prst="line">
            <a:avLst/>
          </a:prstGeom>
          <a:ln w="9525" cap="rnd">
            <a:solidFill>
              <a:srgbClr val="F4F4F4"/>
            </a:solidFill>
            <a:prstDash val="solid"/>
            <a:headEnd type="none" w="sm" len="sm"/>
            <a:tailEnd type="none" w="sm" len="sm"/>
          </a:ln>
        </p:spPr>
        <p:txBody>
          <a:bodyPr/>
          <a:lstStyle/>
          <a:p>
            <a:endParaRPr lang="en-PH"/>
          </a:p>
        </p:txBody>
      </p:sp>
      <p:sp>
        <p:nvSpPr>
          <p:cNvPr id="4" name="TextBox 4"/>
          <p:cNvSpPr txBox="1"/>
          <p:nvPr/>
        </p:nvSpPr>
        <p:spPr>
          <a:xfrm>
            <a:off x="9144000" y="7048500"/>
            <a:ext cx="7013136" cy="476284"/>
          </a:xfrm>
          <a:prstGeom prst="rect">
            <a:avLst/>
          </a:prstGeom>
        </p:spPr>
        <p:txBody>
          <a:bodyPr wrap="square" lIns="0" tIns="0" rIns="0" bIns="0" rtlCol="0" anchor="t">
            <a:spAutoFit/>
          </a:bodyPr>
          <a:lstStyle/>
          <a:p>
            <a:pPr marL="0" lvl="0" indent="0" algn="l">
              <a:lnSpc>
                <a:spcPts val="3947"/>
              </a:lnSpc>
              <a:spcBef>
                <a:spcPct val="0"/>
              </a:spcBef>
            </a:pPr>
            <a:r>
              <a:rPr lang="en-US" sz="2819" spc="-118" dirty="0">
                <a:solidFill>
                  <a:srgbClr val="F4F4F4"/>
                </a:solidFill>
                <a:latin typeface="Poppins"/>
                <a:ea typeface="Poppins"/>
                <a:cs typeface="Poppins"/>
                <a:sym typeface="Poppins"/>
              </a:rPr>
              <a:t>Yes vs. No Recommendation Patterns</a:t>
            </a:r>
          </a:p>
        </p:txBody>
      </p:sp>
      <p:sp>
        <p:nvSpPr>
          <p:cNvPr id="5" name="TextBox 5"/>
          <p:cNvSpPr txBox="1"/>
          <p:nvPr/>
        </p:nvSpPr>
        <p:spPr>
          <a:xfrm>
            <a:off x="6934200" y="7880292"/>
            <a:ext cx="10117367" cy="1692771"/>
          </a:xfrm>
          <a:prstGeom prst="rect">
            <a:avLst/>
          </a:prstGeom>
        </p:spPr>
        <p:txBody>
          <a:bodyPr wrap="square" lIns="0" tIns="0" rIns="0" bIns="0" rtlCol="0" anchor="t">
            <a:spAutoFit/>
          </a:bodyPr>
          <a:lstStyle/>
          <a:p>
            <a:pPr marL="0" lvl="0" indent="0" algn="just">
              <a:lnSpc>
                <a:spcPts val="2238"/>
              </a:lnSpc>
              <a:spcBef>
                <a:spcPct val="0"/>
              </a:spcBef>
            </a:pPr>
            <a:r>
              <a:rPr lang="en-US" sz="2000" dirty="0">
                <a:solidFill>
                  <a:srgbClr val="F4F4F4"/>
                </a:solidFill>
                <a:latin typeface="Inter Extra-Light"/>
                <a:ea typeface="Inter Extra-Light"/>
                <a:cs typeface="Inter Extra-Light"/>
                <a:sym typeface="Inter Extra-Light"/>
              </a:rPr>
              <a:t>Passengers were asked whether they would recommend Philippine Airlines. The majority responded No, indicating overall dissatisfaction. Travelers in Business and First Class were more likely to recommend the airline, while Economy passengers showed the lowest recommendation rates. Recommendation rates also varied over time, with a noticeable decline in recent review periods, suggesting worsening passenger experience trends.</a:t>
            </a:r>
          </a:p>
        </p:txBody>
      </p:sp>
      <p:grpSp>
        <p:nvGrpSpPr>
          <p:cNvPr id="6" name="Group 6"/>
          <p:cNvGrpSpPr/>
          <p:nvPr/>
        </p:nvGrpSpPr>
        <p:grpSpPr>
          <a:xfrm>
            <a:off x="-4262394" y="795421"/>
            <a:ext cx="9573334" cy="8229600"/>
            <a:chOff x="0" y="0"/>
            <a:chExt cx="1483160" cy="1274980"/>
          </a:xfrm>
        </p:grpSpPr>
        <p:sp>
          <p:nvSpPr>
            <p:cNvPr id="7" name="Freeform 7"/>
            <p:cNvSpPr/>
            <p:nvPr/>
          </p:nvSpPr>
          <p:spPr>
            <a:xfrm>
              <a:off x="0" y="0"/>
              <a:ext cx="1483160" cy="1274980"/>
            </a:xfrm>
            <a:custGeom>
              <a:avLst/>
              <a:gdLst/>
              <a:ahLst/>
              <a:cxnLst/>
              <a:rect l="l" t="t" r="r" b="b"/>
              <a:pathLst>
                <a:path w="1483160" h="1274980">
                  <a:moveTo>
                    <a:pt x="49330" y="0"/>
                  </a:moveTo>
                  <a:lnTo>
                    <a:pt x="1433829" y="0"/>
                  </a:lnTo>
                  <a:cubicBezTo>
                    <a:pt x="1446913" y="0"/>
                    <a:pt x="1459460" y="5197"/>
                    <a:pt x="1468711" y="14449"/>
                  </a:cubicBezTo>
                  <a:cubicBezTo>
                    <a:pt x="1477963" y="23700"/>
                    <a:pt x="1483160" y="36247"/>
                    <a:pt x="1483160" y="49330"/>
                  </a:cubicBezTo>
                  <a:lnTo>
                    <a:pt x="1483160" y="1225650"/>
                  </a:lnTo>
                  <a:cubicBezTo>
                    <a:pt x="1483160" y="1238733"/>
                    <a:pt x="1477963" y="1251281"/>
                    <a:pt x="1468711" y="1260532"/>
                  </a:cubicBezTo>
                  <a:cubicBezTo>
                    <a:pt x="1459460" y="1269783"/>
                    <a:pt x="1446913" y="1274980"/>
                    <a:pt x="1433829" y="1274980"/>
                  </a:cubicBezTo>
                  <a:lnTo>
                    <a:pt x="49330" y="1274980"/>
                  </a:lnTo>
                  <a:cubicBezTo>
                    <a:pt x="36247" y="1274980"/>
                    <a:pt x="23700" y="1269783"/>
                    <a:pt x="14449" y="1260532"/>
                  </a:cubicBezTo>
                  <a:cubicBezTo>
                    <a:pt x="5197" y="1251281"/>
                    <a:pt x="0" y="1238733"/>
                    <a:pt x="0" y="1225650"/>
                  </a:cubicBezTo>
                  <a:lnTo>
                    <a:pt x="0" y="49330"/>
                  </a:lnTo>
                  <a:cubicBezTo>
                    <a:pt x="0" y="36247"/>
                    <a:pt x="5197" y="23700"/>
                    <a:pt x="14449" y="14449"/>
                  </a:cubicBezTo>
                  <a:cubicBezTo>
                    <a:pt x="23700" y="5197"/>
                    <a:pt x="36247" y="0"/>
                    <a:pt x="49330" y="0"/>
                  </a:cubicBezTo>
                  <a:close/>
                </a:path>
              </a:pathLst>
            </a:custGeom>
            <a:blipFill>
              <a:blip r:embed="rId2"/>
              <a:stretch>
                <a:fillRect l="-197" r="-197"/>
              </a:stretch>
            </a:blipFill>
            <a:ln w="9525" cap="rnd">
              <a:solidFill>
                <a:srgbClr val="FFFFFF"/>
              </a:solidFill>
              <a:prstDash val="solid"/>
              <a:round/>
            </a:ln>
          </p:spPr>
          <p:txBody>
            <a:bodyPr/>
            <a:lstStyle/>
            <a:p>
              <a:endParaRPr lang="en-PH"/>
            </a:p>
          </p:txBody>
        </p:sp>
      </p:grpSp>
      <p:pic>
        <p:nvPicPr>
          <p:cNvPr id="9" name="Picture 8">
            <a:extLst>
              <a:ext uri="{FF2B5EF4-FFF2-40B4-BE49-F238E27FC236}">
                <a16:creationId xmlns:a16="http://schemas.microsoft.com/office/drawing/2014/main" id="{B294938F-E370-393A-13CC-EAA0D9EA0A5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044156" y="1403291"/>
            <a:ext cx="10762282" cy="5340409"/>
          </a:xfrm>
          <a:prstGeom prst="rect">
            <a:avLst/>
          </a:prstGeom>
        </p:spPr>
      </p:pic>
      <p:sp>
        <p:nvSpPr>
          <p:cNvPr id="3" name="TextBox 3"/>
          <p:cNvSpPr txBox="1"/>
          <p:nvPr/>
        </p:nvSpPr>
        <p:spPr>
          <a:xfrm>
            <a:off x="1066800" y="266700"/>
            <a:ext cx="6967016" cy="1640681"/>
          </a:xfrm>
          <a:prstGeom prst="rect">
            <a:avLst/>
          </a:prstGeom>
        </p:spPr>
        <p:txBody>
          <a:bodyPr lIns="0" tIns="0" rIns="0" bIns="0" rtlCol="0" anchor="t">
            <a:spAutoFit/>
          </a:bodyPr>
          <a:lstStyle/>
          <a:p>
            <a:pPr marL="0" lvl="0" indent="0" algn="l">
              <a:lnSpc>
                <a:spcPts val="6056"/>
              </a:lnSpc>
            </a:pPr>
            <a:r>
              <a:rPr lang="en-US" sz="6375" b="1" spc="-267" dirty="0">
                <a:solidFill>
                  <a:srgbClr val="F4F4F4"/>
                </a:solidFill>
                <a:latin typeface="Poppins Medium"/>
                <a:ea typeface="Poppins Medium"/>
                <a:cs typeface="Poppins Medium"/>
                <a:sym typeface="Poppins Medium"/>
              </a:rPr>
              <a:t>Recommendation</a:t>
            </a:r>
          </a:p>
          <a:p>
            <a:pPr marL="0" lvl="0" indent="0" algn="l">
              <a:lnSpc>
                <a:spcPts val="6056"/>
              </a:lnSpc>
            </a:pPr>
            <a:r>
              <a:rPr lang="en-US" sz="6375" b="1" spc="-267" dirty="0">
                <a:solidFill>
                  <a:srgbClr val="F4F4F4"/>
                </a:solidFill>
                <a:latin typeface="Poppins Medium"/>
                <a:ea typeface="Poppins Medium"/>
                <a:cs typeface="Poppins Medium"/>
                <a:sym typeface="Poppins Medium"/>
              </a:rPr>
              <a:t>Breakdown</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gradFill rotWithShape="1">
          <a:gsLst>
            <a:gs pos="0">
              <a:srgbClr val="6B1124">
                <a:alpha val="100000"/>
              </a:srgbClr>
            </a:gs>
            <a:gs pos="50000">
              <a:srgbClr val="000000">
                <a:alpha val="100000"/>
              </a:srgbClr>
            </a:gs>
            <a:gs pos="100000">
              <a:srgbClr val="6B1124">
                <a:alpha val="100000"/>
              </a:srgbClr>
            </a:gs>
          </a:gsLst>
          <a:path path="circle">
            <a:fillToRect r="100000" b="100000"/>
          </a:path>
          <a:tileRect l="-100000" t="-100000"/>
        </a:gradFill>
        <a:effectLst/>
      </p:bgPr>
    </p:bg>
    <p:spTree>
      <p:nvGrpSpPr>
        <p:cNvPr id="1" name=""/>
        <p:cNvGrpSpPr/>
        <p:nvPr/>
      </p:nvGrpSpPr>
      <p:grpSpPr>
        <a:xfrm>
          <a:off x="0" y="0"/>
          <a:ext cx="0" cy="0"/>
          <a:chOff x="0" y="0"/>
          <a:chExt cx="0" cy="0"/>
        </a:xfrm>
      </p:grpSpPr>
      <p:sp>
        <p:nvSpPr>
          <p:cNvPr id="2" name="AutoShape 2"/>
          <p:cNvSpPr/>
          <p:nvPr/>
        </p:nvSpPr>
        <p:spPr>
          <a:xfrm flipV="1">
            <a:off x="0" y="5143500"/>
            <a:ext cx="18288000" cy="0"/>
          </a:xfrm>
          <a:prstGeom prst="line">
            <a:avLst/>
          </a:prstGeom>
          <a:ln w="9525" cap="rnd">
            <a:solidFill>
              <a:srgbClr val="F4F4F4"/>
            </a:solidFill>
            <a:prstDash val="solid"/>
            <a:headEnd type="none" w="sm" len="sm"/>
            <a:tailEnd type="none" w="sm" len="sm"/>
          </a:ln>
        </p:spPr>
        <p:txBody>
          <a:bodyPr/>
          <a:lstStyle/>
          <a:p>
            <a:endParaRPr lang="en-PH"/>
          </a:p>
        </p:txBody>
      </p:sp>
      <p:sp>
        <p:nvSpPr>
          <p:cNvPr id="4" name="TextBox 4"/>
          <p:cNvSpPr txBox="1"/>
          <p:nvPr/>
        </p:nvSpPr>
        <p:spPr>
          <a:xfrm>
            <a:off x="838200" y="876300"/>
            <a:ext cx="8839378" cy="1038746"/>
          </a:xfrm>
          <a:prstGeom prst="rect">
            <a:avLst/>
          </a:prstGeom>
        </p:spPr>
        <p:txBody>
          <a:bodyPr lIns="0" tIns="0" rIns="0" bIns="0" rtlCol="0" anchor="t">
            <a:spAutoFit/>
          </a:bodyPr>
          <a:lstStyle/>
          <a:p>
            <a:pPr marL="0" lvl="0" indent="0" algn="l">
              <a:lnSpc>
                <a:spcPts val="8122"/>
              </a:lnSpc>
            </a:pPr>
            <a:r>
              <a:rPr lang="en-US" sz="7000" spc="-359" dirty="0">
                <a:solidFill>
                  <a:srgbClr val="F4F4F4"/>
                </a:solidFill>
                <a:latin typeface="Poppins Medium"/>
                <a:ea typeface="Poppins Medium"/>
                <a:cs typeface="Poppins Medium"/>
                <a:sym typeface="Poppins Medium"/>
              </a:rPr>
              <a:t>Seat Category</a:t>
            </a:r>
          </a:p>
        </p:txBody>
      </p:sp>
      <p:pic>
        <p:nvPicPr>
          <p:cNvPr id="8" name="Picture 7">
            <a:extLst>
              <a:ext uri="{FF2B5EF4-FFF2-40B4-BE49-F238E27FC236}">
                <a16:creationId xmlns:a16="http://schemas.microsoft.com/office/drawing/2014/main" id="{955B389C-5E9A-4932-B8FB-15B2343FAAE4}"/>
              </a:ext>
            </a:extLst>
          </p:cNvPr>
          <p:cNvPicPr>
            <a:picLocks noChangeAspect="1"/>
          </p:cNvPicPr>
          <p:nvPr/>
        </p:nvPicPr>
        <p:blipFill>
          <a:blip r:embed="rId2"/>
          <a:stretch>
            <a:fillRect/>
          </a:stretch>
        </p:blipFill>
        <p:spPr>
          <a:xfrm>
            <a:off x="3733800" y="2933700"/>
            <a:ext cx="10563225" cy="5191125"/>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gradFill rotWithShape="1">
          <a:gsLst>
            <a:gs pos="0">
              <a:srgbClr val="6B1124">
                <a:alpha val="100000"/>
              </a:srgbClr>
            </a:gs>
            <a:gs pos="50000">
              <a:srgbClr val="000000">
                <a:alpha val="100000"/>
              </a:srgbClr>
            </a:gs>
            <a:gs pos="100000">
              <a:srgbClr val="6B1124">
                <a:alpha val="100000"/>
              </a:srgbClr>
            </a:gs>
          </a:gsLst>
          <a:path path="circle">
            <a:fillToRect r="100000" b="100000"/>
          </a:path>
          <a:tileRect l="-100000" t="-100000"/>
        </a:gradFill>
        <a:effectLst/>
      </p:bgPr>
    </p:bg>
    <p:spTree>
      <p:nvGrpSpPr>
        <p:cNvPr id="1" name=""/>
        <p:cNvGrpSpPr/>
        <p:nvPr/>
      </p:nvGrpSpPr>
      <p:grpSpPr>
        <a:xfrm>
          <a:off x="0" y="0"/>
          <a:ext cx="0" cy="0"/>
          <a:chOff x="0" y="0"/>
          <a:chExt cx="0" cy="0"/>
        </a:xfrm>
      </p:grpSpPr>
      <p:sp>
        <p:nvSpPr>
          <p:cNvPr id="2" name="AutoShape 2"/>
          <p:cNvSpPr/>
          <p:nvPr/>
        </p:nvSpPr>
        <p:spPr>
          <a:xfrm flipV="1">
            <a:off x="0" y="3624397"/>
            <a:ext cx="18288000" cy="0"/>
          </a:xfrm>
          <a:prstGeom prst="line">
            <a:avLst/>
          </a:prstGeom>
          <a:ln w="9525" cap="rnd">
            <a:solidFill>
              <a:srgbClr val="F4F4F4"/>
            </a:solidFill>
            <a:prstDash val="solid"/>
            <a:headEnd type="none" w="sm" len="sm"/>
            <a:tailEnd type="none" w="sm" len="sm"/>
          </a:ln>
        </p:spPr>
        <p:txBody>
          <a:bodyPr/>
          <a:lstStyle/>
          <a:p>
            <a:endParaRPr lang="en-PH"/>
          </a:p>
        </p:txBody>
      </p:sp>
      <p:sp>
        <p:nvSpPr>
          <p:cNvPr id="4" name="TextBox 4"/>
          <p:cNvSpPr txBox="1"/>
          <p:nvPr/>
        </p:nvSpPr>
        <p:spPr>
          <a:xfrm>
            <a:off x="6400800" y="7945453"/>
            <a:ext cx="10624616" cy="476284"/>
          </a:xfrm>
          <a:prstGeom prst="rect">
            <a:avLst/>
          </a:prstGeom>
        </p:spPr>
        <p:txBody>
          <a:bodyPr wrap="square" lIns="0" tIns="0" rIns="0" bIns="0" rtlCol="0" anchor="t">
            <a:spAutoFit/>
          </a:bodyPr>
          <a:lstStyle/>
          <a:p>
            <a:pPr marL="0" lvl="0" indent="0" algn="l">
              <a:lnSpc>
                <a:spcPts val="3947"/>
              </a:lnSpc>
              <a:spcBef>
                <a:spcPct val="0"/>
              </a:spcBef>
            </a:pPr>
            <a:r>
              <a:rPr lang="en-US" sz="2819" spc="-118" dirty="0">
                <a:solidFill>
                  <a:srgbClr val="F4F4F4"/>
                </a:solidFill>
                <a:latin typeface="Poppins"/>
                <a:ea typeface="Poppins"/>
                <a:cs typeface="Poppins"/>
                <a:sym typeface="Poppins"/>
              </a:rPr>
              <a:t>Strongest Rating Relationships</a:t>
            </a:r>
          </a:p>
        </p:txBody>
      </p:sp>
      <p:sp>
        <p:nvSpPr>
          <p:cNvPr id="5" name="TextBox 5"/>
          <p:cNvSpPr txBox="1"/>
          <p:nvPr/>
        </p:nvSpPr>
        <p:spPr>
          <a:xfrm>
            <a:off x="2438400" y="8736812"/>
            <a:ext cx="13139216" cy="731482"/>
          </a:xfrm>
          <a:prstGeom prst="rect">
            <a:avLst/>
          </a:prstGeom>
        </p:spPr>
        <p:txBody>
          <a:bodyPr wrap="square" lIns="0" tIns="0" rIns="0" bIns="0" rtlCol="0" anchor="t">
            <a:spAutoFit/>
          </a:bodyPr>
          <a:lstStyle/>
          <a:p>
            <a:pPr marL="0" lvl="0" indent="0" algn="just">
              <a:lnSpc>
                <a:spcPts val="1945"/>
              </a:lnSpc>
              <a:spcBef>
                <a:spcPct val="0"/>
              </a:spcBef>
            </a:pPr>
            <a:r>
              <a:rPr lang="en-US" sz="2000" dirty="0">
                <a:solidFill>
                  <a:srgbClr val="F4F4F4"/>
                </a:solidFill>
                <a:latin typeface="Inter Extra-Light"/>
                <a:ea typeface="Inter Extra-Light"/>
                <a:cs typeface="Inter Extra-Light"/>
                <a:sym typeface="Inter Extra-Light"/>
              </a:rPr>
              <a:t>Key findings: Seat Comfort vs Cabin Staff Service (0.86) and Cabin Staff Service vs Food &amp; Beverages (0.80) show the strongest links. Value for Money vs Recommended (0.77) and Ground Service vs Recommended (0.71) are top drivers of satisfaction. Wi-Fi &amp; Connectivity shows the weakest correlations across all categories.</a:t>
            </a:r>
          </a:p>
        </p:txBody>
      </p:sp>
      <p:pic>
        <p:nvPicPr>
          <p:cNvPr id="7" name="Picture 6">
            <a:extLst>
              <a:ext uri="{FF2B5EF4-FFF2-40B4-BE49-F238E27FC236}">
                <a16:creationId xmlns:a16="http://schemas.microsoft.com/office/drawing/2014/main" id="{D410EDBA-3F3B-1071-A075-72FCB2327DBF}"/>
              </a:ext>
            </a:extLst>
          </p:cNvPr>
          <p:cNvPicPr>
            <a:picLocks noChangeAspect="1"/>
          </p:cNvPicPr>
          <p:nvPr/>
        </p:nvPicPr>
        <p:blipFill>
          <a:blip r:embed="rId3"/>
          <a:stretch>
            <a:fillRect/>
          </a:stretch>
        </p:blipFill>
        <p:spPr>
          <a:xfrm>
            <a:off x="3221702" y="1184447"/>
            <a:ext cx="11844596" cy="6411295"/>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gradFill rotWithShape="1">
          <a:gsLst>
            <a:gs pos="0">
              <a:srgbClr val="6B1124">
                <a:alpha val="100000"/>
              </a:srgbClr>
            </a:gs>
            <a:gs pos="50000">
              <a:srgbClr val="000000">
                <a:alpha val="100000"/>
              </a:srgbClr>
            </a:gs>
            <a:gs pos="100000">
              <a:srgbClr val="6B1124">
                <a:alpha val="100000"/>
              </a:srgbClr>
            </a:gs>
          </a:gsLst>
          <a:path path="circle">
            <a:fillToRect r="100000" b="100000"/>
          </a:path>
          <a:tileRect l="-100000" t="-100000"/>
        </a:gradFill>
        <a:effectLst/>
      </p:bgPr>
    </p:bg>
    <p:spTree>
      <p:nvGrpSpPr>
        <p:cNvPr id="1" name="">
          <a:extLst>
            <a:ext uri="{FF2B5EF4-FFF2-40B4-BE49-F238E27FC236}">
              <a16:creationId xmlns:a16="http://schemas.microsoft.com/office/drawing/2014/main" id="{201FB33A-2F0C-6F76-1270-E1D264F32E13}"/>
            </a:ext>
          </a:extLst>
        </p:cNvPr>
        <p:cNvGrpSpPr/>
        <p:nvPr/>
      </p:nvGrpSpPr>
      <p:grpSpPr>
        <a:xfrm>
          <a:off x="0" y="0"/>
          <a:ext cx="0" cy="0"/>
          <a:chOff x="0" y="0"/>
          <a:chExt cx="0" cy="0"/>
        </a:xfrm>
      </p:grpSpPr>
      <p:sp>
        <p:nvSpPr>
          <p:cNvPr id="2" name="AutoShape 2">
            <a:extLst>
              <a:ext uri="{FF2B5EF4-FFF2-40B4-BE49-F238E27FC236}">
                <a16:creationId xmlns:a16="http://schemas.microsoft.com/office/drawing/2014/main" id="{94950974-0BE3-B658-5EE1-987E50EBF499}"/>
              </a:ext>
            </a:extLst>
          </p:cNvPr>
          <p:cNvSpPr/>
          <p:nvPr/>
        </p:nvSpPr>
        <p:spPr>
          <a:xfrm flipV="1">
            <a:off x="0" y="3624397"/>
            <a:ext cx="18288000" cy="0"/>
          </a:xfrm>
          <a:prstGeom prst="line">
            <a:avLst/>
          </a:prstGeom>
          <a:ln w="9525" cap="rnd">
            <a:solidFill>
              <a:srgbClr val="F4F4F4"/>
            </a:solidFill>
            <a:prstDash val="solid"/>
            <a:headEnd type="none" w="sm" len="sm"/>
            <a:tailEnd type="none" w="sm" len="sm"/>
          </a:ln>
        </p:spPr>
        <p:txBody>
          <a:bodyPr/>
          <a:lstStyle/>
          <a:p>
            <a:endParaRPr lang="en-PH"/>
          </a:p>
        </p:txBody>
      </p:sp>
      <p:pic>
        <p:nvPicPr>
          <p:cNvPr id="10" name="Picture 9">
            <a:extLst>
              <a:ext uri="{FF2B5EF4-FFF2-40B4-BE49-F238E27FC236}">
                <a16:creationId xmlns:a16="http://schemas.microsoft.com/office/drawing/2014/main" id="{11C18A29-C091-F67B-F5F3-430FCB2F9915}"/>
              </a:ext>
            </a:extLst>
          </p:cNvPr>
          <p:cNvPicPr>
            <a:picLocks noChangeAspect="1"/>
          </p:cNvPicPr>
          <p:nvPr/>
        </p:nvPicPr>
        <p:blipFill>
          <a:blip r:embed="rId3"/>
          <a:stretch>
            <a:fillRect/>
          </a:stretch>
        </p:blipFill>
        <p:spPr>
          <a:xfrm>
            <a:off x="2895600" y="876300"/>
            <a:ext cx="11480034" cy="6254127"/>
          </a:xfrm>
          <a:prstGeom prst="rect">
            <a:avLst/>
          </a:prstGeom>
        </p:spPr>
      </p:pic>
      <p:sp>
        <p:nvSpPr>
          <p:cNvPr id="8" name="TextBox 7">
            <a:extLst>
              <a:ext uri="{FF2B5EF4-FFF2-40B4-BE49-F238E27FC236}">
                <a16:creationId xmlns:a16="http://schemas.microsoft.com/office/drawing/2014/main" id="{B57EAE5E-9881-E49B-578C-B14A46A1A94E}"/>
              </a:ext>
            </a:extLst>
          </p:cNvPr>
          <p:cNvSpPr txBox="1"/>
          <p:nvPr/>
        </p:nvSpPr>
        <p:spPr>
          <a:xfrm>
            <a:off x="1905000" y="7353300"/>
            <a:ext cx="13944600" cy="2346668"/>
          </a:xfrm>
          <a:prstGeom prst="rect">
            <a:avLst/>
          </a:prstGeom>
          <a:noFill/>
        </p:spPr>
        <p:txBody>
          <a:bodyPr wrap="square">
            <a:spAutoFit/>
          </a:bodyPr>
          <a:lstStyle/>
          <a:p>
            <a:pPr algn="just">
              <a:lnSpc>
                <a:spcPct val="150000"/>
              </a:lnSpc>
              <a:spcBef>
                <a:spcPct val="0"/>
              </a:spcBef>
            </a:pPr>
            <a:r>
              <a:rPr lang="en-US" sz="2000" dirty="0">
                <a:solidFill>
                  <a:srgbClr val="F4F4F4"/>
                </a:solidFill>
                <a:latin typeface="Inter Extra-Light"/>
                <a:ea typeface="Inter Extra-Light"/>
                <a:cs typeface="Inter Extra-Light"/>
                <a:sym typeface="Inter Extra-Light"/>
              </a:rPr>
              <a:t>The heatmap shows that airline service ratings varied across categories and time. Cabin staff service and seat comfort consistently scored higher, suggesting passengers valued these aspects most. In contrast, food, beverages, and inflight entertainment often lagged, reflecting weaker satisfaction in non‑essential services. Notably, ratings dipped around mid‑2020, likely due to pandemic disruptions, but recovered by late 2021–2022, with improvements in ground service and value for money indicating renewed customer confidence.</a:t>
            </a:r>
          </a:p>
        </p:txBody>
      </p:sp>
    </p:spTree>
    <p:extLst>
      <p:ext uri="{BB962C8B-B14F-4D97-AF65-F5344CB8AC3E}">
        <p14:creationId xmlns:p14="http://schemas.microsoft.com/office/powerpoint/2010/main" val="370823957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gradFill rotWithShape="1">
          <a:gsLst>
            <a:gs pos="0">
              <a:srgbClr val="6B1124">
                <a:alpha val="100000"/>
              </a:srgbClr>
            </a:gs>
            <a:gs pos="50000">
              <a:srgbClr val="000000">
                <a:alpha val="100000"/>
              </a:srgbClr>
            </a:gs>
            <a:gs pos="100000">
              <a:srgbClr val="6B1124">
                <a:alpha val="100000"/>
              </a:srgbClr>
            </a:gs>
          </a:gsLst>
          <a:path path="circle">
            <a:fillToRect r="100000" b="100000"/>
          </a:path>
          <a:tileRect l="-100000" t="-100000"/>
        </a:gradFill>
        <a:effectLst/>
      </p:bgPr>
    </p:bg>
    <p:spTree>
      <p:nvGrpSpPr>
        <p:cNvPr id="1" name=""/>
        <p:cNvGrpSpPr/>
        <p:nvPr/>
      </p:nvGrpSpPr>
      <p:grpSpPr>
        <a:xfrm>
          <a:off x="0" y="0"/>
          <a:ext cx="0" cy="0"/>
          <a:chOff x="0" y="0"/>
          <a:chExt cx="0" cy="0"/>
        </a:xfrm>
      </p:grpSpPr>
      <p:sp>
        <p:nvSpPr>
          <p:cNvPr id="2" name="AutoShape 2"/>
          <p:cNvSpPr/>
          <p:nvPr/>
        </p:nvSpPr>
        <p:spPr>
          <a:xfrm flipV="1">
            <a:off x="0" y="5143500"/>
            <a:ext cx="18288000" cy="0"/>
          </a:xfrm>
          <a:prstGeom prst="line">
            <a:avLst/>
          </a:prstGeom>
          <a:ln w="9525" cap="rnd">
            <a:solidFill>
              <a:srgbClr val="F4F4F4"/>
            </a:solidFill>
            <a:prstDash val="solid"/>
            <a:headEnd type="none" w="sm" len="sm"/>
            <a:tailEnd type="none" w="sm" len="sm"/>
          </a:ln>
        </p:spPr>
        <p:txBody>
          <a:bodyPr/>
          <a:lstStyle/>
          <a:p>
            <a:endParaRPr lang="en-PH"/>
          </a:p>
        </p:txBody>
      </p:sp>
      <p:grpSp>
        <p:nvGrpSpPr>
          <p:cNvPr id="3" name="Group 3"/>
          <p:cNvGrpSpPr/>
          <p:nvPr/>
        </p:nvGrpSpPr>
        <p:grpSpPr>
          <a:xfrm>
            <a:off x="1028700" y="1638300"/>
            <a:ext cx="19418997" cy="7755257"/>
            <a:chOff x="0" y="-70047"/>
            <a:chExt cx="25891997" cy="10340342"/>
          </a:xfrm>
        </p:grpSpPr>
        <p:sp>
          <p:nvSpPr>
            <p:cNvPr id="4" name="TextBox 4"/>
            <p:cNvSpPr txBox="1"/>
            <p:nvPr/>
          </p:nvSpPr>
          <p:spPr>
            <a:xfrm>
              <a:off x="14106159" y="-70047"/>
              <a:ext cx="11785838" cy="2990596"/>
            </a:xfrm>
            <a:prstGeom prst="rect">
              <a:avLst/>
            </a:prstGeom>
          </p:spPr>
          <p:txBody>
            <a:bodyPr lIns="0" tIns="0" rIns="0" bIns="0" rtlCol="0" anchor="t">
              <a:spAutoFit/>
            </a:bodyPr>
            <a:lstStyle/>
            <a:p>
              <a:pPr marL="0" lvl="0" indent="0" algn="l">
                <a:lnSpc>
                  <a:spcPts val="8116"/>
                </a:lnSpc>
              </a:pPr>
              <a:r>
                <a:rPr lang="en-US" sz="8544" b="1" spc="-358" dirty="0">
                  <a:solidFill>
                    <a:srgbClr val="F4F4F4"/>
                  </a:solidFill>
                  <a:latin typeface="Poppins Medium"/>
                  <a:ea typeface="Poppins Medium"/>
                  <a:cs typeface="Poppins Medium"/>
                  <a:sym typeface="Poppins Medium"/>
                </a:rPr>
                <a:t>Seat Type Comparison</a:t>
              </a:r>
            </a:p>
          </p:txBody>
        </p:sp>
        <p:sp>
          <p:nvSpPr>
            <p:cNvPr id="5" name="TextBox 5"/>
            <p:cNvSpPr txBox="1"/>
            <p:nvPr/>
          </p:nvSpPr>
          <p:spPr>
            <a:xfrm>
              <a:off x="0" y="6007667"/>
              <a:ext cx="9289355" cy="1311040"/>
            </a:xfrm>
            <a:prstGeom prst="rect">
              <a:avLst/>
            </a:prstGeom>
          </p:spPr>
          <p:txBody>
            <a:bodyPr lIns="0" tIns="0" rIns="0" bIns="0" rtlCol="0" anchor="t">
              <a:spAutoFit/>
            </a:bodyPr>
            <a:lstStyle/>
            <a:p>
              <a:pPr marL="0" lvl="0" indent="0" algn="l">
                <a:lnSpc>
                  <a:spcPts val="3947"/>
                </a:lnSpc>
                <a:spcBef>
                  <a:spcPct val="0"/>
                </a:spcBef>
              </a:pPr>
              <a:r>
                <a:rPr lang="en-US" sz="2819" spc="-118">
                  <a:solidFill>
                    <a:srgbClr val="F4F4F4"/>
                  </a:solidFill>
                  <a:latin typeface="Poppins"/>
                  <a:ea typeface="Poppins"/>
                  <a:cs typeface="Poppins"/>
                  <a:sym typeface="Poppins"/>
                </a:rPr>
                <a:t>Economy, Business, Premium Economy &amp; First Class</a:t>
              </a:r>
            </a:p>
          </p:txBody>
        </p:sp>
        <p:sp>
          <p:nvSpPr>
            <p:cNvPr id="6" name="TextBox 6"/>
            <p:cNvSpPr txBox="1"/>
            <p:nvPr/>
          </p:nvSpPr>
          <p:spPr>
            <a:xfrm>
              <a:off x="0" y="8041907"/>
              <a:ext cx="9289355" cy="2228388"/>
            </a:xfrm>
            <a:prstGeom prst="rect">
              <a:avLst/>
            </a:prstGeom>
          </p:spPr>
          <p:txBody>
            <a:bodyPr lIns="0" tIns="0" rIns="0" bIns="0" rtlCol="0" anchor="t">
              <a:spAutoFit/>
            </a:bodyPr>
            <a:lstStyle/>
            <a:p>
              <a:pPr marL="0" lvl="0" indent="0" algn="just">
                <a:lnSpc>
                  <a:spcPts val="2238"/>
                </a:lnSpc>
                <a:spcBef>
                  <a:spcPct val="0"/>
                </a:spcBef>
              </a:pPr>
              <a:r>
                <a:rPr lang="en-US" sz="1598" dirty="0">
                  <a:solidFill>
                    <a:srgbClr val="F4F4F4"/>
                  </a:solidFill>
                  <a:latin typeface="Inter Extra-Light"/>
                  <a:ea typeface="Inter Extra-Light"/>
                  <a:cs typeface="Inter Extra-Light"/>
                  <a:sym typeface="Inter Extra-Light"/>
                </a:rPr>
                <a:t>Premium Economy reports higher satisfaction across almost all service dimensions except for inflight entertainment, consistently outperforming other cabin classes. Economy Class shows the greatest variability in ratings, reflecting inconsistent passenger experiences. Both Premium Economy and First Class have smaller sample sizes, which limits the generalizability of their results.</a:t>
              </a:r>
            </a:p>
          </p:txBody>
        </p:sp>
      </p:grpSp>
      <p:pic>
        <p:nvPicPr>
          <p:cNvPr id="10" name="Picture 9">
            <a:extLst>
              <a:ext uri="{FF2B5EF4-FFF2-40B4-BE49-F238E27FC236}">
                <a16:creationId xmlns:a16="http://schemas.microsoft.com/office/drawing/2014/main" id="{D5F2566E-7BD1-E180-91CC-AB42F1165658}"/>
              </a:ext>
            </a:extLst>
          </p:cNvPr>
          <p:cNvPicPr>
            <a:picLocks noChangeAspect="1"/>
          </p:cNvPicPr>
          <p:nvPr/>
        </p:nvPicPr>
        <p:blipFill>
          <a:blip r:embed="rId2"/>
          <a:stretch>
            <a:fillRect/>
          </a:stretch>
        </p:blipFill>
        <p:spPr>
          <a:xfrm>
            <a:off x="685800" y="647700"/>
            <a:ext cx="10363200" cy="5142378"/>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gradFill rotWithShape="1">
          <a:gsLst>
            <a:gs pos="0">
              <a:srgbClr val="6B1124">
                <a:alpha val="100000"/>
              </a:srgbClr>
            </a:gs>
            <a:gs pos="50000">
              <a:srgbClr val="000000">
                <a:alpha val="100000"/>
              </a:srgbClr>
            </a:gs>
            <a:gs pos="100000">
              <a:srgbClr val="6B1124">
                <a:alpha val="100000"/>
              </a:srgbClr>
            </a:gs>
          </a:gsLst>
          <a:path path="circle">
            <a:fillToRect r="100000" b="100000"/>
          </a:path>
          <a:tileRect l="-100000" t="-100000"/>
        </a:gradFill>
        <a:effectLst/>
      </p:bgPr>
    </p:bg>
    <p:spTree>
      <p:nvGrpSpPr>
        <p:cNvPr id="1" name=""/>
        <p:cNvGrpSpPr/>
        <p:nvPr/>
      </p:nvGrpSpPr>
      <p:grpSpPr>
        <a:xfrm>
          <a:off x="0" y="0"/>
          <a:ext cx="0" cy="0"/>
          <a:chOff x="0" y="0"/>
          <a:chExt cx="0" cy="0"/>
        </a:xfrm>
      </p:grpSpPr>
      <p:sp>
        <p:nvSpPr>
          <p:cNvPr id="2" name="AutoShape 2"/>
          <p:cNvSpPr/>
          <p:nvPr/>
        </p:nvSpPr>
        <p:spPr>
          <a:xfrm flipV="1">
            <a:off x="0" y="5143500"/>
            <a:ext cx="18288000" cy="0"/>
          </a:xfrm>
          <a:prstGeom prst="line">
            <a:avLst/>
          </a:prstGeom>
          <a:ln w="9525" cap="rnd">
            <a:solidFill>
              <a:srgbClr val="F4F4F4"/>
            </a:solidFill>
            <a:prstDash val="solid"/>
            <a:headEnd type="none" w="sm" len="sm"/>
            <a:tailEnd type="none" w="sm" len="sm"/>
          </a:ln>
        </p:spPr>
        <p:txBody>
          <a:bodyPr/>
          <a:lstStyle/>
          <a:p>
            <a:endParaRPr lang="en-PH"/>
          </a:p>
        </p:txBody>
      </p:sp>
      <p:grpSp>
        <p:nvGrpSpPr>
          <p:cNvPr id="3" name="Group 3"/>
          <p:cNvGrpSpPr/>
          <p:nvPr/>
        </p:nvGrpSpPr>
        <p:grpSpPr>
          <a:xfrm>
            <a:off x="685800" y="1714500"/>
            <a:ext cx="8839378" cy="6648234"/>
            <a:chOff x="0" y="0"/>
            <a:chExt cx="11785838" cy="8864312"/>
          </a:xfrm>
        </p:grpSpPr>
        <p:sp>
          <p:nvSpPr>
            <p:cNvPr id="4" name="TextBox 4"/>
            <p:cNvSpPr txBox="1"/>
            <p:nvPr/>
          </p:nvSpPr>
          <p:spPr>
            <a:xfrm>
              <a:off x="0" y="114300"/>
              <a:ext cx="11785838" cy="1619250"/>
            </a:xfrm>
            <a:prstGeom prst="rect">
              <a:avLst/>
            </a:prstGeom>
          </p:spPr>
          <p:txBody>
            <a:bodyPr lIns="0" tIns="0" rIns="0" bIns="0" rtlCol="0" anchor="t">
              <a:spAutoFit/>
            </a:bodyPr>
            <a:lstStyle/>
            <a:p>
              <a:pPr marL="0" lvl="0" indent="0" algn="l">
                <a:lnSpc>
                  <a:spcPts val="8122"/>
                </a:lnSpc>
              </a:pPr>
              <a:r>
                <a:rPr lang="en-US" sz="8550" b="1" spc="-359">
                  <a:solidFill>
                    <a:srgbClr val="F4F4F4"/>
                  </a:solidFill>
                  <a:latin typeface="Poppins Medium"/>
                  <a:ea typeface="Poppins Medium"/>
                  <a:cs typeface="Poppins Medium"/>
                  <a:sym typeface="Poppins Medium"/>
                </a:rPr>
                <a:t>Route Analysis</a:t>
              </a:r>
            </a:p>
          </p:txBody>
        </p:sp>
        <p:sp>
          <p:nvSpPr>
            <p:cNvPr id="5" name="TextBox 5"/>
            <p:cNvSpPr txBox="1"/>
            <p:nvPr/>
          </p:nvSpPr>
          <p:spPr>
            <a:xfrm>
              <a:off x="0" y="4636321"/>
              <a:ext cx="9289355" cy="1311040"/>
            </a:xfrm>
            <a:prstGeom prst="rect">
              <a:avLst/>
            </a:prstGeom>
          </p:spPr>
          <p:txBody>
            <a:bodyPr lIns="0" tIns="0" rIns="0" bIns="0" rtlCol="0" anchor="t">
              <a:spAutoFit/>
            </a:bodyPr>
            <a:lstStyle/>
            <a:p>
              <a:pPr marL="0" lvl="0" indent="0" algn="l">
                <a:lnSpc>
                  <a:spcPts val="3947"/>
                </a:lnSpc>
                <a:spcBef>
                  <a:spcPct val="0"/>
                </a:spcBef>
              </a:pPr>
              <a:r>
                <a:rPr lang="en-US" sz="2819" spc="-118">
                  <a:solidFill>
                    <a:srgbClr val="F4F4F4"/>
                  </a:solidFill>
                  <a:latin typeface="Poppins"/>
                  <a:ea typeface="Poppins"/>
                  <a:cs typeface="Poppins"/>
                  <a:sym typeface="Poppins"/>
                </a:rPr>
                <a:t>Seat Comfort by Route &amp; Top Aircraft Performance</a:t>
              </a:r>
            </a:p>
          </p:txBody>
        </p:sp>
        <p:sp>
          <p:nvSpPr>
            <p:cNvPr id="6" name="TextBox 6"/>
            <p:cNvSpPr txBox="1"/>
            <p:nvPr/>
          </p:nvSpPr>
          <p:spPr>
            <a:xfrm>
              <a:off x="0" y="6670561"/>
              <a:ext cx="9289355" cy="2193752"/>
            </a:xfrm>
            <a:prstGeom prst="rect">
              <a:avLst/>
            </a:prstGeom>
          </p:spPr>
          <p:txBody>
            <a:bodyPr lIns="0" tIns="0" rIns="0" bIns="0" rtlCol="0" anchor="t">
              <a:spAutoFit/>
            </a:bodyPr>
            <a:lstStyle/>
            <a:p>
              <a:pPr marL="0" lvl="0" indent="0" algn="just">
                <a:lnSpc>
                  <a:spcPts val="2238"/>
                </a:lnSpc>
                <a:spcBef>
                  <a:spcPct val="0"/>
                </a:spcBef>
              </a:pPr>
              <a:r>
                <a:rPr lang="en-US" sz="1598" dirty="0">
                  <a:solidFill>
                    <a:srgbClr val="F4F4F4"/>
                  </a:solidFill>
                  <a:latin typeface="Inter Extra-Light"/>
                  <a:ea typeface="Inter Extra-Light"/>
                  <a:cs typeface="Inter Extra-Light"/>
                  <a:sym typeface="Inter Extra-Light"/>
                </a:rPr>
                <a:t>Route-level analysis reveals significant variation in seat comfort scores across destinations. Long-haul international routes tend to show lower comfort ratings, while select regional routes perform better. Aircraft type plays a key role: wide-body aircraft consistently receive higher ratings. Top-performing aircraft models show stronger overall satisfaction, reinforcing the link between equipment and passenger experience.</a:t>
              </a:r>
            </a:p>
          </p:txBody>
        </p:sp>
      </p:grpSp>
      <p:pic>
        <p:nvPicPr>
          <p:cNvPr id="14" name="Picture 13">
            <a:extLst>
              <a:ext uri="{FF2B5EF4-FFF2-40B4-BE49-F238E27FC236}">
                <a16:creationId xmlns:a16="http://schemas.microsoft.com/office/drawing/2014/main" id="{C5B3AF55-B6F8-CB36-191D-7A16D22004C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055362" y="2857500"/>
            <a:ext cx="9827992" cy="48768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gradFill rotWithShape="1">
          <a:gsLst>
            <a:gs pos="0">
              <a:srgbClr val="6B1124">
                <a:alpha val="100000"/>
              </a:srgbClr>
            </a:gs>
            <a:gs pos="50000">
              <a:srgbClr val="000000">
                <a:alpha val="100000"/>
              </a:srgbClr>
            </a:gs>
            <a:gs pos="100000">
              <a:srgbClr val="6B1124">
                <a:alpha val="100000"/>
              </a:srgbClr>
            </a:gs>
          </a:gsLst>
          <a:path path="circle">
            <a:fillToRect r="100000" b="100000"/>
          </a:path>
          <a:tileRect l="-100000" t="-100000"/>
        </a:gradFill>
        <a:effectLst/>
      </p:bgPr>
    </p:bg>
    <p:spTree>
      <p:nvGrpSpPr>
        <p:cNvPr id="1" name="">
          <a:extLst>
            <a:ext uri="{FF2B5EF4-FFF2-40B4-BE49-F238E27FC236}">
              <a16:creationId xmlns:a16="http://schemas.microsoft.com/office/drawing/2014/main" id="{ED980F17-B991-D88D-18ED-384CBD60336F}"/>
            </a:ext>
          </a:extLst>
        </p:cNvPr>
        <p:cNvGrpSpPr/>
        <p:nvPr/>
      </p:nvGrpSpPr>
      <p:grpSpPr>
        <a:xfrm>
          <a:off x="0" y="0"/>
          <a:ext cx="0" cy="0"/>
          <a:chOff x="0" y="0"/>
          <a:chExt cx="0" cy="0"/>
        </a:xfrm>
      </p:grpSpPr>
      <p:sp>
        <p:nvSpPr>
          <p:cNvPr id="2" name="AutoShape 2">
            <a:extLst>
              <a:ext uri="{FF2B5EF4-FFF2-40B4-BE49-F238E27FC236}">
                <a16:creationId xmlns:a16="http://schemas.microsoft.com/office/drawing/2014/main" id="{939DE53B-8C97-5A3C-B15A-98AE4B94A528}"/>
              </a:ext>
            </a:extLst>
          </p:cNvPr>
          <p:cNvSpPr/>
          <p:nvPr/>
        </p:nvSpPr>
        <p:spPr>
          <a:xfrm flipV="1">
            <a:off x="0" y="5143500"/>
            <a:ext cx="18288000" cy="0"/>
          </a:xfrm>
          <a:prstGeom prst="line">
            <a:avLst/>
          </a:prstGeom>
          <a:ln w="9525" cap="rnd">
            <a:solidFill>
              <a:srgbClr val="F4F4F4"/>
            </a:solidFill>
            <a:prstDash val="solid"/>
            <a:headEnd type="none" w="sm" len="sm"/>
            <a:tailEnd type="none" w="sm" len="sm"/>
          </a:ln>
        </p:spPr>
        <p:txBody>
          <a:bodyPr/>
          <a:lstStyle/>
          <a:p>
            <a:endParaRPr lang="en-PH"/>
          </a:p>
        </p:txBody>
      </p:sp>
      <p:grpSp>
        <p:nvGrpSpPr>
          <p:cNvPr id="3" name="Group 3">
            <a:extLst>
              <a:ext uri="{FF2B5EF4-FFF2-40B4-BE49-F238E27FC236}">
                <a16:creationId xmlns:a16="http://schemas.microsoft.com/office/drawing/2014/main" id="{AB0212D4-8AB7-E83A-E371-BC1C88BCA0F1}"/>
              </a:ext>
            </a:extLst>
          </p:cNvPr>
          <p:cNvGrpSpPr/>
          <p:nvPr/>
        </p:nvGrpSpPr>
        <p:grpSpPr>
          <a:xfrm>
            <a:off x="1028700" y="1776560"/>
            <a:ext cx="8839378" cy="6093187"/>
            <a:chOff x="0" y="114300"/>
            <a:chExt cx="11785838" cy="8124249"/>
          </a:xfrm>
        </p:grpSpPr>
        <p:sp>
          <p:nvSpPr>
            <p:cNvPr id="4" name="TextBox 4">
              <a:extLst>
                <a:ext uri="{FF2B5EF4-FFF2-40B4-BE49-F238E27FC236}">
                  <a16:creationId xmlns:a16="http://schemas.microsoft.com/office/drawing/2014/main" id="{A8940170-BFE9-400F-B39B-F651382D4C5C}"/>
                </a:ext>
              </a:extLst>
            </p:cNvPr>
            <p:cNvSpPr txBox="1"/>
            <p:nvPr/>
          </p:nvSpPr>
          <p:spPr>
            <a:xfrm>
              <a:off x="0" y="114300"/>
              <a:ext cx="11785838" cy="1619250"/>
            </a:xfrm>
            <a:prstGeom prst="rect">
              <a:avLst/>
            </a:prstGeom>
          </p:spPr>
          <p:txBody>
            <a:bodyPr lIns="0" tIns="0" rIns="0" bIns="0" rtlCol="0" anchor="t">
              <a:spAutoFit/>
            </a:bodyPr>
            <a:lstStyle/>
            <a:p>
              <a:pPr marL="0" lvl="0" indent="0" algn="l">
                <a:lnSpc>
                  <a:spcPts val="8122"/>
                </a:lnSpc>
              </a:pPr>
              <a:r>
                <a:rPr lang="en-US" sz="8550" b="1" spc="-359">
                  <a:solidFill>
                    <a:srgbClr val="F4F4F4"/>
                  </a:solidFill>
                  <a:latin typeface="Poppins Medium"/>
                  <a:ea typeface="Poppins Medium"/>
                  <a:cs typeface="Poppins Medium"/>
                  <a:sym typeface="Poppins Medium"/>
                </a:rPr>
                <a:t>Overall Ratings</a:t>
              </a:r>
            </a:p>
          </p:txBody>
        </p:sp>
        <p:sp>
          <p:nvSpPr>
            <p:cNvPr id="5" name="TextBox 5">
              <a:extLst>
                <a:ext uri="{FF2B5EF4-FFF2-40B4-BE49-F238E27FC236}">
                  <a16:creationId xmlns:a16="http://schemas.microsoft.com/office/drawing/2014/main" id="{26D22F9D-F679-7215-D0C1-C0058DB15710}"/>
                </a:ext>
              </a:extLst>
            </p:cNvPr>
            <p:cNvSpPr txBox="1"/>
            <p:nvPr/>
          </p:nvSpPr>
          <p:spPr>
            <a:xfrm>
              <a:off x="0" y="4636321"/>
              <a:ext cx="9289355" cy="650640"/>
            </a:xfrm>
            <a:prstGeom prst="rect">
              <a:avLst/>
            </a:prstGeom>
          </p:spPr>
          <p:txBody>
            <a:bodyPr lIns="0" tIns="0" rIns="0" bIns="0" rtlCol="0" anchor="t">
              <a:spAutoFit/>
            </a:bodyPr>
            <a:lstStyle/>
            <a:p>
              <a:pPr marL="0" lvl="0" indent="0" algn="l">
                <a:lnSpc>
                  <a:spcPts val="3947"/>
                </a:lnSpc>
                <a:spcBef>
                  <a:spcPct val="0"/>
                </a:spcBef>
              </a:pPr>
              <a:r>
                <a:rPr lang="en-US" sz="2819" spc="-118">
                  <a:solidFill>
                    <a:srgbClr val="F4F4F4"/>
                  </a:solidFill>
                  <a:latin typeface="Poppins"/>
                  <a:ea typeface="Poppins"/>
                  <a:cs typeface="Poppins"/>
                  <a:sym typeface="Poppins"/>
                </a:rPr>
                <a:t>Rating Distribution by Service Category</a:t>
              </a:r>
            </a:p>
          </p:txBody>
        </p:sp>
        <p:sp>
          <p:nvSpPr>
            <p:cNvPr id="6" name="TextBox 6">
              <a:extLst>
                <a:ext uri="{FF2B5EF4-FFF2-40B4-BE49-F238E27FC236}">
                  <a16:creationId xmlns:a16="http://schemas.microsoft.com/office/drawing/2014/main" id="{87A4B63F-1548-AE4B-FD96-B5E1FE7FABA7}"/>
                </a:ext>
              </a:extLst>
            </p:cNvPr>
            <p:cNvSpPr txBox="1"/>
            <p:nvPr/>
          </p:nvSpPr>
          <p:spPr>
            <a:xfrm>
              <a:off x="0" y="6010161"/>
              <a:ext cx="9289355" cy="2228388"/>
            </a:xfrm>
            <a:prstGeom prst="rect">
              <a:avLst/>
            </a:prstGeom>
          </p:spPr>
          <p:txBody>
            <a:bodyPr lIns="0" tIns="0" rIns="0" bIns="0" rtlCol="0" anchor="t">
              <a:spAutoFit/>
            </a:bodyPr>
            <a:lstStyle/>
            <a:p>
              <a:pPr marL="0" lvl="0" indent="0" algn="just">
                <a:lnSpc>
                  <a:spcPts val="2238"/>
                </a:lnSpc>
                <a:spcBef>
                  <a:spcPct val="0"/>
                </a:spcBef>
              </a:pPr>
              <a:r>
                <a:rPr lang="en-US" sz="1598" dirty="0">
                  <a:solidFill>
                    <a:srgbClr val="F4F4F4"/>
                  </a:solidFill>
                  <a:latin typeface="Inter Extra-Light"/>
                  <a:ea typeface="Inter Extra-Light"/>
                  <a:cs typeface="Inter Extra-Light"/>
                  <a:sym typeface="Inter Extra-Light"/>
                </a:rPr>
                <a:t>Cabin Staff Service and Seat Comfort earn the highest ratings, clustering near 4–5 on recommended flights. Food &amp; Beverages and Inflight Entertainment sit mid‑range, while Ground Service and Value for Money show the widest variation, reflecting inconsistency across routes. Strong staff service and comfort emerge as the most reliable drivers of positive recommendations.</a:t>
              </a:r>
            </a:p>
          </p:txBody>
        </p:sp>
      </p:grpSp>
      <p:pic>
        <p:nvPicPr>
          <p:cNvPr id="14" name="Picture 13">
            <a:extLst>
              <a:ext uri="{FF2B5EF4-FFF2-40B4-BE49-F238E27FC236}">
                <a16:creationId xmlns:a16="http://schemas.microsoft.com/office/drawing/2014/main" id="{0880C706-8645-EA20-1384-8CB400AAA86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686800" y="3314700"/>
            <a:ext cx="8839378" cy="4386235"/>
          </a:xfrm>
          <a:prstGeom prst="rect">
            <a:avLst/>
          </a:prstGeom>
        </p:spPr>
      </p:pic>
    </p:spTree>
    <p:extLst>
      <p:ext uri="{BB962C8B-B14F-4D97-AF65-F5344CB8AC3E}">
        <p14:creationId xmlns:p14="http://schemas.microsoft.com/office/powerpoint/2010/main" val="66311368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gradFill rotWithShape="1">
          <a:gsLst>
            <a:gs pos="0">
              <a:srgbClr val="6B1124">
                <a:alpha val="100000"/>
              </a:srgbClr>
            </a:gs>
            <a:gs pos="50000">
              <a:srgbClr val="000000">
                <a:alpha val="100000"/>
              </a:srgbClr>
            </a:gs>
            <a:gs pos="100000">
              <a:srgbClr val="6B1124">
                <a:alpha val="100000"/>
              </a:srgbClr>
            </a:gs>
          </a:gsLst>
          <a:path path="circle">
            <a:fillToRect r="100000" b="100000"/>
          </a:path>
          <a:tileRect l="-100000" t="-100000"/>
        </a:gradFill>
        <a:effectLst/>
      </p:bgPr>
    </p:bg>
    <p:spTree>
      <p:nvGrpSpPr>
        <p:cNvPr id="1" name=""/>
        <p:cNvGrpSpPr/>
        <p:nvPr/>
      </p:nvGrpSpPr>
      <p:grpSpPr>
        <a:xfrm>
          <a:off x="0" y="0"/>
          <a:ext cx="0" cy="0"/>
          <a:chOff x="0" y="0"/>
          <a:chExt cx="0" cy="0"/>
        </a:xfrm>
      </p:grpSpPr>
      <p:sp>
        <p:nvSpPr>
          <p:cNvPr id="2" name="AutoShape 2"/>
          <p:cNvSpPr/>
          <p:nvPr/>
        </p:nvSpPr>
        <p:spPr>
          <a:xfrm flipV="1">
            <a:off x="0" y="5143500"/>
            <a:ext cx="18288000" cy="0"/>
          </a:xfrm>
          <a:prstGeom prst="line">
            <a:avLst/>
          </a:prstGeom>
          <a:ln w="9525" cap="rnd">
            <a:solidFill>
              <a:srgbClr val="F4F4F4"/>
            </a:solidFill>
            <a:prstDash val="solid"/>
            <a:headEnd type="none" w="sm" len="sm"/>
            <a:tailEnd type="none" w="sm" len="sm"/>
          </a:ln>
        </p:spPr>
        <p:txBody>
          <a:bodyPr/>
          <a:lstStyle/>
          <a:p>
            <a:endParaRPr lang="en-PH"/>
          </a:p>
        </p:txBody>
      </p:sp>
      <p:sp>
        <p:nvSpPr>
          <p:cNvPr id="4" name="TextBox 4"/>
          <p:cNvSpPr txBox="1"/>
          <p:nvPr/>
        </p:nvSpPr>
        <p:spPr>
          <a:xfrm>
            <a:off x="9494920" y="6322866"/>
            <a:ext cx="6967016" cy="501761"/>
          </a:xfrm>
          <a:prstGeom prst="rect">
            <a:avLst/>
          </a:prstGeom>
        </p:spPr>
        <p:txBody>
          <a:bodyPr lIns="0" tIns="0" rIns="0" bIns="0" rtlCol="0" anchor="t">
            <a:spAutoFit/>
          </a:bodyPr>
          <a:lstStyle/>
          <a:p>
            <a:pPr marL="0" lvl="0" indent="0" algn="l">
              <a:lnSpc>
                <a:spcPts val="3843"/>
              </a:lnSpc>
              <a:spcBef>
                <a:spcPct val="0"/>
              </a:spcBef>
            </a:pPr>
            <a:r>
              <a:rPr lang="en-US" sz="2745" spc="-115">
                <a:solidFill>
                  <a:srgbClr val="F4F4F4"/>
                </a:solidFill>
                <a:latin typeface="Poppins"/>
                <a:ea typeface="Poppins"/>
                <a:cs typeface="Poppins"/>
                <a:sym typeface="Poppins"/>
              </a:rPr>
              <a:t>Rating Patterns &amp; Recommendation Trends</a:t>
            </a:r>
          </a:p>
        </p:txBody>
      </p:sp>
      <p:sp>
        <p:nvSpPr>
          <p:cNvPr id="5" name="TextBox 5"/>
          <p:cNvSpPr txBox="1"/>
          <p:nvPr/>
        </p:nvSpPr>
        <p:spPr>
          <a:xfrm>
            <a:off x="9494920" y="7332082"/>
            <a:ext cx="7556647" cy="2235548"/>
          </a:xfrm>
          <a:prstGeom prst="rect">
            <a:avLst/>
          </a:prstGeom>
        </p:spPr>
        <p:txBody>
          <a:bodyPr lIns="0" tIns="0" rIns="0" bIns="0" rtlCol="0" anchor="t">
            <a:spAutoFit/>
          </a:bodyPr>
          <a:lstStyle/>
          <a:p>
            <a:pPr marL="0" lvl="0" indent="0" algn="just">
              <a:lnSpc>
                <a:spcPts val="2238"/>
              </a:lnSpc>
              <a:spcBef>
                <a:spcPct val="0"/>
              </a:spcBef>
            </a:pPr>
            <a:r>
              <a:rPr lang="en-US" sz="1598" dirty="0">
                <a:solidFill>
                  <a:srgbClr val="F4F4F4"/>
                </a:solidFill>
                <a:latin typeface="Inter Extra-Light"/>
                <a:ea typeface="Inter Extra-Light"/>
                <a:cs typeface="Inter Extra-Light"/>
                <a:sym typeface="Inter Extra-Light"/>
              </a:rPr>
              <a:t>The dataset reflects how external shocks — particularly the pandemic — reshaped passenger perceptions. Core service elements like Ground Service and Value for Money suffered during and after 2020, dragging down recommendation rates. Meanwhile, persistent dissatisfaction with connectivity and entertainment highlights structural issues that predate and outlast the pandemic. Airlines that invested in recovery efforts post‑2021 show gradual improvement, but uneven review volume makes trend reliability weaker in earlier years.</a:t>
            </a:r>
          </a:p>
        </p:txBody>
      </p:sp>
      <p:grpSp>
        <p:nvGrpSpPr>
          <p:cNvPr id="6" name="Group 6"/>
          <p:cNvGrpSpPr/>
          <p:nvPr/>
        </p:nvGrpSpPr>
        <p:grpSpPr>
          <a:xfrm>
            <a:off x="-5105400" y="1409700"/>
            <a:ext cx="9573334" cy="8229600"/>
            <a:chOff x="0" y="0"/>
            <a:chExt cx="1483160" cy="1274980"/>
          </a:xfrm>
        </p:grpSpPr>
        <p:sp>
          <p:nvSpPr>
            <p:cNvPr id="7" name="Freeform 7"/>
            <p:cNvSpPr/>
            <p:nvPr/>
          </p:nvSpPr>
          <p:spPr>
            <a:xfrm>
              <a:off x="0" y="0"/>
              <a:ext cx="1483160" cy="1274980"/>
            </a:xfrm>
            <a:custGeom>
              <a:avLst/>
              <a:gdLst/>
              <a:ahLst/>
              <a:cxnLst/>
              <a:rect l="l" t="t" r="r" b="b"/>
              <a:pathLst>
                <a:path w="1483160" h="1274980">
                  <a:moveTo>
                    <a:pt x="49330" y="0"/>
                  </a:moveTo>
                  <a:lnTo>
                    <a:pt x="1433829" y="0"/>
                  </a:lnTo>
                  <a:cubicBezTo>
                    <a:pt x="1446913" y="0"/>
                    <a:pt x="1459460" y="5197"/>
                    <a:pt x="1468711" y="14449"/>
                  </a:cubicBezTo>
                  <a:cubicBezTo>
                    <a:pt x="1477963" y="23700"/>
                    <a:pt x="1483160" y="36247"/>
                    <a:pt x="1483160" y="49330"/>
                  </a:cubicBezTo>
                  <a:lnTo>
                    <a:pt x="1483160" y="1225650"/>
                  </a:lnTo>
                  <a:cubicBezTo>
                    <a:pt x="1483160" y="1238733"/>
                    <a:pt x="1477963" y="1251281"/>
                    <a:pt x="1468711" y="1260532"/>
                  </a:cubicBezTo>
                  <a:cubicBezTo>
                    <a:pt x="1459460" y="1269783"/>
                    <a:pt x="1446913" y="1274980"/>
                    <a:pt x="1433829" y="1274980"/>
                  </a:cubicBezTo>
                  <a:lnTo>
                    <a:pt x="49330" y="1274980"/>
                  </a:lnTo>
                  <a:cubicBezTo>
                    <a:pt x="36247" y="1274980"/>
                    <a:pt x="23700" y="1269783"/>
                    <a:pt x="14449" y="1260532"/>
                  </a:cubicBezTo>
                  <a:cubicBezTo>
                    <a:pt x="5197" y="1251281"/>
                    <a:pt x="0" y="1238733"/>
                    <a:pt x="0" y="1225650"/>
                  </a:cubicBezTo>
                  <a:lnTo>
                    <a:pt x="0" y="49330"/>
                  </a:lnTo>
                  <a:cubicBezTo>
                    <a:pt x="0" y="36247"/>
                    <a:pt x="5197" y="23700"/>
                    <a:pt x="14449" y="14449"/>
                  </a:cubicBezTo>
                  <a:cubicBezTo>
                    <a:pt x="23700" y="5197"/>
                    <a:pt x="36247" y="0"/>
                    <a:pt x="49330" y="0"/>
                  </a:cubicBezTo>
                  <a:close/>
                </a:path>
              </a:pathLst>
            </a:custGeom>
            <a:blipFill>
              <a:blip r:embed="rId2"/>
              <a:stretch>
                <a:fillRect l="-197" r="-197"/>
              </a:stretch>
            </a:blipFill>
            <a:ln w="9525" cap="rnd">
              <a:solidFill>
                <a:srgbClr val="FFFFFF"/>
              </a:solidFill>
              <a:prstDash val="solid"/>
              <a:round/>
            </a:ln>
          </p:spPr>
          <p:txBody>
            <a:bodyPr/>
            <a:lstStyle/>
            <a:p>
              <a:endParaRPr lang="en-PH"/>
            </a:p>
          </p:txBody>
        </p:sp>
      </p:grpSp>
      <p:pic>
        <p:nvPicPr>
          <p:cNvPr id="9" name="Picture 8">
            <a:extLst>
              <a:ext uri="{FF2B5EF4-FFF2-40B4-BE49-F238E27FC236}">
                <a16:creationId xmlns:a16="http://schemas.microsoft.com/office/drawing/2014/main" id="{54B7E9FD-3487-E319-8C94-5FC3D4F933F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162800" y="446048"/>
            <a:ext cx="10872238" cy="5394971"/>
          </a:xfrm>
          <a:prstGeom prst="rect">
            <a:avLst/>
          </a:prstGeom>
        </p:spPr>
      </p:pic>
      <p:sp>
        <p:nvSpPr>
          <p:cNvPr id="3" name="TextBox 3"/>
          <p:cNvSpPr txBox="1"/>
          <p:nvPr/>
        </p:nvSpPr>
        <p:spPr>
          <a:xfrm>
            <a:off x="533400" y="402969"/>
            <a:ext cx="6967016" cy="2214372"/>
          </a:xfrm>
          <a:prstGeom prst="rect">
            <a:avLst/>
          </a:prstGeom>
        </p:spPr>
        <p:txBody>
          <a:bodyPr lIns="0" tIns="0" rIns="0" bIns="0" rtlCol="0" anchor="t">
            <a:spAutoFit/>
          </a:bodyPr>
          <a:lstStyle/>
          <a:p>
            <a:pPr marL="0" lvl="0" indent="0" algn="l">
              <a:lnSpc>
                <a:spcPts val="8116"/>
              </a:lnSpc>
            </a:pPr>
            <a:r>
              <a:rPr lang="en-US" sz="8544" b="1" spc="-358" dirty="0">
                <a:solidFill>
                  <a:srgbClr val="F4F4F4"/>
                </a:solidFill>
                <a:latin typeface="Poppins Medium"/>
                <a:ea typeface="Poppins Medium"/>
                <a:cs typeface="Poppins Medium"/>
                <a:sym typeface="Poppins Medium"/>
              </a:rPr>
              <a:t>Trends</a:t>
            </a:r>
          </a:p>
          <a:p>
            <a:pPr marL="0" lvl="0" indent="0" algn="l">
              <a:lnSpc>
                <a:spcPts val="8116"/>
              </a:lnSpc>
            </a:pPr>
            <a:r>
              <a:rPr lang="en-US" sz="8544" b="1" spc="-358" dirty="0">
                <a:solidFill>
                  <a:srgbClr val="F4F4F4"/>
                </a:solidFill>
                <a:latin typeface="Poppins Medium"/>
                <a:ea typeface="Poppins Medium"/>
                <a:cs typeface="Poppins Medium"/>
                <a:sym typeface="Poppins Medium"/>
              </a:rPr>
              <a:t>Over Time</a:t>
            </a:r>
          </a:p>
        </p:txBody>
      </p:sp>
      <p:pic>
        <p:nvPicPr>
          <p:cNvPr id="10" name="Picture 9">
            <a:extLst>
              <a:ext uri="{FF2B5EF4-FFF2-40B4-BE49-F238E27FC236}">
                <a16:creationId xmlns:a16="http://schemas.microsoft.com/office/drawing/2014/main" id="{AE72C16F-03E9-BB96-F9B2-171796F25804}"/>
              </a:ext>
            </a:extLst>
          </p:cNvPr>
          <p:cNvPicPr>
            <a:picLocks noChangeAspect="1"/>
          </p:cNvPicPr>
          <p:nvPr/>
        </p:nvPicPr>
        <p:blipFill>
          <a:blip r:embed="rId4"/>
          <a:stretch>
            <a:fillRect/>
          </a:stretch>
        </p:blipFill>
        <p:spPr>
          <a:xfrm>
            <a:off x="499300" y="6210300"/>
            <a:ext cx="6482127" cy="3216531"/>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gradFill rotWithShape="1">
          <a:gsLst>
            <a:gs pos="0">
              <a:srgbClr val="6B1124">
                <a:alpha val="100000"/>
              </a:srgbClr>
            </a:gs>
            <a:gs pos="50000">
              <a:srgbClr val="000000">
                <a:alpha val="100000"/>
              </a:srgbClr>
            </a:gs>
            <a:gs pos="100000">
              <a:srgbClr val="6B1124">
                <a:alpha val="100000"/>
              </a:srgbClr>
            </a:gs>
          </a:gsLst>
          <a:path path="circle">
            <a:fillToRect r="100000" b="100000"/>
          </a:path>
          <a:tileRect l="-100000" t="-100000"/>
        </a:gradFill>
        <a:effectLst/>
      </p:bgPr>
    </p:bg>
    <p:spTree>
      <p:nvGrpSpPr>
        <p:cNvPr id="1" name=""/>
        <p:cNvGrpSpPr/>
        <p:nvPr/>
      </p:nvGrpSpPr>
      <p:grpSpPr>
        <a:xfrm>
          <a:off x="0" y="0"/>
          <a:ext cx="0" cy="0"/>
          <a:chOff x="0" y="0"/>
          <a:chExt cx="0" cy="0"/>
        </a:xfrm>
      </p:grpSpPr>
      <p:sp>
        <p:nvSpPr>
          <p:cNvPr id="2" name="AutoShape 2"/>
          <p:cNvSpPr/>
          <p:nvPr/>
        </p:nvSpPr>
        <p:spPr>
          <a:xfrm flipV="1">
            <a:off x="-44299" y="5138737"/>
            <a:ext cx="18288000" cy="0"/>
          </a:xfrm>
          <a:prstGeom prst="line">
            <a:avLst/>
          </a:prstGeom>
          <a:ln w="9525" cap="rnd">
            <a:solidFill>
              <a:srgbClr val="F4F4F4"/>
            </a:solidFill>
            <a:prstDash val="solid"/>
            <a:headEnd type="none" w="sm" len="sm"/>
            <a:tailEnd type="none" w="sm" len="sm"/>
          </a:ln>
        </p:spPr>
        <p:txBody>
          <a:bodyPr/>
          <a:lstStyle/>
          <a:p>
            <a:endParaRPr lang="en-PH"/>
          </a:p>
        </p:txBody>
      </p:sp>
      <p:sp>
        <p:nvSpPr>
          <p:cNvPr id="3" name="AutoShape 3"/>
          <p:cNvSpPr/>
          <p:nvPr/>
        </p:nvSpPr>
        <p:spPr>
          <a:xfrm flipV="1">
            <a:off x="-44299" y="3948657"/>
            <a:ext cx="18288000" cy="0"/>
          </a:xfrm>
          <a:prstGeom prst="line">
            <a:avLst/>
          </a:prstGeom>
          <a:ln w="9525" cap="rnd">
            <a:solidFill>
              <a:srgbClr val="F4F4F4"/>
            </a:solidFill>
            <a:prstDash val="solid"/>
            <a:headEnd type="none" w="sm" len="sm"/>
            <a:tailEnd type="none" w="sm" len="sm"/>
          </a:ln>
        </p:spPr>
        <p:txBody>
          <a:bodyPr/>
          <a:lstStyle/>
          <a:p>
            <a:endParaRPr lang="en-PH"/>
          </a:p>
        </p:txBody>
      </p:sp>
      <p:sp>
        <p:nvSpPr>
          <p:cNvPr id="4" name="AutoShape 4"/>
          <p:cNvSpPr/>
          <p:nvPr/>
        </p:nvSpPr>
        <p:spPr>
          <a:xfrm flipV="1">
            <a:off x="-22150" y="9228218"/>
            <a:ext cx="18288000" cy="0"/>
          </a:xfrm>
          <a:prstGeom prst="line">
            <a:avLst/>
          </a:prstGeom>
          <a:ln w="9525" cap="rnd">
            <a:solidFill>
              <a:srgbClr val="F4F4F4"/>
            </a:solidFill>
            <a:prstDash val="solid"/>
            <a:headEnd type="none" w="sm" len="sm"/>
            <a:tailEnd type="none" w="sm" len="sm"/>
          </a:ln>
        </p:spPr>
        <p:txBody>
          <a:bodyPr/>
          <a:lstStyle/>
          <a:p>
            <a:endParaRPr lang="en-PH"/>
          </a:p>
        </p:txBody>
      </p:sp>
      <p:grpSp>
        <p:nvGrpSpPr>
          <p:cNvPr id="5" name="Group 5"/>
          <p:cNvGrpSpPr/>
          <p:nvPr/>
        </p:nvGrpSpPr>
        <p:grpSpPr>
          <a:xfrm>
            <a:off x="249764" y="5855985"/>
            <a:ext cx="18182866" cy="2501254"/>
            <a:chOff x="-67083" y="-385763"/>
            <a:chExt cx="22162807" cy="3335006"/>
          </a:xfrm>
        </p:grpSpPr>
        <p:grpSp>
          <p:nvGrpSpPr>
            <p:cNvPr id="6" name="Group 6"/>
            <p:cNvGrpSpPr/>
            <p:nvPr/>
          </p:nvGrpSpPr>
          <p:grpSpPr>
            <a:xfrm>
              <a:off x="723421" y="-385763"/>
              <a:ext cx="11417780" cy="1484241"/>
              <a:chOff x="0" y="-76200"/>
              <a:chExt cx="2255364" cy="293183"/>
            </a:xfrm>
          </p:grpSpPr>
          <p:sp>
            <p:nvSpPr>
              <p:cNvPr id="7" name="Freeform 7"/>
              <p:cNvSpPr/>
              <p:nvPr/>
            </p:nvSpPr>
            <p:spPr>
              <a:xfrm>
                <a:off x="0" y="0"/>
                <a:ext cx="2255364" cy="216983"/>
              </a:xfrm>
              <a:custGeom>
                <a:avLst/>
                <a:gdLst/>
                <a:ahLst/>
                <a:cxnLst/>
                <a:rect l="l" t="t" r="r" b="b"/>
                <a:pathLst>
                  <a:path w="1424656" h="216983">
                    <a:moveTo>
                      <a:pt x="108492" y="0"/>
                    </a:moveTo>
                    <a:lnTo>
                      <a:pt x="1316164" y="0"/>
                    </a:lnTo>
                    <a:cubicBezTo>
                      <a:pt x="1376083" y="0"/>
                      <a:pt x="1424656" y="48573"/>
                      <a:pt x="1424656" y="108492"/>
                    </a:cubicBezTo>
                    <a:lnTo>
                      <a:pt x="1424656" y="108492"/>
                    </a:lnTo>
                    <a:cubicBezTo>
                      <a:pt x="1424656" y="168410"/>
                      <a:pt x="1376083" y="216983"/>
                      <a:pt x="1316164" y="216983"/>
                    </a:cubicBezTo>
                    <a:lnTo>
                      <a:pt x="108492" y="216983"/>
                    </a:lnTo>
                    <a:cubicBezTo>
                      <a:pt x="48573" y="216983"/>
                      <a:pt x="0" y="168410"/>
                      <a:pt x="0" y="108492"/>
                    </a:cubicBezTo>
                    <a:lnTo>
                      <a:pt x="0" y="108492"/>
                    </a:lnTo>
                    <a:cubicBezTo>
                      <a:pt x="0" y="48573"/>
                      <a:pt x="48573" y="0"/>
                      <a:pt x="108492" y="0"/>
                    </a:cubicBezTo>
                    <a:close/>
                  </a:path>
                </a:pathLst>
              </a:custGeom>
              <a:ln w="9525" cap="rnd">
                <a:solidFill>
                  <a:srgbClr val="F4F4F4"/>
                </a:solidFill>
                <a:prstDash val="solid"/>
                <a:round/>
              </a:ln>
            </p:spPr>
            <p:txBody>
              <a:bodyPr/>
              <a:lstStyle/>
              <a:p>
                <a:endParaRPr lang="en-PH"/>
              </a:p>
            </p:txBody>
          </p:sp>
          <p:sp>
            <p:nvSpPr>
              <p:cNvPr id="8" name="TextBox 8"/>
              <p:cNvSpPr txBox="1"/>
              <p:nvPr/>
            </p:nvSpPr>
            <p:spPr>
              <a:xfrm>
                <a:off x="0" y="-76200"/>
                <a:ext cx="1424656" cy="293183"/>
              </a:xfrm>
              <a:prstGeom prst="rect">
                <a:avLst/>
              </a:prstGeom>
            </p:spPr>
            <p:txBody>
              <a:bodyPr lIns="50800" tIns="50800" rIns="50800" bIns="50800" rtlCol="0" anchor="ctr"/>
              <a:lstStyle/>
              <a:p>
                <a:pPr marL="0" lvl="0" indent="0" algn="ctr">
                  <a:lnSpc>
                    <a:spcPts val="3530"/>
                  </a:lnSpc>
                </a:pPr>
                <a:endParaRPr/>
              </a:p>
            </p:txBody>
          </p:sp>
        </p:grpSp>
        <p:sp>
          <p:nvSpPr>
            <p:cNvPr id="9" name="TextBox 9"/>
            <p:cNvSpPr txBox="1"/>
            <p:nvPr/>
          </p:nvSpPr>
          <p:spPr>
            <a:xfrm>
              <a:off x="3894187" y="230688"/>
              <a:ext cx="8615324" cy="486971"/>
            </a:xfrm>
            <a:prstGeom prst="rect">
              <a:avLst/>
            </a:prstGeom>
          </p:spPr>
          <p:txBody>
            <a:bodyPr wrap="square" lIns="0" tIns="0" rIns="0" bIns="0" rtlCol="0" anchor="t">
              <a:spAutoFit/>
            </a:bodyPr>
            <a:lstStyle/>
            <a:p>
              <a:pPr marL="0" lvl="0" indent="0" algn="l">
                <a:lnSpc>
                  <a:spcPts val="3176"/>
                </a:lnSpc>
                <a:spcBef>
                  <a:spcPct val="0"/>
                </a:spcBef>
              </a:pPr>
              <a:r>
                <a:rPr lang="en-US" sz="1600" spc="-95" dirty="0">
                  <a:solidFill>
                    <a:srgbClr val="F4F4F4"/>
                  </a:solidFill>
                  <a:latin typeface="Poppins"/>
                  <a:ea typeface="Poppins"/>
                  <a:cs typeface="Poppins"/>
                  <a:sym typeface="Poppins"/>
                </a:rPr>
                <a:t>Strong cabin staff &amp; seat comfort ratings; high correlation (r=0.86)</a:t>
              </a:r>
            </a:p>
          </p:txBody>
        </p:sp>
        <p:grpSp>
          <p:nvGrpSpPr>
            <p:cNvPr id="10" name="Group 10"/>
            <p:cNvGrpSpPr/>
            <p:nvPr/>
          </p:nvGrpSpPr>
          <p:grpSpPr>
            <a:xfrm>
              <a:off x="-21455" y="-181212"/>
              <a:ext cx="3547334" cy="1436021"/>
              <a:chOff x="-4238" y="-35795"/>
              <a:chExt cx="700708" cy="283658"/>
            </a:xfrm>
          </p:grpSpPr>
          <p:sp>
            <p:nvSpPr>
              <p:cNvPr id="11" name="Freeform 11"/>
              <p:cNvSpPr/>
              <p:nvPr/>
            </p:nvSpPr>
            <p:spPr>
              <a:xfrm>
                <a:off x="0" y="0"/>
                <a:ext cx="696470" cy="216983"/>
              </a:xfrm>
              <a:custGeom>
                <a:avLst/>
                <a:gdLst/>
                <a:ahLst/>
                <a:cxnLst/>
                <a:rect l="l" t="t" r="r" b="b"/>
                <a:pathLst>
                  <a:path w="696470" h="216983">
                    <a:moveTo>
                      <a:pt x="108492" y="0"/>
                    </a:moveTo>
                    <a:lnTo>
                      <a:pt x="587978" y="0"/>
                    </a:lnTo>
                    <a:cubicBezTo>
                      <a:pt x="647897" y="0"/>
                      <a:pt x="696470" y="48573"/>
                      <a:pt x="696470" y="108492"/>
                    </a:cubicBezTo>
                    <a:lnTo>
                      <a:pt x="696470" y="108492"/>
                    </a:lnTo>
                    <a:cubicBezTo>
                      <a:pt x="696470" y="168410"/>
                      <a:pt x="647897" y="216983"/>
                      <a:pt x="587978" y="216983"/>
                    </a:cubicBezTo>
                    <a:lnTo>
                      <a:pt x="108492" y="216983"/>
                    </a:lnTo>
                    <a:cubicBezTo>
                      <a:pt x="48573" y="216983"/>
                      <a:pt x="0" y="168410"/>
                      <a:pt x="0" y="108492"/>
                    </a:cubicBezTo>
                    <a:lnTo>
                      <a:pt x="0" y="108492"/>
                    </a:lnTo>
                    <a:cubicBezTo>
                      <a:pt x="0" y="48573"/>
                      <a:pt x="48573" y="0"/>
                      <a:pt x="108492" y="0"/>
                    </a:cubicBezTo>
                    <a:close/>
                  </a:path>
                </a:pathLst>
              </a:custGeom>
              <a:gradFill rotWithShape="1">
                <a:gsLst>
                  <a:gs pos="0">
                    <a:srgbClr val="590E1E">
                      <a:alpha val="100000"/>
                    </a:srgbClr>
                  </a:gs>
                  <a:gs pos="100000">
                    <a:srgbClr val="000000">
                      <a:alpha val="100000"/>
                    </a:srgbClr>
                  </a:gs>
                </a:gsLst>
                <a:lin ang="0"/>
              </a:gradFill>
              <a:ln w="9525" cap="rnd">
                <a:solidFill>
                  <a:srgbClr val="F4F4F4"/>
                </a:solidFill>
                <a:prstDash val="solid"/>
                <a:round/>
              </a:ln>
            </p:spPr>
            <p:txBody>
              <a:bodyPr/>
              <a:lstStyle/>
              <a:p>
                <a:endParaRPr lang="en-PH"/>
              </a:p>
            </p:txBody>
          </p:sp>
          <p:sp>
            <p:nvSpPr>
              <p:cNvPr id="12" name="TextBox 12"/>
              <p:cNvSpPr txBox="1"/>
              <p:nvPr/>
            </p:nvSpPr>
            <p:spPr>
              <a:xfrm>
                <a:off x="-4238" y="-35795"/>
                <a:ext cx="696470" cy="283658"/>
              </a:xfrm>
              <a:prstGeom prst="rect">
                <a:avLst/>
              </a:prstGeom>
            </p:spPr>
            <p:txBody>
              <a:bodyPr lIns="50800" tIns="50800" rIns="50800" bIns="50800" rtlCol="0" anchor="ctr"/>
              <a:lstStyle/>
              <a:p>
                <a:pPr marL="0" lvl="0" indent="0" algn="ctr">
                  <a:lnSpc>
                    <a:spcPts val="3065"/>
                  </a:lnSpc>
                </a:pPr>
                <a:r>
                  <a:rPr lang="en-US" sz="2189" b="1" spc="45" dirty="0">
                    <a:solidFill>
                      <a:srgbClr val="F4F4F4"/>
                    </a:solidFill>
                    <a:latin typeface="Poppins Medium"/>
                    <a:ea typeface="Poppins Medium"/>
                    <a:cs typeface="Poppins Medium"/>
                    <a:sym typeface="Poppins Medium"/>
                  </a:rPr>
                  <a:t>STRENGTHS</a:t>
                </a:r>
              </a:p>
            </p:txBody>
          </p:sp>
        </p:grpSp>
        <p:grpSp>
          <p:nvGrpSpPr>
            <p:cNvPr id="13" name="Group 13"/>
            <p:cNvGrpSpPr/>
            <p:nvPr/>
          </p:nvGrpSpPr>
          <p:grpSpPr>
            <a:xfrm>
              <a:off x="14039710" y="0"/>
              <a:ext cx="7601090" cy="1098478"/>
              <a:chOff x="0" y="0"/>
              <a:chExt cx="1501450" cy="216983"/>
            </a:xfrm>
          </p:grpSpPr>
          <p:sp>
            <p:nvSpPr>
              <p:cNvPr id="14" name="Freeform 14"/>
              <p:cNvSpPr/>
              <p:nvPr/>
            </p:nvSpPr>
            <p:spPr>
              <a:xfrm>
                <a:off x="0" y="0"/>
                <a:ext cx="1501450" cy="216983"/>
              </a:xfrm>
              <a:custGeom>
                <a:avLst/>
                <a:gdLst/>
                <a:ahLst/>
                <a:cxnLst/>
                <a:rect l="l" t="t" r="r" b="b"/>
                <a:pathLst>
                  <a:path w="1501450" h="216983">
                    <a:moveTo>
                      <a:pt x="108492" y="0"/>
                    </a:moveTo>
                    <a:lnTo>
                      <a:pt x="1392958" y="0"/>
                    </a:lnTo>
                    <a:cubicBezTo>
                      <a:pt x="1452876" y="0"/>
                      <a:pt x="1501450" y="48573"/>
                      <a:pt x="1501450" y="108492"/>
                    </a:cubicBezTo>
                    <a:lnTo>
                      <a:pt x="1501450" y="108492"/>
                    </a:lnTo>
                    <a:cubicBezTo>
                      <a:pt x="1501450" y="168410"/>
                      <a:pt x="1452876" y="216983"/>
                      <a:pt x="1392958" y="216983"/>
                    </a:cubicBezTo>
                    <a:lnTo>
                      <a:pt x="108492" y="216983"/>
                    </a:lnTo>
                    <a:cubicBezTo>
                      <a:pt x="48573" y="216983"/>
                      <a:pt x="0" y="168410"/>
                      <a:pt x="0" y="108492"/>
                    </a:cubicBezTo>
                    <a:lnTo>
                      <a:pt x="0" y="108492"/>
                    </a:lnTo>
                    <a:cubicBezTo>
                      <a:pt x="0" y="48573"/>
                      <a:pt x="48573" y="0"/>
                      <a:pt x="108492" y="0"/>
                    </a:cubicBezTo>
                    <a:close/>
                  </a:path>
                </a:pathLst>
              </a:custGeom>
              <a:ln w="9525" cap="rnd">
                <a:solidFill>
                  <a:srgbClr val="F4F4F4"/>
                </a:solidFill>
                <a:prstDash val="solid"/>
                <a:round/>
              </a:ln>
            </p:spPr>
            <p:txBody>
              <a:bodyPr/>
              <a:lstStyle/>
              <a:p>
                <a:endParaRPr lang="en-PH"/>
              </a:p>
            </p:txBody>
          </p:sp>
          <p:sp>
            <p:nvSpPr>
              <p:cNvPr id="15" name="TextBox 15"/>
              <p:cNvSpPr txBox="1"/>
              <p:nvPr/>
            </p:nvSpPr>
            <p:spPr>
              <a:xfrm>
                <a:off x="0" y="-76200"/>
                <a:ext cx="1501450" cy="293183"/>
              </a:xfrm>
              <a:prstGeom prst="rect">
                <a:avLst/>
              </a:prstGeom>
            </p:spPr>
            <p:txBody>
              <a:bodyPr lIns="50800" tIns="50800" rIns="50800" bIns="50800" rtlCol="0" anchor="ctr"/>
              <a:lstStyle/>
              <a:p>
                <a:pPr marL="0" lvl="0" indent="0" algn="ctr">
                  <a:lnSpc>
                    <a:spcPts val="3530"/>
                  </a:lnSpc>
                </a:pPr>
                <a:endParaRPr/>
              </a:p>
            </p:txBody>
          </p:sp>
        </p:grpSp>
        <p:sp>
          <p:nvSpPr>
            <p:cNvPr id="16" name="TextBox 16"/>
            <p:cNvSpPr txBox="1"/>
            <p:nvPr/>
          </p:nvSpPr>
          <p:spPr>
            <a:xfrm>
              <a:off x="15882304" y="-14943"/>
              <a:ext cx="5537797" cy="1034130"/>
            </a:xfrm>
            <a:prstGeom prst="rect">
              <a:avLst/>
            </a:prstGeom>
          </p:spPr>
          <p:txBody>
            <a:bodyPr wrap="square" lIns="0" tIns="0" rIns="0" bIns="0" rtlCol="0" anchor="t">
              <a:spAutoFit/>
            </a:bodyPr>
            <a:lstStyle/>
            <a:p>
              <a:pPr marL="0" lvl="0" indent="0" algn="l">
                <a:lnSpc>
                  <a:spcPts val="3176"/>
                </a:lnSpc>
                <a:spcBef>
                  <a:spcPct val="0"/>
                </a:spcBef>
              </a:pPr>
              <a:r>
                <a:rPr lang="en-US" sz="1600" spc="-95" dirty="0">
                  <a:solidFill>
                    <a:srgbClr val="F4F4F4"/>
                  </a:solidFill>
                  <a:latin typeface="Poppins"/>
                  <a:ea typeface="Poppins"/>
                  <a:cs typeface="Poppins"/>
                  <a:sym typeface="Poppins"/>
                </a:rPr>
                <a:t>Wi-Fi &amp; inflight entertainment scored lowest; weak recommendation links</a:t>
              </a:r>
            </a:p>
          </p:txBody>
        </p:sp>
        <p:grpSp>
          <p:nvGrpSpPr>
            <p:cNvPr id="17" name="Group 17"/>
            <p:cNvGrpSpPr/>
            <p:nvPr/>
          </p:nvGrpSpPr>
          <p:grpSpPr>
            <a:xfrm>
              <a:off x="12309728" y="-175917"/>
              <a:ext cx="3861234" cy="1436021"/>
              <a:chOff x="-198827" y="-34749"/>
              <a:chExt cx="762713" cy="283658"/>
            </a:xfrm>
          </p:grpSpPr>
          <p:sp>
            <p:nvSpPr>
              <p:cNvPr id="18" name="Freeform 18"/>
              <p:cNvSpPr/>
              <p:nvPr/>
            </p:nvSpPr>
            <p:spPr>
              <a:xfrm>
                <a:off x="-198827" y="825"/>
                <a:ext cx="696470" cy="216983"/>
              </a:xfrm>
              <a:custGeom>
                <a:avLst/>
                <a:gdLst/>
                <a:ahLst/>
                <a:cxnLst/>
                <a:rect l="l" t="t" r="r" b="b"/>
                <a:pathLst>
                  <a:path w="696470" h="216983">
                    <a:moveTo>
                      <a:pt x="108492" y="0"/>
                    </a:moveTo>
                    <a:lnTo>
                      <a:pt x="587978" y="0"/>
                    </a:lnTo>
                    <a:cubicBezTo>
                      <a:pt x="647897" y="0"/>
                      <a:pt x="696470" y="48573"/>
                      <a:pt x="696470" y="108492"/>
                    </a:cubicBezTo>
                    <a:lnTo>
                      <a:pt x="696470" y="108492"/>
                    </a:lnTo>
                    <a:cubicBezTo>
                      <a:pt x="696470" y="168410"/>
                      <a:pt x="647897" y="216983"/>
                      <a:pt x="587978" y="216983"/>
                    </a:cubicBezTo>
                    <a:lnTo>
                      <a:pt x="108492" y="216983"/>
                    </a:lnTo>
                    <a:cubicBezTo>
                      <a:pt x="48573" y="216983"/>
                      <a:pt x="0" y="168410"/>
                      <a:pt x="0" y="108492"/>
                    </a:cubicBezTo>
                    <a:lnTo>
                      <a:pt x="0" y="108492"/>
                    </a:lnTo>
                    <a:cubicBezTo>
                      <a:pt x="0" y="48573"/>
                      <a:pt x="48573" y="0"/>
                      <a:pt x="108492" y="0"/>
                    </a:cubicBezTo>
                    <a:close/>
                  </a:path>
                </a:pathLst>
              </a:custGeom>
              <a:gradFill rotWithShape="1">
                <a:gsLst>
                  <a:gs pos="0">
                    <a:srgbClr val="590E1E">
                      <a:alpha val="100000"/>
                    </a:srgbClr>
                  </a:gs>
                  <a:gs pos="100000">
                    <a:srgbClr val="000000">
                      <a:alpha val="100000"/>
                    </a:srgbClr>
                  </a:gs>
                </a:gsLst>
                <a:lin ang="0"/>
              </a:gradFill>
              <a:ln w="9525" cap="rnd">
                <a:solidFill>
                  <a:srgbClr val="F4F4F4"/>
                </a:solidFill>
                <a:prstDash val="solid"/>
                <a:round/>
              </a:ln>
            </p:spPr>
            <p:txBody>
              <a:bodyPr/>
              <a:lstStyle/>
              <a:p>
                <a:endParaRPr lang="en-PH" dirty="0"/>
              </a:p>
            </p:txBody>
          </p:sp>
          <p:sp>
            <p:nvSpPr>
              <p:cNvPr id="19" name="TextBox 19"/>
              <p:cNvSpPr txBox="1"/>
              <p:nvPr/>
            </p:nvSpPr>
            <p:spPr>
              <a:xfrm>
                <a:off x="-132584" y="-34749"/>
                <a:ext cx="696470" cy="283658"/>
              </a:xfrm>
              <a:prstGeom prst="rect">
                <a:avLst/>
              </a:prstGeom>
            </p:spPr>
            <p:txBody>
              <a:bodyPr lIns="50800" tIns="50800" rIns="50800" bIns="50800" rtlCol="0" anchor="ctr"/>
              <a:lstStyle/>
              <a:p>
                <a:pPr marL="0" lvl="0" indent="0" algn="ctr">
                  <a:lnSpc>
                    <a:spcPts val="3065"/>
                  </a:lnSpc>
                </a:pPr>
                <a:r>
                  <a:rPr lang="en-US" sz="2189" b="1" spc="45" dirty="0">
                    <a:solidFill>
                      <a:srgbClr val="F4F4F4"/>
                    </a:solidFill>
                    <a:latin typeface="Poppins Medium"/>
                    <a:ea typeface="Poppins Medium"/>
                    <a:cs typeface="Poppins Medium"/>
                    <a:sym typeface="Poppins Medium"/>
                  </a:rPr>
                  <a:t>WEAKNESSES</a:t>
                </a:r>
              </a:p>
            </p:txBody>
          </p:sp>
        </p:grpSp>
        <p:grpSp>
          <p:nvGrpSpPr>
            <p:cNvPr id="20" name="Group 20"/>
            <p:cNvGrpSpPr/>
            <p:nvPr/>
          </p:nvGrpSpPr>
          <p:grpSpPr>
            <a:xfrm>
              <a:off x="723421" y="1284215"/>
              <a:ext cx="9970831" cy="1484241"/>
              <a:chOff x="0" y="-76200"/>
              <a:chExt cx="1969547" cy="293183"/>
            </a:xfrm>
          </p:grpSpPr>
          <p:sp>
            <p:nvSpPr>
              <p:cNvPr id="21" name="Freeform 21"/>
              <p:cNvSpPr/>
              <p:nvPr/>
            </p:nvSpPr>
            <p:spPr>
              <a:xfrm>
                <a:off x="0" y="0"/>
                <a:ext cx="1969547" cy="216983"/>
              </a:xfrm>
              <a:custGeom>
                <a:avLst/>
                <a:gdLst/>
                <a:ahLst/>
                <a:cxnLst/>
                <a:rect l="l" t="t" r="r" b="b"/>
                <a:pathLst>
                  <a:path w="1501450" h="216983">
                    <a:moveTo>
                      <a:pt x="108492" y="0"/>
                    </a:moveTo>
                    <a:lnTo>
                      <a:pt x="1392958" y="0"/>
                    </a:lnTo>
                    <a:cubicBezTo>
                      <a:pt x="1452876" y="0"/>
                      <a:pt x="1501450" y="48573"/>
                      <a:pt x="1501450" y="108492"/>
                    </a:cubicBezTo>
                    <a:lnTo>
                      <a:pt x="1501450" y="108492"/>
                    </a:lnTo>
                    <a:cubicBezTo>
                      <a:pt x="1501450" y="168410"/>
                      <a:pt x="1452876" y="216983"/>
                      <a:pt x="1392958" y="216983"/>
                    </a:cubicBezTo>
                    <a:lnTo>
                      <a:pt x="108492" y="216983"/>
                    </a:lnTo>
                    <a:cubicBezTo>
                      <a:pt x="48573" y="216983"/>
                      <a:pt x="0" y="168410"/>
                      <a:pt x="0" y="108492"/>
                    </a:cubicBezTo>
                    <a:lnTo>
                      <a:pt x="0" y="108492"/>
                    </a:lnTo>
                    <a:cubicBezTo>
                      <a:pt x="0" y="48573"/>
                      <a:pt x="48573" y="0"/>
                      <a:pt x="108492" y="0"/>
                    </a:cubicBezTo>
                    <a:close/>
                  </a:path>
                </a:pathLst>
              </a:custGeom>
              <a:ln w="9525" cap="rnd">
                <a:solidFill>
                  <a:srgbClr val="F4F4F4"/>
                </a:solidFill>
                <a:prstDash val="solid"/>
                <a:round/>
              </a:ln>
            </p:spPr>
            <p:txBody>
              <a:bodyPr/>
              <a:lstStyle/>
              <a:p>
                <a:endParaRPr lang="en-PH"/>
              </a:p>
            </p:txBody>
          </p:sp>
          <p:sp>
            <p:nvSpPr>
              <p:cNvPr id="22" name="TextBox 22"/>
              <p:cNvSpPr txBox="1"/>
              <p:nvPr/>
            </p:nvSpPr>
            <p:spPr>
              <a:xfrm>
                <a:off x="0" y="-76200"/>
                <a:ext cx="1501450" cy="293183"/>
              </a:xfrm>
              <a:prstGeom prst="rect">
                <a:avLst/>
              </a:prstGeom>
            </p:spPr>
            <p:txBody>
              <a:bodyPr lIns="50800" tIns="50800" rIns="50800" bIns="50800" rtlCol="0" anchor="ctr"/>
              <a:lstStyle/>
              <a:p>
                <a:pPr marL="0" lvl="0" indent="0" algn="ctr">
                  <a:lnSpc>
                    <a:spcPts val="3530"/>
                  </a:lnSpc>
                </a:pPr>
                <a:endParaRPr/>
              </a:p>
            </p:txBody>
          </p:sp>
        </p:grpSp>
        <p:sp>
          <p:nvSpPr>
            <p:cNvPr id="23" name="TextBox 23"/>
            <p:cNvSpPr txBox="1"/>
            <p:nvPr/>
          </p:nvSpPr>
          <p:spPr>
            <a:xfrm>
              <a:off x="3894187" y="1900665"/>
              <a:ext cx="8036484" cy="486971"/>
            </a:xfrm>
            <a:prstGeom prst="rect">
              <a:avLst/>
            </a:prstGeom>
          </p:spPr>
          <p:txBody>
            <a:bodyPr wrap="square" lIns="0" tIns="0" rIns="0" bIns="0" rtlCol="0" anchor="t">
              <a:spAutoFit/>
            </a:bodyPr>
            <a:lstStyle/>
            <a:p>
              <a:pPr marL="0" lvl="0" indent="0" algn="l">
                <a:lnSpc>
                  <a:spcPts val="3176"/>
                </a:lnSpc>
                <a:spcBef>
                  <a:spcPct val="0"/>
                </a:spcBef>
              </a:pPr>
              <a:r>
                <a:rPr lang="en-US" sz="1600" spc="-95" dirty="0">
                  <a:solidFill>
                    <a:srgbClr val="F4F4F4"/>
                  </a:solidFill>
                  <a:latin typeface="Poppins"/>
                  <a:ea typeface="Poppins"/>
                  <a:cs typeface="Poppins"/>
                  <a:sym typeface="Poppins"/>
                </a:rPr>
                <a:t>Evidence-based insights from 891 reviews across 15 attributes</a:t>
              </a:r>
            </a:p>
          </p:txBody>
        </p:sp>
        <p:grpSp>
          <p:nvGrpSpPr>
            <p:cNvPr id="24" name="Group 24"/>
            <p:cNvGrpSpPr/>
            <p:nvPr/>
          </p:nvGrpSpPr>
          <p:grpSpPr>
            <a:xfrm>
              <a:off x="-67083" y="1459362"/>
              <a:ext cx="3592962" cy="1436021"/>
              <a:chOff x="-13251" y="-41603"/>
              <a:chExt cx="709721" cy="283658"/>
            </a:xfrm>
          </p:grpSpPr>
          <p:sp>
            <p:nvSpPr>
              <p:cNvPr id="25" name="Freeform 25"/>
              <p:cNvSpPr/>
              <p:nvPr/>
            </p:nvSpPr>
            <p:spPr>
              <a:xfrm>
                <a:off x="0" y="0"/>
                <a:ext cx="696470" cy="216983"/>
              </a:xfrm>
              <a:custGeom>
                <a:avLst/>
                <a:gdLst/>
                <a:ahLst/>
                <a:cxnLst/>
                <a:rect l="l" t="t" r="r" b="b"/>
                <a:pathLst>
                  <a:path w="696470" h="216983">
                    <a:moveTo>
                      <a:pt x="108492" y="0"/>
                    </a:moveTo>
                    <a:lnTo>
                      <a:pt x="587978" y="0"/>
                    </a:lnTo>
                    <a:cubicBezTo>
                      <a:pt x="647897" y="0"/>
                      <a:pt x="696470" y="48573"/>
                      <a:pt x="696470" y="108492"/>
                    </a:cubicBezTo>
                    <a:lnTo>
                      <a:pt x="696470" y="108492"/>
                    </a:lnTo>
                    <a:cubicBezTo>
                      <a:pt x="696470" y="168410"/>
                      <a:pt x="647897" y="216983"/>
                      <a:pt x="587978" y="216983"/>
                    </a:cubicBezTo>
                    <a:lnTo>
                      <a:pt x="108492" y="216983"/>
                    </a:lnTo>
                    <a:cubicBezTo>
                      <a:pt x="48573" y="216983"/>
                      <a:pt x="0" y="168410"/>
                      <a:pt x="0" y="108492"/>
                    </a:cubicBezTo>
                    <a:lnTo>
                      <a:pt x="0" y="108492"/>
                    </a:lnTo>
                    <a:cubicBezTo>
                      <a:pt x="0" y="48573"/>
                      <a:pt x="48573" y="0"/>
                      <a:pt x="108492" y="0"/>
                    </a:cubicBezTo>
                    <a:close/>
                  </a:path>
                </a:pathLst>
              </a:custGeom>
              <a:gradFill rotWithShape="1">
                <a:gsLst>
                  <a:gs pos="0">
                    <a:srgbClr val="590E1E">
                      <a:alpha val="100000"/>
                    </a:srgbClr>
                  </a:gs>
                  <a:gs pos="100000">
                    <a:srgbClr val="000000">
                      <a:alpha val="100000"/>
                    </a:srgbClr>
                  </a:gs>
                </a:gsLst>
                <a:lin ang="0"/>
              </a:gradFill>
              <a:ln w="9525" cap="rnd">
                <a:solidFill>
                  <a:srgbClr val="F4F4F4"/>
                </a:solidFill>
                <a:prstDash val="solid"/>
                <a:round/>
              </a:ln>
            </p:spPr>
            <p:txBody>
              <a:bodyPr/>
              <a:lstStyle/>
              <a:p>
                <a:endParaRPr lang="en-PH"/>
              </a:p>
            </p:txBody>
          </p:sp>
          <p:sp>
            <p:nvSpPr>
              <p:cNvPr id="26" name="TextBox 26"/>
              <p:cNvSpPr txBox="1"/>
              <p:nvPr/>
            </p:nvSpPr>
            <p:spPr>
              <a:xfrm>
                <a:off x="-13251" y="-41603"/>
                <a:ext cx="696470" cy="283658"/>
              </a:xfrm>
              <a:prstGeom prst="rect">
                <a:avLst/>
              </a:prstGeom>
            </p:spPr>
            <p:txBody>
              <a:bodyPr lIns="50800" tIns="50800" rIns="50800" bIns="50800" rtlCol="0" anchor="ctr"/>
              <a:lstStyle/>
              <a:p>
                <a:pPr marL="0" lvl="0" indent="0" algn="ctr">
                  <a:lnSpc>
                    <a:spcPts val="3065"/>
                  </a:lnSpc>
                </a:pPr>
                <a:r>
                  <a:rPr lang="en-US" sz="2189" b="1" spc="45" dirty="0">
                    <a:solidFill>
                      <a:srgbClr val="F4F4F4"/>
                    </a:solidFill>
                    <a:latin typeface="Poppins Medium"/>
                    <a:ea typeface="Poppins Medium"/>
                    <a:cs typeface="Poppins Medium"/>
                    <a:sym typeface="Poppins Medium"/>
                  </a:rPr>
                  <a:t>OUTCOME</a:t>
                </a:r>
              </a:p>
            </p:txBody>
          </p:sp>
        </p:grpSp>
        <p:grpSp>
          <p:nvGrpSpPr>
            <p:cNvPr id="27" name="Group 27"/>
            <p:cNvGrpSpPr/>
            <p:nvPr/>
          </p:nvGrpSpPr>
          <p:grpSpPr>
            <a:xfrm>
              <a:off x="11484756" y="1669978"/>
              <a:ext cx="10156044" cy="1098478"/>
              <a:chOff x="0" y="0"/>
              <a:chExt cx="2006132" cy="216983"/>
            </a:xfrm>
          </p:grpSpPr>
          <p:sp>
            <p:nvSpPr>
              <p:cNvPr id="28" name="Freeform 28"/>
              <p:cNvSpPr/>
              <p:nvPr/>
            </p:nvSpPr>
            <p:spPr>
              <a:xfrm>
                <a:off x="0" y="0"/>
                <a:ext cx="2006132" cy="216983"/>
              </a:xfrm>
              <a:custGeom>
                <a:avLst/>
                <a:gdLst/>
                <a:ahLst/>
                <a:cxnLst/>
                <a:rect l="l" t="t" r="r" b="b"/>
                <a:pathLst>
                  <a:path w="2006132" h="216983">
                    <a:moveTo>
                      <a:pt x="101640" y="0"/>
                    </a:moveTo>
                    <a:lnTo>
                      <a:pt x="1904493" y="0"/>
                    </a:lnTo>
                    <a:cubicBezTo>
                      <a:pt x="1960627" y="0"/>
                      <a:pt x="2006132" y="45506"/>
                      <a:pt x="2006132" y="101640"/>
                    </a:cubicBezTo>
                    <a:lnTo>
                      <a:pt x="2006132" y="115344"/>
                    </a:lnTo>
                    <a:cubicBezTo>
                      <a:pt x="2006132" y="171478"/>
                      <a:pt x="1960627" y="216983"/>
                      <a:pt x="1904493" y="216983"/>
                    </a:cubicBezTo>
                    <a:lnTo>
                      <a:pt x="101640" y="216983"/>
                    </a:lnTo>
                    <a:cubicBezTo>
                      <a:pt x="45506" y="216983"/>
                      <a:pt x="0" y="171478"/>
                      <a:pt x="0" y="115344"/>
                    </a:cubicBezTo>
                    <a:lnTo>
                      <a:pt x="0" y="101640"/>
                    </a:lnTo>
                    <a:cubicBezTo>
                      <a:pt x="0" y="45506"/>
                      <a:pt x="45506" y="0"/>
                      <a:pt x="101640" y="0"/>
                    </a:cubicBezTo>
                    <a:close/>
                  </a:path>
                </a:pathLst>
              </a:custGeom>
              <a:ln w="9525" cap="rnd">
                <a:solidFill>
                  <a:srgbClr val="F4F4F4"/>
                </a:solidFill>
                <a:prstDash val="solid"/>
                <a:round/>
              </a:ln>
            </p:spPr>
            <p:txBody>
              <a:bodyPr/>
              <a:lstStyle/>
              <a:p>
                <a:endParaRPr lang="en-PH"/>
              </a:p>
            </p:txBody>
          </p:sp>
          <p:sp>
            <p:nvSpPr>
              <p:cNvPr id="29" name="TextBox 29"/>
              <p:cNvSpPr txBox="1"/>
              <p:nvPr/>
            </p:nvSpPr>
            <p:spPr>
              <a:xfrm>
                <a:off x="0" y="-76200"/>
                <a:ext cx="2006132" cy="293183"/>
              </a:xfrm>
              <a:prstGeom prst="rect">
                <a:avLst/>
              </a:prstGeom>
            </p:spPr>
            <p:txBody>
              <a:bodyPr lIns="50800" tIns="50800" rIns="50800" bIns="50800" rtlCol="0" anchor="ctr"/>
              <a:lstStyle/>
              <a:p>
                <a:pPr marL="0" lvl="0" indent="0" algn="ctr">
                  <a:lnSpc>
                    <a:spcPts val="3530"/>
                  </a:lnSpc>
                </a:pPr>
                <a:endParaRPr/>
              </a:p>
            </p:txBody>
          </p:sp>
        </p:grpSp>
        <p:sp>
          <p:nvSpPr>
            <p:cNvPr id="30" name="TextBox 30"/>
            <p:cNvSpPr txBox="1"/>
            <p:nvPr/>
          </p:nvSpPr>
          <p:spPr>
            <a:xfrm>
              <a:off x="15090917" y="1672943"/>
              <a:ext cx="7004807" cy="1056635"/>
            </a:xfrm>
            <a:prstGeom prst="rect">
              <a:avLst/>
            </a:prstGeom>
          </p:spPr>
          <p:txBody>
            <a:bodyPr wrap="square" lIns="0" tIns="0" rIns="0" bIns="0" rtlCol="0" anchor="t">
              <a:spAutoFit/>
            </a:bodyPr>
            <a:lstStyle/>
            <a:p>
              <a:pPr marL="0" lvl="0" indent="0" algn="l">
                <a:lnSpc>
                  <a:spcPts val="3176"/>
                </a:lnSpc>
                <a:spcBef>
                  <a:spcPct val="0"/>
                </a:spcBef>
              </a:pPr>
              <a:r>
                <a:rPr lang="en-US" sz="1600" spc="-95" dirty="0">
                  <a:solidFill>
                    <a:srgbClr val="F4F4F4"/>
                  </a:solidFill>
                  <a:latin typeface="Poppins"/>
                  <a:ea typeface="Poppins"/>
                  <a:cs typeface="Poppins"/>
                  <a:sym typeface="Poppins"/>
                </a:rPr>
                <a:t>Prioritize value for money, ground service, Wi-Fi &amp; food improvements</a:t>
              </a:r>
            </a:p>
          </p:txBody>
        </p:sp>
        <p:grpSp>
          <p:nvGrpSpPr>
            <p:cNvPr id="31" name="Group 31"/>
            <p:cNvGrpSpPr/>
            <p:nvPr/>
          </p:nvGrpSpPr>
          <p:grpSpPr>
            <a:xfrm>
              <a:off x="10761335" y="1513222"/>
              <a:ext cx="4192178" cy="1436021"/>
              <a:chOff x="0" y="-30964"/>
              <a:chExt cx="828084" cy="283658"/>
            </a:xfrm>
          </p:grpSpPr>
          <p:sp>
            <p:nvSpPr>
              <p:cNvPr id="32" name="Freeform 32"/>
              <p:cNvSpPr/>
              <p:nvPr/>
            </p:nvSpPr>
            <p:spPr>
              <a:xfrm>
                <a:off x="58862" y="0"/>
                <a:ext cx="769222" cy="216983"/>
              </a:xfrm>
              <a:custGeom>
                <a:avLst/>
                <a:gdLst/>
                <a:ahLst/>
                <a:cxnLst/>
                <a:rect l="l" t="t" r="r" b="b"/>
                <a:pathLst>
                  <a:path w="769222" h="216983">
                    <a:moveTo>
                      <a:pt x="108492" y="0"/>
                    </a:moveTo>
                    <a:lnTo>
                      <a:pt x="660731" y="0"/>
                    </a:lnTo>
                    <a:cubicBezTo>
                      <a:pt x="720649" y="0"/>
                      <a:pt x="769222" y="48573"/>
                      <a:pt x="769222" y="108492"/>
                    </a:cubicBezTo>
                    <a:lnTo>
                      <a:pt x="769222" y="108492"/>
                    </a:lnTo>
                    <a:cubicBezTo>
                      <a:pt x="769222" y="168410"/>
                      <a:pt x="720649" y="216983"/>
                      <a:pt x="660731" y="216983"/>
                    </a:cubicBezTo>
                    <a:lnTo>
                      <a:pt x="108492" y="216983"/>
                    </a:lnTo>
                    <a:cubicBezTo>
                      <a:pt x="48573" y="216983"/>
                      <a:pt x="0" y="168410"/>
                      <a:pt x="0" y="108492"/>
                    </a:cubicBezTo>
                    <a:lnTo>
                      <a:pt x="0" y="108492"/>
                    </a:lnTo>
                    <a:cubicBezTo>
                      <a:pt x="0" y="48573"/>
                      <a:pt x="48573" y="0"/>
                      <a:pt x="108492" y="0"/>
                    </a:cubicBezTo>
                    <a:close/>
                  </a:path>
                </a:pathLst>
              </a:custGeom>
              <a:gradFill rotWithShape="1">
                <a:gsLst>
                  <a:gs pos="0">
                    <a:srgbClr val="590E1E">
                      <a:alpha val="100000"/>
                    </a:srgbClr>
                  </a:gs>
                  <a:gs pos="100000">
                    <a:srgbClr val="000000">
                      <a:alpha val="100000"/>
                    </a:srgbClr>
                  </a:gs>
                </a:gsLst>
                <a:lin ang="0"/>
              </a:gradFill>
              <a:ln w="9525" cap="rnd">
                <a:solidFill>
                  <a:srgbClr val="F4F4F4"/>
                </a:solidFill>
                <a:prstDash val="solid"/>
                <a:round/>
              </a:ln>
            </p:spPr>
            <p:txBody>
              <a:bodyPr/>
              <a:lstStyle/>
              <a:p>
                <a:endParaRPr lang="en-PH" dirty="0"/>
              </a:p>
            </p:txBody>
          </p:sp>
          <p:sp>
            <p:nvSpPr>
              <p:cNvPr id="33" name="TextBox 33"/>
              <p:cNvSpPr txBox="1"/>
              <p:nvPr/>
            </p:nvSpPr>
            <p:spPr>
              <a:xfrm>
                <a:off x="0" y="-30964"/>
                <a:ext cx="769222" cy="283658"/>
              </a:xfrm>
              <a:prstGeom prst="rect">
                <a:avLst/>
              </a:prstGeom>
            </p:spPr>
            <p:txBody>
              <a:bodyPr lIns="50800" tIns="50800" rIns="50800" bIns="50800" rtlCol="0" anchor="ctr"/>
              <a:lstStyle/>
              <a:p>
                <a:pPr marL="0" lvl="0" indent="0" algn="ctr">
                  <a:lnSpc>
                    <a:spcPts val="3065"/>
                  </a:lnSpc>
                </a:pPr>
                <a:r>
                  <a:rPr lang="en-US" sz="2189" b="1" spc="45" dirty="0">
                    <a:solidFill>
                      <a:srgbClr val="F4F4F4"/>
                    </a:solidFill>
                    <a:latin typeface="Poppins Medium"/>
                    <a:ea typeface="Poppins Medium"/>
                    <a:cs typeface="Poppins Medium"/>
                    <a:sym typeface="Poppins Medium"/>
                  </a:rPr>
                  <a:t>RECOMMEND</a:t>
                </a:r>
              </a:p>
            </p:txBody>
          </p:sp>
        </p:grpSp>
      </p:grpSp>
      <p:sp>
        <p:nvSpPr>
          <p:cNvPr id="34" name="TextBox 34"/>
          <p:cNvSpPr txBox="1"/>
          <p:nvPr/>
        </p:nvSpPr>
        <p:spPr>
          <a:xfrm>
            <a:off x="1982873" y="1684998"/>
            <a:ext cx="14322254" cy="1185672"/>
          </a:xfrm>
          <a:prstGeom prst="rect">
            <a:avLst/>
          </a:prstGeom>
        </p:spPr>
        <p:txBody>
          <a:bodyPr lIns="0" tIns="0" rIns="0" bIns="0" rtlCol="0" anchor="t">
            <a:spAutoFit/>
          </a:bodyPr>
          <a:lstStyle/>
          <a:p>
            <a:pPr marL="0" lvl="0" indent="0" algn="ctr">
              <a:lnSpc>
                <a:spcPts val="8116"/>
              </a:lnSpc>
            </a:pPr>
            <a:r>
              <a:rPr lang="en-US" sz="8544" b="1" spc="-358">
                <a:solidFill>
                  <a:srgbClr val="F4F4F4"/>
                </a:solidFill>
                <a:latin typeface="Poppins Medium"/>
                <a:ea typeface="Poppins Medium"/>
                <a:cs typeface="Poppins Medium"/>
                <a:sym typeface="Poppins Medium"/>
              </a:rPr>
              <a:t>Conclusion</a:t>
            </a:r>
          </a:p>
        </p:txBody>
      </p:sp>
      <p:sp>
        <p:nvSpPr>
          <p:cNvPr id="35" name="TextBox 35"/>
          <p:cNvSpPr txBox="1"/>
          <p:nvPr/>
        </p:nvSpPr>
        <p:spPr>
          <a:xfrm>
            <a:off x="5117293" y="4239169"/>
            <a:ext cx="8515562" cy="442589"/>
          </a:xfrm>
          <a:prstGeom prst="rect">
            <a:avLst/>
          </a:prstGeom>
        </p:spPr>
        <p:txBody>
          <a:bodyPr lIns="0" tIns="0" rIns="0" bIns="0" rtlCol="0" anchor="t">
            <a:spAutoFit/>
          </a:bodyPr>
          <a:lstStyle/>
          <a:p>
            <a:pPr marL="0" lvl="0" indent="0" algn="ctr">
              <a:lnSpc>
                <a:spcPts val="3430"/>
              </a:lnSpc>
              <a:spcBef>
                <a:spcPct val="0"/>
              </a:spcBef>
            </a:pPr>
            <a:r>
              <a:rPr lang="en-US" sz="2450" spc="-102">
                <a:solidFill>
                  <a:srgbClr val="F4F4F4"/>
                </a:solidFill>
                <a:latin typeface="Poppins"/>
                <a:ea typeface="Poppins"/>
                <a:cs typeface="Poppins"/>
                <a:sym typeface="Poppins"/>
              </a:rPr>
              <a:t>Philippine Airlines Passenger Review Analysis — Key Findings</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gradFill rotWithShape="1">
          <a:gsLst>
            <a:gs pos="0">
              <a:srgbClr val="6B1124">
                <a:alpha val="100000"/>
              </a:srgbClr>
            </a:gs>
            <a:gs pos="50000">
              <a:srgbClr val="000000">
                <a:alpha val="100000"/>
              </a:srgbClr>
            </a:gs>
            <a:gs pos="100000">
              <a:srgbClr val="6B1124">
                <a:alpha val="100000"/>
              </a:srgbClr>
            </a:gs>
          </a:gsLst>
          <a:path path="circle">
            <a:fillToRect r="100000" b="100000"/>
          </a:path>
          <a:tileRect l="-100000" t="-100000"/>
        </a:gradFill>
        <a:effectLst/>
      </p:bgPr>
    </p:bg>
    <p:spTree>
      <p:nvGrpSpPr>
        <p:cNvPr id="1" name="">
          <a:extLst>
            <a:ext uri="{FF2B5EF4-FFF2-40B4-BE49-F238E27FC236}">
              <a16:creationId xmlns:a16="http://schemas.microsoft.com/office/drawing/2014/main" id="{529AADCA-6FFC-0E90-023E-2683EA6F9E45}"/>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B75BF322-C8B9-DCB0-1A6B-72925003A503}"/>
              </a:ext>
            </a:extLst>
          </p:cNvPr>
          <p:cNvSpPr txBox="1"/>
          <p:nvPr/>
        </p:nvSpPr>
        <p:spPr>
          <a:xfrm>
            <a:off x="1524000" y="1257300"/>
            <a:ext cx="6967016" cy="551959"/>
          </a:xfrm>
          <a:prstGeom prst="rect">
            <a:avLst/>
          </a:prstGeom>
        </p:spPr>
        <p:txBody>
          <a:bodyPr lIns="0" tIns="0" rIns="0" bIns="0" rtlCol="0" anchor="t">
            <a:spAutoFit/>
          </a:bodyPr>
          <a:lstStyle/>
          <a:p>
            <a:pPr marL="0" lvl="0" indent="0" algn="l">
              <a:lnSpc>
                <a:spcPts val="4227"/>
              </a:lnSpc>
              <a:spcBef>
                <a:spcPct val="0"/>
              </a:spcBef>
            </a:pPr>
            <a:r>
              <a:rPr lang="en-US" sz="4000" spc="-126" dirty="0">
                <a:solidFill>
                  <a:srgbClr val="F4F4F4"/>
                </a:solidFill>
                <a:latin typeface="Poppins"/>
                <a:ea typeface="Poppins"/>
                <a:cs typeface="Poppins"/>
                <a:sym typeface="Poppins"/>
              </a:rPr>
              <a:t>Recommendations</a:t>
            </a:r>
          </a:p>
        </p:txBody>
      </p:sp>
      <p:sp>
        <p:nvSpPr>
          <p:cNvPr id="13" name="TextBox 12">
            <a:extLst>
              <a:ext uri="{FF2B5EF4-FFF2-40B4-BE49-F238E27FC236}">
                <a16:creationId xmlns:a16="http://schemas.microsoft.com/office/drawing/2014/main" id="{E80C019A-A4E1-5341-C950-220FF23A5997}"/>
              </a:ext>
            </a:extLst>
          </p:cNvPr>
          <p:cNvSpPr txBox="1"/>
          <p:nvPr/>
        </p:nvSpPr>
        <p:spPr>
          <a:xfrm>
            <a:off x="2209800" y="2781300"/>
            <a:ext cx="13601700" cy="4785926"/>
          </a:xfrm>
          <a:prstGeom prst="rect">
            <a:avLst/>
          </a:prstGeom>
          <a:noFill/>
        </p:spPr>
        <p:txBody>
          <a:bodyPr wrap="square" rtlCol="0">
            <a:spAutoFit/>
          </a:bodyPr>
          <a:lstStyle/>
          <a:p>
            <a:pPr lvl="0" fontAlgn="base"/>
            <a:r>
              <a:rPr lang="en-PH" sz="2500" b="1" dirty="0">
                <a:solidFill>
                  <a:schemeClr val="bg1"/>
                </a:solidFill>
                <a:latin typeface="Inter Extra-Light" panose="020B0604020202020204" charset="0"/>
                <a:ea typeface="Inter Extra-Light" panose="020B0604020202020204" charset="0"/>
              </a:rPr>
              <a:t>Immediate Priorities</a:t>
            </a:r>
          </a:p>
          <a:p>
            <a:pPr marL="342900" lvl="0" indent="-342900" fontAlgn="base">
              <a:buFont typeface="Arial" panose="020B0604020202020204" pitchFamily="34" charset="0"/>
              <a:buChar char="•"/>
            </a:pPr>
            <a:r>
              <a:rPr lang="en-PH" sz="2000" dirty="0">
                <a:solidFill>
                  <a:schemeClr val="bg1"/>
                </a:solidFill>
                <a:latin typeface="Inter Extra-Light" panose="020B0604020202020204" charset="0"/>
                <a:ea typeface="Inter Extra-Light" panose="020B0604020202020204" charset="0"/>
              </a:rPr>
              <a:t>Address value for money and ground service issues</a:t>
            </a:r>
          </a:p>
          <a:p>
            <a:pPr marL="342900" lvl="0" indent="-342900" fontAlgn="base">
              <a:buFont typeface="Arial" panose="020B0604020202020204" pitchFamily="34" charset="0"/>
              <a:buChar char="•"/>
            </a:pPr>
            <a:r>
              <a:rPr lang="en-PH" sz="2000" dirty="0">
                <a:solidFill>
                  <a:schemeClr val="bg1"/>
                </a:solidFill>
                <a:latin typeface="Inter Extra-Light" panose="020B0604020202020204" charset="0"/>
                <a:ea typeface="Inter Extra-Light" panose="020B0604020202020204" charset="0"/>
              </a:rPr>
              <a:t>Improve Wi-Fi and entertainment offerings</a:t>
            </a:r>
          </a:p>
          <a:p>
            <a:pPr marL="342900" lvl="0" indent="-342900" fontAlgn="base">
              <a:buFont typeface="Arial" panose="020B0604020202020204" pitchFamily="34" charset="0"/>
              <a:buChar char="•"/>
            </a:pPr>
            <a:r>
              <a:rPr lang="en-PH" sz="2000" dirty="0">
                <a:solidFill>
                  <a:schemeClr val="bg1"/>
                </a:solidFill>
                <a:latin typeface="Inter Extra-Light" panose="020B0604020202020204" charset="0"/>
                <a:ea typeface="Inter Extra-Light" panose="020B0604020202020204" charset="0"/>
              </a:rPr>
              <a:t>Enhance food and beverage quality</a:t>
            </a:r>
          </a:p>
          <a:p>
            <a:pPr lvl="0" fontAlgn="base"/>
            <a:endParaRPr lang="en-PH" sz="2500" b="1" dirty="0">
              <a:solidFill>
                <a:schemeClr val="bg1"/>
              </a:solidFill>
              <a:latin typeface="Inter Extra-Light" panose="020B0604020202020204" charset="0"/>
              <a:ea typeface="Inter Extra-Light" panose="020B0604020202020204" charset="0"/>
            </a:endParaRPr>
          </a:p>
          <a:p>
            <a:pPr lvl="0" fontAlgn="base"/>
            <a:r>
              <a:rPr lang="en-PH" sz="2500" b="1" dirty="0">
                <a:solidFill>
                  <a:schemeClr val="bg1"/>
                </a:solidFill>
                <a:latin typeface="Inter Extra-Light" panose="020B0604020202020204" charset="0"/>
                <a:ea typeface="Inter Extra-Light" panose="020B0604020202020204" charset="0"/>
              </a:rPr>
              <a:t>Strategic Focus</a:t>
            </a:r>
          </a:p>
          <a:p>
            <a:pPr marL="342900" lvl="0" indent="-342900" fontAlgn="base">
              <a:buFont typeface="Arial" panose="020B0604020202020204" pitchFamily="34" charset="0"/>
              <a:buChar char="•"/>
            </a:pPr>
            <a:r>
              <a:rPr lang="en-PH" sz="2000" dirty="0">
                <a:solidFill>
                  <a:schemeClr val="bg1"/>
                </a:solidFill>
                <a:latin typeface="Inter Extra-Light" panose="020B0604020202020204" charset="0"/>
                <a:ea typeface="Inter Extra-Light" panose="020B0604020202020204" charset="0"/>
              </a:rPr>
              <a:t>Leverage cabin staff excellence as a competitive advantage</a:t>
            </a:r>
          </a:p>
          <a:p>
            <a:pPr marL="342900" lvl="0" indent="-342900" fontAlgn="base">
              <a:buFont typeface="Arial" panose="020B0604020202020204" pitchFamily="34" charset="0"/>
              <a:buChar char="•"/>
            </a:pPr>
            <a:r>
              <a:rPr lang="en-PH" sz="2000" dirty="0">
                <a:solidFill>
                  <a:schemeClr val="bg1"/>
                </a:solidFill>
                <a:latin typeface="Inter Extra-Light" panose="020B0604020202020204" charset="0"/>
                <a:ea typeface="Inter Extra-Light" panose="020B0604020202020204" charset="0"/>
              </a:rPr>
              <a:t>Maintain seat comfort standards across fleet</a:t>
            </a:r>
          </a:p>
          <a:p>
            <a:pPr marL="342900" lvl="0" indent="-342900" fontAlgn="base">
              <a:buFont typeface="Arial" panose="020B0604020202020204" pitchFamily="34" charset="0"/>
              <a:buChar char="•"/>
            </a:pPr>
            <a:r>
              <a:rPr lang="en-PH" sz="2000" dirty="0">
                <a:solidFill>
                  <a:schemeClr val="bg1"/>
                </a:solidFill>
                <a:latin typeface="Inter Extra-Light" panose="020B0604020202020204" charset="0"/>
                <a:ea typeface="Inter Extra-Light" panose="020B0604020202020204" charset="0"/>
              </a:rPr>
              <a:t>Tailor improvements by passenger segment and route</a:t>
            </a:r>
          </a:p>
          <a:p>
            <a:pPr lvl="0" fontAlgn="base"/>
            <a:br>
              <a:rPr lang="en-PH" sz="2500" b="1" dirty="0">
                <a:solidFill>
                  <a:schemeClr val="bg1"/>
                </a:solidFill>
                <a:latin typeface="Inter Extra-Light" panose="020B0604020202020204" charset="0"/>
                <a:ea typeface="Inter Extra-Light" panose="020B0604020202020204" charset="0"/>
              </a:rPr>
            </a:br>
            <a:r>
              <a:rPr lang="en-PH" sz="2500" b="1" dirty="0">
                <a:solidFill>
                  <a:schemeClr val="bg1"/>
                </a:solidFill>
                <a:latin typeface="Inter Extra-Light" panose="020B0604020202020204" charset="0"/>
                <a:ea typeface="Inter Extra-Light" panose="020B0604020202020204" charset="0"/>
              </a:rPr>
              <a:t>Measuring Success</a:t>
            </a:r>
          </a:p>
          <a:p>
            <a:pPr marL="342900" lvl="0" indent="-342900" fontAlgn="base">
              <a:buFont typeface="Arial" panose="020B0604020202020204" pitchFamily="34" charset="0"/>
              <a:buChar char="•"/>
            </a:pPr>
            <a:r>
              <a:rPr lang="en-PH" sz="2000" dirty="0">
                <a:solidFill>
                  <a:schemeClr val="bg1"/>
                </a:solidFill>
                <a:latin typeface="Inter Extra-Light" panose="020B0604020202020204" charset="0"/>
                <a:ea typeface="Inter Extra-Light" panose="020B0604020202020204" charset="0"/>
              </a:rPr>
              <a:t>Track recommendation rates over time</a:t>
            </a:r>
          </a:p>
          <a:p>
            <a:pPr marL="342900" lvl="0" indent="-342900" fontAlgn="base">
              <a:buFont typeface="Arial" panose="020B0604020202020204" pitchFamily="34" charset="0"/>
              <a:buChar char="•"/>
            </a:pPr>
            <a:r>
              <a:rPr lang="en-PH" sz="2000" dirty="0">
                <a:solidFill>
                  <a:schemeClr val="bg1"/>
                </a:solidFill>
                <a:latin typeface="Inter Extra-Light" panose="020B0604020202020204" charset="0"/>
                <a:ea typeface="Inter Extra-Light" panose="020B0604020202020204" charset="0"/>
              </a:rPr>
              <a:t>Monitor ratings in targeted improvement areas</a:t>
            </a:r>
          </a:p>
          <a:p>
            <a:pPr marL="342900" lvl="0" indent="-342900" fontAlgn="base">
              <a:buFont typeface="Arial" panose="020B0604020202020204" pitchFamily="34" charset="0"/>
              <a:buChar char="•"/>
            </a:pPr>
            <a:r>
              <a:rPr lang="en-PH" sz="2000" dirty="0">
                <a:solidFill>
                  <a:schemeClr val="bg1"/>
                </a:solidFill>
                <a:latin typeface="Inter Extra-Light" panose="020B0604020202020204" charset="0"/>
                <a:ea typeface="Inter Extra-Light" panose="020B0604020202020204" charset="0"/>
              </a:rPr>
              <a:t>Compare performance across key routes</a:t>
            </a:r>
          </a:p>
        </p:txBody>
      </p:sp>
    </p:spTree>
    <p:extLst>
      <p:ext uri="{BB962C8B-B14F-4D97-AF65-F5344CB8AC3E}">
        <p14:creationId xmlns:p14="http://schemas.microsoft.com/office/powerpoint/2010/main" val="395230115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gradFill rotWithShape="1">
          <a:gsLst>
            <a:gs pos="0">
              <a:srgbClr val="6B1124">
                <a:alpha val="100000"/>
              </a:srgbClr>
            </a:gs>
            <a:gs pos="50000">
              <a:srgbClr val="000000">
                <a:alpha val="100000"/>
              </a:srgbClr>
            </a:gs>
            <a:gs pos="100000">
              <a:srgbClr val="6B1124">
                <a:alpha val="100000"/>
              </a:srgbClr>
            </a:gs>
          </a:gsLst>
          <a:path path="circle">
            <a:fillToRect r="100000" b="100000"/>
          </a:path>
          <a:tileRect l="-100000" t="-100000"/>
        </a:gradFill>
        <a:effectLst/>
      </p:bgPr>
    </p:bg>
    <p:spTree>
      <p:nvGrpSpPr>
        <p:cNvPr id="1" name=""/>
        <p:cNvGrpSpPr/>
        <p:nvPr/>
      </p:nvGrpSpPr>
      <p:grpSpPr>
        <a:xfrm>
          <a:off x="0" y="0"/>
          <a:ext cx="0" cy="0"/>
          <a:chOff x="0" y="0"/>
          <a:chExt cx="0" cy="0"/>
        </a:xfrm>
      </p:grpSpPr>
      <p:sp>
        <p:nvSpPr>
          <p:cNvPr id="2" name="AutoShape 2"/>
          <p:cNvSpPr/>
          <p:nvPr/>
        </p:nvSpPr>
        <p:spPr>
          <a:xfrm>
            <a:off x="0" y="5143500"/>
            <a:ext cx="12279636" cy="0"/>
          </a:xfrm>
          <a:prstGeom prst="line">
            <a:avLst/>
          </a:prstGeom>
          <a:ln w="9525" cap="rnd">
            <a:solidFill>
              <a:srgbClr val="F4F4F4"/>
            </a:solidFill>
            <a:prstDash val="solid"/>
            <a:headEnd type="none" w="sm" len="sm"/>
            <a:tailEnd type="none" w="sm" len="sm"/>
          </a:ln>
        </p:spPr>
        <p:txBody>
          <a:bodyPr/>
          <a:lstStyle/>
          <a:p>
            <a:endParaRPr lang="en-PH"/>
          </a:p>
        </p:txBody>
      </p:sp>
      <p:sp>
        <p:nvSpPr>
          <p:cNvPr id="3" name="AutoShape 3"/>
          <p:cNvSpPr/>
          <p:nvPr/>
        </p:nvSpPr>
        <p:spPr>
          <a:xfrm flipV="1">
            <a:off x="12279636" y="0"/>
            <a:ext cx="0" cy="10321060"/>
          </a:xfrm>
          <a:prstGeom prst="line">
            <a:avLst/>
          </a:prstGeom>
          <a:ln w="9525" cap="rnd">
            <a:solidFill>
              <a:srgbClr val="F4F4F4"/>
            </a:solidFill>
            <a:prstDash val="solid"/>
            <a:headEnd type="none" w="sm" len="sm"/>
            <a:tailEnd type="none" w="sm" len="sm"/>
          </a:ln>
        </p:spPr>
        <p:txBody>
          <a:bodyPr/>
          <a:lstStyle/>
          <a:p>
            <a:endParaRPr lang="en-PH"/>
          </a:p>
        </p:txBody>
      </p:sp>
      <p:grpSp>
        <p:nvGrpSpPr>
          <p:cNvPr id="4" name="Group 4"/>
          <p:cNvGrpSpPr/>
          <p:nvPr/>
        </p:nvGrpSpPr>
        <p:grpSpPr>
          <a:xfrm>
            <a:off x="13356138" y="1028700"/>
            <a:ext cx="3903162" cy="823858"/>
            <a:chOff x="0" y="0"/>
            <a:chExt cx="1027993" cy="216983"/>
          </a:xfrm>
        </p:grpSpPr>
        <p:sp>
          <p:nvSpPr>
            <p:cNvPr id="5" name="Freeform 5"/>
            <p:cNvSpPr/>
            <p:nvPr/>
          </p:nvSpPr>
          <p:spPr>
            <a:xfrm>
              <a:off x="0" y="0"/>
              <a:ext cx="1027993" cy="216983"/>
            </a:xfrm>
            <a:custGeom>
              <a:avLst/>
              <a:gdLst/>
              <a:ahLst/>
              <a:cxnLst/>
              <a:rect l="l" t="t" r="r" b="b"/>
              <a:pathLst>
                <a:path w="1027993" h="216983">
                  <a:moveTo>
                    <a:pt x="108492" y="0"/>
                  </a:moveTo>
                  <a:lnTo>
                    <a:pt x="919502" y="0"/>
                  </a:lnTo>
                  <a:cubicBezTo>
                    <a:pt x="979420" y="0"/>
                    <a:pt x="1027993" y="48573"/>
                    <a:pt x="1027993" y="108492"/>
                  </a:cubicBezTo>
                  <a:lnTo>
                    <a:pt x="1027993" y="108492"/>
                  </a:lnTo>
                  <a:cubicBezTo>
                    <a:pt x="1027993" y="168410"/>
                    <a:pt x="979420" y="216983"/>
                    <a:pt x="919502" y="216983"/>
                  </a:cubicBezTo>
                  <a:lnTo>
                    <a:pt x="108492" y="216983"/>
                  </a:lnTo>
                  <a:cubicBezTo>
                    <a:pt x="48573" y="216983"/>
                    <a:pt x="0" y="168410"/>
                    <a:pt x="0" y="108492"/>
                  </a:cubicBezTo>
                  <a:lnTo>
                    <a:pt x="0" y="108492"/>
                  </a:lnTo>
                  <a:cubicBezTo>
                    <a:pt x="0" y="48573"/>
                    <a:pt x="48573" y="0"/>
                    <a:pt x="108492" y="0"/>
                  </a:cubicBezTo>
                  <a:close/>
                </a:path>
              </a:pathLst>
            </a:custGeom>
            <a:gradFill rotWithShape="1">
              <a:gsLst>
                <a:gs pos="0">
                  <a:srgbClr val="590E1E">
                    <a:alpha val="100000"/>
                  </a:srgbClr>
                </a:gs>
                <a:gs pos="100000">
                  <a:srgbClr val="000000">
                    <a:alpha val="100000"/>
                  </a:srgbClr>
                </a:gs>
              </a:gsLst>
              <a:lin ang="0"/>
            </a:gradFill>
            <a:ln w="9525" cap="rnd">
              <a:solidFill>
                <a:srgbClr val="F4F4F4"/>
              </a:solidFill>
              <a:prstDash val="solid"/>
              <a:round/>
            </a:ln>
          </p:spPr>
          <p:txBody>
            <a:bodyPr/>
            <a:lstStyle/>
            <a:p>
              <a:endParaRPr lang="en-PH"/>
            </a:p>
          </p:txBody>
        </p:sp>
        <p:sp>
          <p:nvSpPr>
            <p:cNvPr id="6" name="TextBox 6"/>
            <p:cNvSpPr txBox="1"/>
            <p:nvPr/>
          </p:nvSpPr>
          <p:spPr>
            <a:xfrm>
              <a:off x="0" y="-76200"/>
              <a:ext cx="1027993" cy="293183"/>
            </a:xfrm>
            <a:prstGeom prst="rect">
              <a:avLst/>
            </a:prstGeom>
          </p:spPr>
          <p:txBody>
            <a:bodyPr lIns="50800" tIns="50800" rIns="50800" bIns="50800" rtlCol="0" anchor="ctr"/>
            <a:lstStyle/>
            <a:p>
              <a:pPr marL="0" lvl="0" indent="0" algn="ctr">
                <a:lnSpc>
                  <a:spcPts val="3527"/>
                </a:lnSpc>
              </a:pPr>
              <a:r>
                <a:rPr lang="en-US" sz="2519" b="1" spc="52">
                  <a:solidFill>
                    <a:srgbClr val="F4F4F4"/>
                  </a:solidFill>
                  <a:latin typeface="Poppins Medium"/>
                  <a:ea typeface="Poppins Medium"/>
                  <a:cs typeface="Poppins Medium"/>
                  <a:sym typeface="Poppins Medium"/>
                </a:rPr>
                <a:t>DROP INDEX COLUMN</a:t>
              </a:r>
            </a:p>
          </p:txBody>
        </p:sp>
      </p:grpSp>
      <p:grpSp>
        <p:nvGrpSpPr>
          <p:cNvPr id="7" name="Group 7"/>
          <p:cNvGrpSpPr/>
          <p:nvPr/>
        </p:nvGrpSpPr>
        <p:grpSpPr>
          <a:xfrm>
            <a:off x="13356138" y="2848191"/>
            <a:ext cx="3903162" cy="823858"/>
            <a:chOff x="0" y="0"/>
            <a:chExt cx="1027993" cy="216983"/>
          </a:xfrm>
        </p:grpSpPr>
        <p:sp>
          <p:nvSpPr>
            <p:cNvPr id="8" name="Freeform 8"/>
            <p:cNvSpPr/>
            <p:nvPr/>
          </p:nvSpPr>
          <p:spPr>
            <a:xfrm>
              <a:off x="0" y="0"/>
              <a:ext cx="1027993" cy="216983"/>
            </a:xfrm>
            <a:custGeom>
              <a:avLst/>
              <a:gdLst/>
              <a:ahLst/>
              <a:cxnLst/>
              <a:rect l="l" t="t" r="r" b="b"/>
              <a:pathLst>
                <a:path w="1027993" h="216983">
                  <a:moveTo>
                    <a:pt x="108492" y="0"/>
                  </a:moveTo>
                  <a:lnTo>
                    <a:pt x="919502" y="0"/>
                  </a:lnTo>
                  <a:cubicBezTo>
                    <a:pt x="979420" y="0"/>
                    <a:pt x="1027993" y="48573"/>
                    <a:pt x="1027993" y="108492"/>
                  </a:cubicBezTo>
                  <a:lnTo>
                    <a:pt x="1027993" y="108492"/>
                  </a:lnTo>
                  <a:cubicBezTo>
                    <a:pt x="1027993" y="168410"/>
                    <a:pt x="979420" y="216983"/>
                    <a:pt x="919502" y="216983"/>
                  </a:cubicBezTo>
                  <a:lnTo>
                    <a:pt x="108492" y="216983"/>
                  </a:lnTo>
                  <a:cubicBezTo>
                    <a:pt x="48573" y="216983"/>
                    <a:pt x="0" y="168410"/>
                    <a:pt x="0" y="108492"/>
                  </a:cubicBezTo>
                  <a:lnTo>
                    <a:pt x="0" y="108492"/>
                  </a:lnTo>
                  <a:cubicBezTo>
                    <a:pt x="0" y="48573"/>
                    <a:pt x="48573" y="0"/>
                    <a:pt x="108492" y="0"/>
                  </a:cubicBezTo>
                  <a:close/>
                </a:path>
              </a:pathLst>
            </a:custGeom>
            <a:gradFill rotWithShape="1">
              <a:gsLst>
                <a:gs pos="0">
                  <a:srgbClr val="590E1E">
                    <a:alpha val="100000"/>
                  </a:srgbClr>
                </a:gs>
                <a:gs pos="100000">
                  <a:srgbClr val="000000">
                    <a:alpha val="100000"/>
                  </a:srgbClr>
                </a:gs>
              </a:gsLst>
              <a:lin ang="0"/>
            </a:gradFill>
            <a:ln w="9525" cap="rnd">
              <a:solidFill>
                <a:srgbClr val="F4F4F4"/>
              </a:solidFill>
              <a:prstDash val="solid"/>
              <a:round/>
            </a:ln>
          </p:spPr>
          <p:txBody>
            <a:bodyPr/>
            <a:lstStyle/>
            <a:p>
              <a:endParaRPr lang="en-PH"/>
            </a:p>
          </p:txBody>
        </p:sp>
        <p:sp>
          <p:nvSpPr>
            <p:cNvPr id="9" name="TextBox 9"/>
            <p:cNvSpPr txBox="1"/>
            <p:nvPr/>
          </p:nvSpPr>
          <p:spPr>
            <a:xfrm>
              <a:off x="0" y="-76200"/>
              <a:ext cx="1027993" cy="293183"/>
            </a:xfrm>
            <a:prstGeom prst="rect">
              <a:avLst/>
            </a:prstGeom>
          </p:spPr>
          <p:txBody>
            <a:bodyPr lIns="50800" tIns="50800" rIns="50800" bIns="50800" rtlCol="0" anchor="ctr"/>
            <a:lstStyle/>
            <a:p>
              <a:pPr marL="0" lvl="0" indent="0" algn="ctr">
                <a:lnSpc>
                  <a:spcPts val="3527"/>
                </a:lnSpc>
              </a:pPr>
              <a:r>
                <a:rPr lang="en-US" sz="2519" b="1" spc="52">
                  <a:solidFill>
                    <a:srgbClr val="F4F4F4"/>
                  </a:solidFill>
                  <a:latin typeface="Poppins Medium"/>
                  <a:ea typeface="Poppins Medium"/>
                  <a:cs typeface="Poppins Medium"/>
                  <a:sym typeface="Poppins Medium"/>
                </a:rPr>
                <a:t>STANDARDIZE NAMES</a:t>
              </a:r>
            </a:p>
          </p:txBody>
        </p:sp>
      </p:grpSp>
      <p:grpSp>
        <p:nvGrpSpPr>
          <p:cNvPr id="10" name="Group 10"/>
          <p:cNvGrpSpPr/>
          <p:nvPr/>
        </p:nvGrpSpPr>
        <p:grpSpPr>
          <a:xfrm>
            <a:off x="13356138" y="4710275"/>
            <a:ext cx="3903162" cy="1170439"/>
            <a:chOff x="0" y="0"/>
            <a:chExt cx="1027993" cy="308264"/>
          </a:xfrm>
        </p:grpSpPr>
        <p:sp>
          <p:nvSpPr>
            <p:cNvPr id="11" name="Freeform 11"/>
            <p:cNvSpPr/>
            <p:nvPr/>
          </p:nvSpPr>
          <p:spPr>
            <a:xfrm>
              <a:off x="0" y="0"/>
              <a:ext cx="1027993" cy="308264"/>
            </a:xfrm>
            <a:custGeom>
              <a:avLst/>
              <a:gdLst/>
              <a:ahLst/>
              <a:cxnLst/>
              <a:rect l="l" t="t" r="r" b="b"/>
              <a:pathLst>
                <a:path w="1027993" h="308264">
                  <a:moveTo>
                    <a:pt x="154132" y="0"/>
                  </a:moveTo>
                  <a:lnTo>
                    <a:pt x="873861" y="0"/>
                  </a:lnTo>
                  <a:cubicBezTo>
                    <a:pt x="914740" y="0"/>
                    <a:pt x="953944" y="16239"/>
                    <a:pt x="982849" y="45144"/>
                  </a:cubicBezTo>
                  <a:cubicBezTo>
                    <a:pt x="1011755" y="74050"/>
                    <a:pt x="1027993" y="113254"/>
                    <a:pt x="1027993" y="154132"/>
                  </a:cubicBezTo>
                  <a:lnTo>
                    <a:pt x="1027993" y="154132"/>
                  </a:lnTo>
                  <a:cubicBezTo>
                    <a:pt x="1027993" y="239257"/>
                    <a:pt x="958986" y="308264"/>
                    <a:pt x="873861" y="308264"/>
                  </a:cubicBezTo>
                  <a:lnTo>
                    <a:pt x="154132" y="308264"/>
                  </a:lnTo>
                  <a:cubicBezTo>
                    <a:pt x="69007" y="308264"/>
                    <a:pt x="0" y="239257"/>
                    <a:pt x="0" y="154132"/>
                  </a:cubicBezTo>
                  <a:lnTo>
                    <a:pt x="0" y="154132"/>
                  </a:lnTo>
                  <a:cubicBezTo>
                    <a:pt x="0" y="69007"/>
                    <a:pt x="69007" y="0"/>
                    <a:pt x="154132" y="0"/>
                  </a:cubicBezTo>
                  <a:close/>
                </a:path>
              </a:pathLst>
            </a:custGeom>
            <a:gradFill rotWithShape="1">
              <a:gsLst>
                <a:gs pos="0">
                  <a:srgbClr val="590E1E">
                    <a:alpha val="100000"/>
                  </a:srgbClr>
                </a:gs>
                <a:gs pos="100000">
                  <a:srgbClr val="000000">
                    <a:alpha val="100000"/>
                  </a:srgbClr>
                </a:gs>
              </a:gsLst>
              <a:lin ang="0"/>
            </a:gradFill>
            <a:ln w="9525" cap="rnd">
              <a:solidFill>
                <a:srgbClr val="F4F4F4"/>
              </a:solidFill>
              <a:prstDash val="solid"/>
              <a:round/>
            </a:ln>
          </p:spPr>
          <p:txBody>
            <a:bodyPr/>
            <a:lstStyle/>
            <a:p>
              <a:endParaRPr lang="en-PH"/>
            </a:p>
          </p:txBody>
        </p:sp>
        <p:sp>
          <p:nvSpPr>
            <p:cNvPr id="12" name="TextBox 12"/>
            <p:cNvSpPr txBox="1"/>
            <p:nvPr/>
          </p:nvSpPr>
          <p:spPr>
            <a:xfrm>
              <a:off x="0" y="-76200"/>
              <a:ext cx="1027993" cy="384464"/>
            </a:xfrm>
            <a:prstGeom prst="rect">
              <a:avLst/>
            </a:prstGeom>
          </p:spPr>
          <p:txBody>
            <a:bodyPr lIns="50800" tIns="50800" rIns="50800" bIns="50800" rtlCol="0" anchor="ctr"/>
            <a:lstStyle/>
            <a:p>
              <a:pPr marL="0" lvl="0" indent="0" algn="ctr">
                <a:lnSpc>
                  <a:spcPts val="3527"/>
                </a:lnSpc>
              </a:pPr>
              <a:r>
                <a:rPr lang="en-US" sz="2519" b="1" spc="52">
                  <a:solidFill>
                    <a:srgbClr val="F4F4F4"/>
                  </a:solidFill>
                  <a:latin typeface="Poppins Medium"/>
                  <a:ea typeface="Poppins Medium"/>
                  <a:cs typeface="Poppins Medium"/>
                  <a:sym typeface="Poppins Medium"/>
                </a:rPr>
                <a:t>ENCODE RECOMMENDED</a:t>
              </a:r>
            </a:p>
          </p:txBody>
        </p:sp>
      </p:grpSp>
      <p:grpSp>
        <p:nvGrpSpPr>
          <p:cNvPr id="13" name="Group 13"/>
          <p:cNvGrpSpPr/>
          <p:nvPr/>
        </p:nvGrpSpPr>
        <p:grpSpPr>
          <a:xfrm>
            <a:off x="13356138" y="6572358"/>
            <a:ext cx="3903162" cy="823858"/>
            <a:chOff x="0" y="0"/>
            <a:chExt cx="1027993" cy="216983"/>
          </a:xfrm>
        </p:grpSpPr>
        <p:sp>
          <p:nvSpPr>
            <p:cNvPr id="14" name="Freeform 14"/>
            <p:cNvSpPr/>
            <p:nvPr/>
          </p:nvSpPr>
          <p:spPr>
            <a:xfrm>
              <a:off x="0" y="0"/>
              <a:ext cx="1027993" cy="216983"/>
            </a:xfrm>
            <a:custGeom>
              <a:avLst/>
              <a:gdLst/>
              <a:ahLst/>
              <a:cxnLst/>
              <a:rect l="l" t="t" r="r" b="b"/>
              <a:pathLst>
                <a:path w="1027993" h="216983">
                  <a:moveTo>
                    <a:pt x="108492" y="0"/>
                  </a:moveTo>
                  <a:lnTo>
                    <a:pt x="919502" y="0"/>
                  </a:lnTo>
                  <a:cubicBezTo>
                    <a:pt x="979420" y="0"/>
                    <a:pt x="1027993" y="48573"/>
                    <a:pt x="1027993" y="108492"/>
                  </a:cubicBezTo>
                  <a:lnTo>
                    <a:pt x="1027993" y="108492"/>
                  </a:lnTo>
                  <a:cubicBezTo>
                    <a:pt x="1027993" y="168410"/>
                    <a:pt x="979420" y="216983"/>
                    <a:pt x="919502" y="216983"/>
                  </a:cubicBezTo>
                  <a:lnTo>
                    <a:pt x="108492" y="216983"/>
                  </a:lnTo>
                  <a:cubicBezTo>
                    <a:pt x="48573" y="216983"/>
                    <a:pt x="0" y="168410"/>
                    <a:pt x="0" y="108492"/>
                  </a:cubicBezTo>
                  <a:lnTo>
                    <a:pt x="0" y="108492"/>
                  </a:lnTo>
                  <a:cubicBezTo>
                    <a:pt x="0" y="48573"/>
                    <a:pt x="48573" y="0"/>
                    <a:pt x="108492" y="0"/>
                  </a:cubicBezTo>
                  <a:close/>
                </a:path>
              </a:pathLst>
            </a:custGeom>
            <a:gradFill rotWithShape="1">
              <a:gsLst>
                <a:gs pos="0">
                  <a:srgbClr val="590E1E">
                    <a:alpha val="100000"/>
                  </a:srgbClr>
                </a:gs>
                <a:gs pos="100000">
                  <a:srgbClr val="000000">
                    <a:alpha val="100000"/>
                  </a:srgbClr>
                </a:gs>
              </a:gsLst>
              <a:lin ang="0"/>
            </a:gradFill>
            <a:ln w="9525" cap="rnd">
              <a:solidFill>
                <a:srgbClr val="F4F4F4"/>
              </a:solidFill>
              <a:prstDash val="solid"/>
              <a:round/>
            </a:ln>
          </p:spPr>
          <p:txBody>
            <a:bodyPr/>
            <a:lstStyle/>
            <a:p>
              <a:endParaRPr lang="en-PH"/>
            </a:p>
          </p:txBody>
        </p:sp>
        <p:sp>
          <p:nvSpPr>
            <p:cNvPr id="15" name="TextBox 15"/>
            <p:cNvSpPr txBox="1"/>
            <p:nvPr/>
          </p:nvSpPr>
          <p:spPr>
            <a:xfrm>
              <a:off x="0" y="-76200"/>
              <a:ext cx="1027993" cy="293183"/>
            </a:xfrm>
            <a:prstGeom prst="rect">
              <a:avLst/>
            </a:prstGeom>
          </p:spPr>
          <p:txBody>
            <a:bodyPr lIns="50800" tIns="50800" rIns="50800" bIns="50800" rtlCol="0" anchor="ctr"/>
            <a:lstStyle/>
            <a:p>
              <a:pPr marL="0" lvl="0" indent="0" algn="ctr">
                <a:lnSpc>
                  <a:spcPts val="3527"/>
                </a:lnSpc>
              </a:pPr>
              <a:r>
                <a:rPr lang="en-US" sz="2519" b="1" spc="52">
                  <a:solidFill>
                    <a:srgbClr val="F4F4F4"/>
                  </a:solidFill>
                  <a:latin typeface="Poppins Medium"/>
                  <a:ea typeface="Poppins Medium"/>
                  <a:cs typeface="Poppins Medium"/>
                  <a:sym typeface="Poppins Medium"/>
                </a:rPr>
                <a:t>FILL MISSING AIRCRAFT</a:t>
              </a:r>
            </a:p>
          </p:txBody>
        </p:sp>
      </p:grpSp>
      <p:grpSp>
        <p:nvGrpSpPr>
          <p:cNvPr id="16" name="Group 16"/>
          <p:cNvGrpSpPr/>
          <p:nvPr/>
        </p:nvGrpSpPr>
        <p:grpSpPr>
          <a:xfrm>
            <a:off x="13356138" y="8434442"/>
            <a:ext cx="3903162" cy="823858"/>
            <a:chOff x="0" y="0"/>
            <a:chExt cx="1027993" cy="216983"/>
          </a:xfrm>
        </p:grpSpPr>
        <p:sp>
          <p:nvSpPr>
            <p:cNvPr id="17" name="Freeform 17"/>
            <p:cNvSpPr/>
            <p:nvPr/>
          </p:nvSpPr>
          <p:spPr>
            <a:xfrm>
              <a:off x="0" y="0"/>
              <a:ext cx="1027993" cy="216983"/>
            </a:xfrm>
            <a:custGeom>
              <a:avLst/>
              <a:gdLst/>
              <a:ahLst/>
              <a:cxnLst/>
              <a:rect l="l" t="t" r="r" b="b"/>
              <a:pathLst>
                <a:path w="1027993" h="216983">
                  <a:moveTo>
                    <a:pt x="108492" y="0"/>
                  </a:moveTo>
                  <a:lnTo>
                    <a:pt x="919502" y="0"/>
                  </a:lnTo>
                  <a:cubicBezTo>
                    <a:pt x="979420" y="0"/>
                    <a:pt x="1027993" y="48573"/>
                    <a:pt x="1027993" y="108492"/>
                  </a:cubicBezTo>
                  <a:lnTo>
                    <a:pt x="1027993" y="108492"/>
                  </a:lnTo>
                  <a:cubicBezTo>
                    <a:pt x="1027993" y="168410"/>
                    <a:pt x="979420" y="216983"/>
                    <a:pt x="919502" y="216983"/>
                  </a:cubicBezTo>
                  <a:lnTo>
                    <a:pt x="108492" y="216983"/>
                  </a:lnTo>
                  <a:cubicBezTo>
                    <a:pt x="48573" y="216983"/>
                    <a:pt x="0" y="168410"/>
                    <a:pt x="0" y="108492"/>
                  </a:cubicBezTo>
                  <a:lnTo>
                    <a:pt x="0" y="108492"/>
                  </a:lnTo>
                  <a:cubicBezTo>
                    <a:pt x="0" y="48573"/>
                    <a:pt x="48573" y="0"/>
                    <a:pt x="108492" y="0"/>
                  </a:cubicBezTo>
                  <a:close/>
                </a:path>
              </a:pathLst>
            </a:custGeom>
            <a:gradFill rotWithShape="1">
              <a:gsLst>
                <a:gs pos="0">
                  <a:srgbClr val="590E1E">
                    <a:alpha val="100000"/>
                  </a:srgbClr>
                </a:gs>
                <a:gs pos="100000">
                  <a:srgbClr val="000000">
                    <a:alpha val="100000"/>
                  </a:srgbClr>
                </a:gs>
              </a:gsLst>
              <a:lin ang="0"/>
            </a:gradFill>
            <a:ln w="9525" cap="rnd">
              <a:solidFill>
                <a:srgbClr val="F4F4F4"/>
              </a:solidFill>
              <a:prstDash val="solid"/>
              <a:round/>
            </a:ln>
          </p:spPr>
          <p:txBody>
            <a:bodyPr/>
            <a:lstStyle/>
            <a:p>
              <a:endParaRPr lang="en-PH"/>
            </a:p>
          </p:txBody>
        </p:sp>
        <p:sp>
          <p:nvSpPr>
            <p:cNvPr id="18" name="TextBox 18"/>
            <p:cNvSpPr txBox="1"/>
            <p:nvPr/>
          </p:nvSpPr>
          <p:spPr>
            <a:xfrm>
              <a:off x="0" y="-76200"/>
              <a:ext cx="1027993" cy="293183"/>
            </a:xfrm>
            <a:prstGeom prst="rect">
              <a:avLst/>
            </a:prstGeom>
          </p:spPr>
          <p:txBody>
            <a:bodyPr lIns="50800" tIns="50800" rIns="50800" bIns="50800" rtlCol="0" anchor="ctr"/>
            <a:lstStyle/>
            <a:p>
              <a:pPr marL="0" lvl="0" indent="0" algn="ctr">
                <a:lnSpc>
                  <a:spcPts val="3527"/>
                </a:lnSpc>
              </a:pPr>
              <a:r>
                <a:rPr lang="en-US" sz="2519" b="1" spc="52">
                  <a:solidFill>
                    <a:srgbClr val="F4F4F4"/>
                  </a:solidFill>
                  <a:latin typeface="Poppins Medium"/>
                  <a:ea typeface="Poppins Medium"/>
                  <a:cs typeface="Poppins Medium"/>
                  <a:sym typeface="Poppins Medium"/>
                </a:rPr>
                <a:t>CONVERT TO NUMERIC</a:t>
              </a:r>
            </a:p>
          </p:txBody>
        </p:sp>
      </p:grpSp>
      <p:grpSp>
        <p:nvGrpSpPr>
          <p:cNvPr id="19" name="Group 19"/>
          <p:cNvGrpSpPr/>
          <p:nvPr/>
        </p:nvGrpSpPr>
        <p:grpSpPr>
          <a:xfrm>
            <a:off x="11873585" y="1040458"/>
            <a:ext cx="812101" cy="812101"/>
            <a:chOff x="0" y="0"/>
            <a:chExt cx="812800" cy="812800"/>
          </a:xfrm>
        </p:grpSpPr>
        <p:sp>
          <p:nvSpPr>
            <p:cNvPr id="20" name="Freeform 20"/>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1">
              <a:gsLst>
                <a:gs pos="0">
                  <a:srgbClr val="6B1124">
                    <a:alpha val="100000"/>
                  </a:srgbClr>
                </a:gs>
                <a:gs pos="50000">
                  <a:srgbClr val="000000">
                    <a:alpha val="100000"/>
                  </a:srgbClr>
                </a:gs>
                <a:gs pos="100000">
                  <a:srgbClr val="6B1124">
                    <a:alpha val="100000"/>
                  </a:srgbClr>
                </a:gs>
              </a:gsLst>
              <a:path path="circle">
                <a:fillToRect r="100000" b="100000"/>
              </a:path>
              <a:tileRect l="-100000" t="-100000"/>
            </a:gradFill>
            <a:ln w="9525" cap="sq">
              <a:solidFill>
                <a:srgbClr val="F4F4F4"/>
              </a:solidFill>
              <a:prstDash val="solid"/>
              <a:miter/>
            </a:ln>
          </p:spPr>
          <p:txBody>
            <a:bodyPr/>
            <a:lstStyle/>
            <a:p>
              <a:endParaRPr lang="en-PH"/>
            </a:p>
          </p:txBody>
        </p:sp>
        <p:sp>
          <p:nvSpPr>
            <p:cNvPr id="21" name="TextBox 21"/>
            <p:cNvSpPr txBox="1"/>
            <p:nvPr/>
          </p:nvSpPr>
          <p:spPr>
            <a:xfrm>
              <a:off x="76200" y="9525"/>
              <a:ext cx="660400" cy="727075"/>
            </a:xfrm>
            <a:prstGeom prst="rect">
              <a:avLst/>
            </a:prstGeom>
          </p:spPr>
          <p:txBody>
            <a:bodyPr lIns="50800" tIns="50800" rIns="50800" bIns="50800" rtlCol="0" anchor="ctr"/>
            <a:lstStyle/>
            <a:p>
              <a:pPr marL="0" lvl="0" indent="0" algn="ctr">
                <a:lnSpc>
                  <a:spcPts val="3110"/>
                </a:lnSpc>
              </a:pPr>
              <a:r>
                <a:rPr lang="en-US" sz="2221" b="1" spc="46">
                  <a:solidFill>
                    <a:srgbClr val="FFFFFF"/>
                  </a:solidFill>
                  <a:latin typeface="Poppins Medium"/>
                  <a:ea typeface="Poppins Medium"/>
                  <a:cs typeface="Poppins Medium"/>
                  <a:sym typeface="Poppins Medium"/>
                </a:rPr>
                <a:t>1</a:t>
              </a:r>
            </a:p>
          </p:txBody>
        </p:sp>
      </p:grpSp>
      <p:grpSp>
        <p:nvGrpSpPr>
          <p:cNvPr id="22" name="Group 22"/>
          <p:cNvGrpSpPr/>
          <p:nvPr/>
        </p:nvGrpSpPr>
        <p:grpSpPr>
          <a:xfrm>
            <a:off x="11873585" y="2848191"/>
            <a:ext cx="812101" cy="812101"/>
            <a:chOff x="0" y="0"/>
            <a:chExt cx="812800" cy="812800"/>
          </a:xfrm>
        </p:grpSpPr>
        <p:sp>
          <p:nvSpPr>
            <p:cNvPr id="23" name="Freeform 23"/>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1">
              <a:gsLst>
                <a:gs pos="0">
                  <a:srgbClr val="6B1124">
                    <a:alpha val="100000"/>
                  </a:srgbClr>
                </a:gs>
                <a:gs pos="50000">
                  <a:srgbClr val="000000">
                    <a:alpha val="100000"/>
                  </a:srgbClr>
                </a:gs>
                <a:gs pos="100000">
                  <a:srgbClr val="6B1124">
                    <a:alpha val="100000"/>
                  </a:srgbClr>
                </a:gs>
              </a:gsLst>
              <a:path path="circle">
                <a:fillToRect r="100000" b="100000"/>
              </a:path>
              <a:tileRect l="-100000" t="-100000"/>
            </a:gradFill>
            <a:ln w="9525" cap="sq">
              <a:solidFill>
                <a:srgbClr val="F4F4F4"/>
              </a:solidFill>
              <a:prstDash val="solid"/>
              <a:miter/>
            </a:ln>
          </p:spPr>
          <p:txBody>
            <a:bodyPr/>
            <a:lstStyle/>
            <a:p>
              <a:endParaRPr lang="en-PH"/>
            </a:p>
          </p:txBody>
        </p:sp>
        <p:sp>
          <p:nvSpPr>
            <p:cNvPr id="24" name="TextBox 24"/>
            <p:cNvSpPr txBox="1"/>
            <p:nvPr/>
          </p:nvSpPr>
          <p:spPr>
            <a:xfrm>
              <a:off x="76200" y="9525"/>
              <a:ext cx="660400" cy="727075"/>
            </a:xfrm>
            <a:prstGeom prst="rect">
              <a:avLst/>
            </a:prstGeom>
          </p:spPr>
          <p:txBody>
            <a:bodyPr lIns="50800" tIns="50800" rIns="50800" bIns="50800" rtlCol="0" anchor="ctr"/>
            <a:lstStyle/>
            <a:p>
              <a:pPr marL="0" lvl="0" indent="0" algn="ctr">
                <a:lnSpc>
                  <a:spcPts val="3108"/>
                </a:lnSpc>
              </a:pPr>
              <a:r>
                <a:rPr lang="en-US" sz="2220" b="1" spc="46">
                  <a:solidFill>
                    <a:srgbClr val="FFFFFF"/>
                  </a:solidFill>
                  <a:latin typeface="Poppins Medium"/>
                  <a:ea typeface="Poppins Medium"/>
                  <a:cs typeface="Poppins Medium"/>
                  <a:sym typeface="Poppins Medium"/>
                </a:rPr>
                <a:t>2</a:t>
              </a:r>
            </a:p>
          </p:txBody>
        </p:sp>
      </p:grpSp>
      <p:grpSp>
        <p:nvGrpSpPr>
          <p:cNvPr id="25" name="Group 25"/>
          <p:cNvGrpSpPr/>
          <p:nvPr/>
        </p:nvGrpSpPr>
        <p:grpSpPr>
          <a:xfrm>
            <a:off x="11873585" y="4737450"/>
            <a:ext cx="812101" cy="812101"/>
            <a:chOff x="0" y="0"/>
            <a:chExt cx="812800" cy="812800"/>
          </a:xfrm>
        </p:grpSpPr>
        <p:sp>
          <p:nvSpPr>
            <p:cNvPr id="26" name="Freeform 26"/>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1">
              <a:gsLst>
                <a:gs pos="0">
                  <a:srgbClr val="6B1124">
                    <a:alpha val="100000"/>
                  </a:srgbClr>
                </a:gs>
                <a:gs pos="50000">
                  <a:srgbClr val="000000">
                    <a:alpha val="100000"/>
                  </a:srgbClr>
                </a:gs>
                <a:gs pos="100000">
                  <a:srgbClr val="6B1124">
                    <a:alpha val="100000"/>
                  </a:srgbClr>
                </a:gs>
              </a:gsLst>
              <a:path path="circle">
                <a:fillToRect r="100000" b="100000"/>
              </a:path>
              <a:tileRect l="-100000" t="-100000"/>
            </a:gradFill>
            <a:ln w="9525" cap="sq">
              <a:solidFill>
                <a:srgbClr val="F4F4F4"/>
              </a:solidFill>
              <a:prstDash val="solid"/>
              <a:miter/>
            </a:ln>
          </p:spPr>
          <p:txBody>
            <a:bodyPr/>
            <a:lstStyle/>
            <a:p>
              <a:endParaRPr lang="en-PH"/>
            </a:p>
          </p:txBody>
        </p:sp>
        <p:sp>
          <p:nvSpPr>
            <p:cNvPr id="27" name="TextBox 27"/>
            <p:cNvSpPr txBox="1"/>
            <p:nvPr/>
          </p:nvSpPr>
          <p:spPr>
            <a:xfrm>
              <a:off x="76200" y="9525"/>
              <a:ext cx="660400" cy="727075"/>
            </a:xfrm>
            <a:prstGeom prst="rect">
              <a:avLst/>
            </a:prstGeom>
          </p:spPr>
          <p:txBody>
            <a:bodyPr lIns="50800" tIns="50800" rIns="50800" bIns="50800" rtlCol="0" anchor="ctr"/>
            <a:lstStyle/>
            <a:p>
              <a:pPr marL="0" lvl="0" indent="0" algn="ctr">
                <a:lnSpc>
                  <a:spcPts val="3108"/>
                </a:lnSpc>
              </a:pPr>
              <a:r>
                <a:rPr lang="en-US" sz="2220" b="1" spc="46">
                  <a:solidFill>
                    <a:srgbClr val="FFFFFF"/>
                  </a:solidFill>
                  <a:latin typeface="Poppins Medium"/>
                  <a:ea typeface="Poppins Medium"/>
                  <a:cs typeface="Poppins Medium"/>
                  <a:sym typeface="Poppins Medium"/>
                </a:rPr>
                <a:t>3</a:t>
              </a:r>
            </a:p>
          </p:txBody>
        </p:sp>
      </p:grpSp>
      <p:grpSp>
        <p:nvGrpSpPr>
          <p:cNvPr id="28" name="Group 28"/>
          <p:cNvGrpSpPr/>
          <p:nvPr/>
        </p:nvGrpSpPr>
        <p:grpSpPr>
          <a:xfrm>
            <a:off x="11873585" y="6584116"/>
            <a:ext cx="812101" cy="812101"/>
            <a:chOff x="0" y="0"/>
            <a:chExt cx="812800" cy="812800"/>
          </a:xfrm>
        </p:grpSpPr>
        <p:sp>
          <p:nvSpPr>
            <p:cNvPr id="29" name="Freeform 29"/>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1">
              <a:gsLst>
                <a:gs pos="0">
                  <a:srgbClr val="6B1124">
                    <a:alpha val="100000"/>
                  </a:srgbClr>
                </a:gs>
                <a:gs pos="50000">
                  <a:srgbClr val="000000">
                    <a:alpha val="100000"/>
                  </a:srgbClr>
                </a:gs>
                <a:gs pos="100000">
                  <a:srgbClr val="6B1124">
                    <a:alpha val="100000"/>
                  </a:srgbClr>
                </a:gs>
              </a:gsLst>
              <a:path path="circle">
                <a:fillToRect r="100000" b="100000"/>
              </a:path>
              <a:tileRect l="-100000" t="-100000"/>
            </a:gradFill>
            <a:ln w="9525" cap="sq">
              <a:solidFill>
                <a:srgbClr val="F4F4F4"/>
              </a:solidFill>
              <a:prstDash val="solid"/>
              <a:miter/>
            </a:ln>
          </p:spPr>
          <p:txBody>
            <a:bodyPr/>
            <a:lstStyle/>
            <a:p>
              <a:endParaRPr lang="en-PH"/>
            </a:p>
          </p:txBody>
        </p:sp>
        <p:sp>
          <p:nvSpPr>
            <p:cNvPr id="30" name="TextBox 30"/>
            <p:cNvSpPr txBox="1"/>
            <p:nvPr/>
          </p:nvSpPr>
          <p:spPr>
            <a:xfrm>
              <a:off x="76200" y="9525"/>
              <a:ext cx="660400" cy="727075"/>
            </a:xfrm>
            <a:prstGeom prst="rect">
              <a:avLst/>
            </a:prstGeom>
          </p:spPr>
          <p:txBody>
            <a:bodyPr lIns="50800" tIns="50800" rIns="50800" bIns="50800" rtlCol="0" anchor="ctr"/>
            <a:lstStyle/>
            <a:p>
              <a:pPr marL="0" lvl="0" indent="0" algn="ctr">
                <a:lnSpc>
                  <a:spcPts val="3108"/>
                </a:lnSpc>
              </a:pPr>
              <a:r>
                <a:rPr lang="en-US" sz="2220" b="1" spc="46">
                  <a:solidFill>
                    <a:srgbClr val="FFFFFF"/>
                  </a:solidFill>
                  <a:latin typeface="Poppins Medium"/>
                  <a:ea typeface="Poppins Medium"/>
                  <a:cs typeface="Poppins Medium"/>
                  <a:sym typeface="Poppins Medium"/>
                </a:rPr>
                <a:t>4</a:t>
              </a:r>
            </a:p>
          </p:txBody>
        </p:sp>
      </p:grpSp>
      <p:grpSp>
        <p:nvGrpSpPr>
          <p:cNvPr id="31" name="Group 31"/>
          <p:cNvGrpSpPr/>
          <p:nvPr/>
        </p:nvGrpSpPr>
        <p:grpSpPr>
          <a:xfrm>
            <a:off x="11873585" y="8472542"/>
            <a:ext cx="812101" cy="812101"/>
            <a:chOff x="0" y="0"/>
            <a:chExt cx="812800" cy="812800"/>
          </a:xfrm>
        </p:grpSpPr>
        <p:sp>
          <p:nvSpPr>
            <p:cNvPr id="32" name="Freeform 32"/>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1">
              <a:gsLst>
                <a:gs pos="0">
                  <a:srgbClr val="6B1124">
                    <a:alpha val="100000"/>
                  </a:srgbClr>
                </a:gs>
                <a:gs pos="50000">
                  <a:srgbClr val="000000">
                    <a:alpha val="100000"/>
                  </a:srgbClr>
                </a:gs>
                <a:gs pos="100000">
                  <a:srgbClr val="6B1124">
                    <a:alpha val="100000"/>
                  </a:srgbClr>
                </a:gs>
              </a:gsLst>
              <a:path path="circle">
                <a:fillToRect r="100000" b="100000"/>
              </a:path>
              <a:tileRect l="-100000" t="-100000"/>
            </a:gradFill>
            <a:ln w="9525" cap="sq">
              <a:solidFill>
                <a:srgbClr val="F4F4F4"/>
              </a:solidFill>
              <a:prstDash val="solid"/>
              <a:miter/>
            </a:ln>
          </p:spPr>
          <p:txBody>
            <a:bodyPr/>
            <a:lstStyle/>
            <a:p>
              <a:endParaRPr lang="en-PH"/>
            </a:p>
          </p:txBody>
        </p:sp>
        <p:sp>
          <p:nvSpPr>
            <p:cNvPr id="33" name="TextBox 33"/>
            <p:cNvSpPr txBox="1"/>
            <p:nvPr/>
          </p:nvSpPr>
          <p:spPr>
            <a:xfrm>
              <a:off x="76200" y="9525"/>
              <a:ext cx="660400" cy="727075"/>
            </a:xfrm>
            <a:prstGeom prst="rect">
              <a:avLst/>
            </a:prstGeom>
          </p:spPr>
          <p:txBody>
            <a:bodyPr lIns="50800" tIns="50800" rIns="50800" bIns="50800" rtlCol="0" anchor="ctr"/>
            <a:lstStyle/>
            <a:p>
              <a:pPr marL="0" lvl="0" indent="0" algn="ctr">
                <a:lnSpc>
                  <a:spcPts val="3108"/>
                </a:lnSpc>
              </a:pPr>
              <a:r>
                <a:rPr lang="en-US" sz="2220" b="1" spc="46">
                  <a:solidFill>
                    <a:srgbClr val="FFFFFF"/>
                  </a:solidFill>
                  <a:latin typeface="Poppins Medium"/>
                  <a:ea typeface="Poppins Medium"/>
                  <a:cs typeface="Poppins Medium"/>
                  <a:sym typeface="Poppins Medium"/>
                </a:rPr>
                <a:t>5</a:t>
              </a:r>
            </a:p>
          </p:txBody>
        </p:sp>
      </p:grpSp>
      <p:grpSp>
        <p:nvGrpSpPr>
          <p:cNvPr id="34" name="Group 34"/>
          <p:cNvGrpSpPr/>
          <p:nvPr/>
        </p:nvGrpSpPr>
        <p:grpSpPr>
          <a:xfrm>
            <a:off x="1028700" y="1864215"/>
            <a:ext cx="9306328" cy="5541606"/>
            <a:chOff x="0" y="0"/>
            <a:chExt cx="12408437" cy="7388808"/>
          </a:xfrm>
        </p:grpSpPr>
        <p:sp>
          <p:nvSpPr>
            <p:cNvPr id="35" name="TextBox 35"/>
            <p:cNvSpPr txBox="1"/>
            <p:nvPr/>
          </p:nvSpPr>
          <p:spPr>
            <a:xfrm>
              <a:off x="0" y="114300"/>
              <a:ext cx="11221669" cy="1619250"/>
            </a:xfrm>
            <a:prstGeom prst="rect">
              <a:avLst/>
            </a:prstGeom>
          </p:spPr>
          <p:txBody>
            <a:bodyPr lIns="0" tIns="0" rIns="0" bIns="0" rtlCol="0" anchor="t">
              <a:spAutoFit/>
            </a:bodyPr>
            <a:lstStyle/>
            <a:p>
              <a:pPr marL="0" lvl="0" indent="0" algn="l">
                <a:lnSpc>
                  <a:spcPts val="8122"/>
                </a:lnSpc>
              </a:pPr>
              <a:r>
                <a:rPr lang="en-US" sz="8550" b="1" spc="-359" dirty="0">
                  <a:solidFill>
                    <a:srgbClr val="F4F4F4"/>
                  </a:solidFill>
                  <a:latin typeface="Poppins Medium"/>
                  <a:ea typeface="Poppins Medium"/>
                  <a:cs typeface="Poppins Medium"/>
                  <a:sym typeface="Poppins Medium"/>
                </a:rPr>
                <a:t>Data Cleaning</a:t>
              </a:r>
            </a:p>
          </p:txBody>
        </p:sp>
        <p:sp>
          <p:nvSpPr>
            <p:cNvPr id="36" name="TextBox 36"/>
            <p:cNvSpPr txBox="1"/>
            <p:nvPr/>
          </p:nvSpPr>
          <p:spPr>
            <a:xfrm>
              <a:off x="0" y="4557817"/>
              <a:ext cx="9289355" cy="650640"/>
            </a:xfrm>
            <a:prstGeom prst="rect">
              <a:avLst/>
            </a:prstGeom>
          </p:spPr>
          <p:txBody>
            <a:bodyPr lIns="0" tIns="0" rIns="0" bIns="0" rtlCol="0" anchor="t">
              <a:spAutoFit/>
            </a:bodyPr>
            <a:lstStyle/>
            <a:p>
              <a:pPr marL="0" lvl="0" indent="0" algn="l">
                <a:lnSpc>
                  <a:spcPts val="3947"/>
                </a:lnSpc>
                <a:spcBef>
                  <a:spcPct val="0"/>
                </a:spcBef>
              </a:pPr>
              <a:r>
                <a:rPr lang="en-US" sz="2819" spc="-118">
                  <a:solidFill>
                    <a:srgbClr val="F4F4F4"/>
                  </a:solidFill>
                  <a:latin typeface="Poppins"/>
                  <a:ea typeface="Poppins"/>
                  <a:cs typeface="Poppins"/>
                  <a:sym typeface="Poppins"/>
                </a:rPr>
                <a:t>5 Preprocessing Steps Applied</a:t>
              </a:r>
            </a:p>
          </p:txBody>
        </p:sp>
        <p:sp>
          <p:nvSpPr>
            <p:cNvPr id="37" name="TextBox 37"/>
            <p:cNvSpPr txBox="1"/>
            <p:nvPr/>
          </p:nvSpPr>
          <p:spPr>
            <a:xfrm>
              <a:off x="0" y="5931656"/>
              <a:ext cx="12408437" cy="1457152"/>
            </a:xfrm>
            <a:prstGeom prst="rect">
              <a:avLst/>
            </a:prstGeom>
          </p:spPr>
          <p:txBody>
            <a:bodyPr lIns="0" tIns="0" rIns="0" bIns="0" rtlCol="0" anchor="t">
              <a:spAutoFit/>
            </a:bodyPr>
            <a:lstStyle/>
            <a:p>
              <a:pPr marL="0" lvl="0" indent="0" algn="just">
                <a:lnSpc>
                  <a:spcPts val="2238"/>
                </a:lnSpc>
                <a:spcBef>
                  <a:spcPct val="0"/>
                </a:spcBef>
              </a:pPr>
              <a:r>
                <a:rPr lang="en-US" sz="1598">
                  <a:solidFill>
                    <a:srgbClr val="F4F4F4"/>
                  </a:solidFill>
                  <a:latin typeface="Inter Extra-Light"/>
                  <a:ea typeface="Inter Extra-Light"/>
                  <a:cs typeface="Inter Extra-Light"/>
                  <a:sym typeface="Inter Extra-Light"/>
                </a:rPr>
                <a:t>The raw dataset of 891 reviews underwent systematic cleaning to ensure data quality and consistency. Key transformations included removing redundant fields, standardizing naming conventions, encoding categorical variables, handling missing values, and enforcing correct data types across all rating columns.</a:t>
              </a:r>
            </a:p>
          </p:txBody>
        </p:sp>
      </p:gr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gradFill rotWithShape="1">
          <a:gsLst>
            <a:gs pos="0">
              <a:srgbClr val="6B1124">
                <a:alpha val="100000"/>
              </a:srgbClr>
            </a:gs>
            <a:gs pos="50000">
              <a:srgbClr val="000000">
                <a:alpha val="100000"/>
              </a:srgbClr>
            </a:gs>
            <a:gs pos="100000">
              <a:srgbClr val="6B1124">
                <a:alpha val="100000"/>
              </a:srgbClr>
            </a:gs>
          </a:gsLst>
          <a:path path="circle">
            <a:fillToRect r="100000" b="100000"/>
          </a:path>
          <a:tileRect l="-100000" t="-100000"/>
        </a:gradFill>
        <a:effectLst/>
      </p:bgPr>
    </p:bg>
    <p:spTree>
      <p:nvGrpSpPr>
        <p:cNvPr id="1" name="">
          <a:extLst>
            <a:ext uri="{FF2B5EF4-FFF2-40B4-BE49-F238E27FC236}">
              <a16:creationId xmlns:a16="http://schemas.microsoft.com/office/drawing/2014/main" id="{B10ADF8E-92B7-D6C2-5A18-9D7035CEFACB}"/>
            </a:ext>
          </a:extLst>
        </p:cNvPr>
        <p:cNvGrpSpPr/>
        <p:nvPr/>
      </p:nvGrpSpPr>
      <p:grpSpPr>
        <a:xfrm>
          <a:off x="0" y="0"/>
          <a:ext cx="0" cy="0"/>
          <a:chOff x="0" y="0"/>
          <a:chExt cx="0" cy="0"/>
        </a:xfrm>
      </p:grpSpPr>
      <p:sp>
        <p:nvSpPr>
          <p:cNvPr id="3" name="AutoShape 3">
            <a:extLst>
              <a:ext uri="{FF2B5EF4-FFF2-40B4-BE49-F238E27FC236}">
                <a16:creationId xmlns:a16="http://schemas.microsoft.com/office/drawing/2014/main" id="{2BBE2C69-3928-72AD-32DA-6A92092314A8}"/>
              </a:ext>
            </a:extLst>
          </p:cNvPr>
          <p:cNvSpPr/>
          <p:nvPr/>
        </p:nvSpPr>
        <p:spPr>
          <a:xfrm flipV="1">
            <a:off x="12279636" y="0"/>
            <a:ext cx="0" cy="10321060"/>
          </a:xfrm>
          <a:prstGeom prst="line">
            <a:avLst/>
          </a:prstGeom>
          <a:ln w="9525" cap="rnd">
            <a:solidFill>
              <a:srgbClr val="F4F4F4"/>
            </a:solidFill>
            <a:prstDash val="solid"/>
            <a:headEnd type="none" w="sm" len="sm"/>
            <a:tailEnd type="none" w="sm" len="sm"/>
          </a:ln>
        </p:spPr>
        <p:txBody>
          <a:bodyPr/>
          <a:lstStyle/>
          <a:p>
            <a:endParaRPr lang="en-PH"/>
          </a:p>
        </p:txBody>
      </p:sp>
      <p:grpSp>
        <p:nvGrpSpPr>
          <p:cNvPr id="4" name="Group 4">
            <a:extLst>
              <a:ext uri="{FF2B5EF4-FFF2-40B4-BE49-F238E27FC236}">
                <a16:creationId xmlns:a16="http://schemas.microsoft.com/office/drawing/2014/main" id="{666A53D9-79E2-857A-11F1-2230D5425C52}"/>
              </a:ext>
            </a:extLst>
          </p:cNvPr>
          <p:cNvGrpSpPr/>
          <p:nvPr/>
        </p:nvGrpSpPr>
        <p:grpSpPr>
          <a:xfrm>
            <a:off x="13356138" y="1028700"/>
            <a:ext cx="3903162" cy="823858"/>
            <a:chOff x="0" y="0"/>
            <a:chExt cx="1027993" cy="216983"/>
          </a:xfrm>
        </p:grpSpPr>
        <p:sp>
          <p:nvSpPr>
            <p:cNvPr id="5" name="Freeform 5">
              <a:extLst>
                <a:ext uri="{FF2B5EF4-FFF2-40B4-BE49-F238E27FC236}">
                  <a16:creationId xmlns:a16="http://schemas.microsoft.com/office/drawing/2014/main" id="{02AF564E-7B48-1D26-93A8-988B7A469C3A}"/>
                </a:ext>
              </a:extLst>
            </p:cNvPr>
            <p:cNvSpPr/>
            <p:nvPr/>
          </p:nvSpPr>
          <p:spPr>
            <a:xfrm>
              <a:off x="0" y="0"/>
              <a:ext cx="1027993" cy="216983"/>
            </a:xfrm>
            <a:custGeom>
              <a:avLst/>
              <a:gdLst/>
              <a:ahLst/>
              <a:cxnLst/>
              <a:rect l="l" t="t" r="r" b="b"/>
              <a:pathLst>
                <a:path w="1027993" h="216983">
                  <a:moveTo>
                    <a:pt x="108492" y="0"/>
                  </a:moveTo>
                  <a:lnTo>
                    <a:pt x="919502" y="0"/>
                  </a:lnTo>
                  <a:cubicBezTo>
                    <a:pt x="979420" y="0"/>
                    <a:pt x="1027993" y="48573"/>
                    <a:pt x="1027993" y="108492"/>
                  </a:cubicBezTo>
                  <a:lnTo>
                    <a:pt x="1027993" y="108492"/>
                  </a:lnTo>
                  <a:cubicBezTo>
                    <a:pt x="1027993" y="168410"/>
                    <a:pt x="979420" y="216983"/>
                    <a:pt x="919502" y="216983"/>
                  </a:cubicBezTo>
                  <a:lnTo>
                    <a:pt x="108492" y="216983"/>
                  </a:lnTo>
                  <a:cubicBezTo>
                    <a:pt x="48573" y="216983"/>
                    <a:pt x="0" y="168410"/>
                    <a:pt x="0" y="108492"/>
                  </a:cubicBezTo>
                  <a:lnTo>
                    <a:pt x="0" y="108492"/>
                  </a:lnTo>
                  <a:cubicBezTo>
                    <a:pt x="0" y="48573"/>
                    <a:pt x="48573" y="0"/>
                    <a:pt x="108492" y="0"/>
                  </a:cubicBezTo>
                  <a:close/>
                </a:path>
              </a:pathLst>
            </a:custGeom>
            <a:gradFill rotWithShape="1">
              <a:gsLst>
                <a:gs pos="0">
                  <a:srgbClr val="590E1E">
                    <a:alpha val="100000"/>
                  </a:srgbClr>
                </a:gs>
                <a:gs pos="100000">
                  <a:srgbClr val="000000">
                    <a:alpha val="100000"/>
                  </a:srgbClr>
                </a:gs>
              </a:gsLst>
              <a:lin ang="0"/>
            </a:gradFill>
            <a:ln w="9525" cap="rnd">
              <a:solidFill>
                <a:srgbClr val="F4F4F4"/>
              </a:solidFill>
              <a:prstDash val="solid"/>
              <a:round/>
            </a:ln>
          </p:spPr>
          <p:txBody>
            <a:bodyPr/>
            <a:lstStyle/>
            <a:p>
              <a:endParaRPr lang="en-PH"/>
            </a:p>
          </p:txBody>
        </p:sp>
        <p:sp>
          <p:nvSpPr>
            <p:cNvPr id="6" name="TextBox 6">
              <a:extLst>
                <a:ext uri="{FF2B5EF4-FFF2-40B4-BE49-F238E27FC236}">
                  <a16:creationId xmlns:a16="http://schemas.microsoft.com/office/drawing/2014/main" id="{8D92EB3A-5151-B4AD-CB3B-A54CF7247236}"/>
                </a:ext>
              </a:extLst>
            </p:cNvPr>
            <p:cNvSpPr txBox="1"/>
            <p:nvPr/>
          </p:nvSpPr>
          <p:spPr>
            <a:xfrm>
              <a:off x="0" y="-76200"/>
              <a:ext cx="1027993" cy="293183"/>
            </a:xfrm>
            <a:prstGeom prst="rect">
              <a:avLst/>
            </a:prstGeom>
          </p:spPr>
          <p:txBody>
            <a:bodyPr lIns="50800" tIns="50800" rIns="50800" bIns="50800" rtlCol="0" anchor="ctr"/>
            <a:lstStyle/>
            <a:p>
              <a:pPr marL="0" lvl="0" indent="0" algn="ctr">
                <a:lnSpc>
                  <a:spcPts val="3527"/>
                </a:lnSpc>
              </a:pPr>
              <a:r>
                <a:rPr lang="en-US" sz="2519" b="1" spc="52">
                  <a:solidFill>
                    <a:srgbClr val="F4F4F4"/>
                  </a:solidFill>
                  <a:latin typeface="Poppins Medium"/>
                  <a:ea typeface="Poppins Medium"/>
                  <a:cs typeface="Poppins Medium"/>
                  <a:sym typeface="Poppins Medium"/>
                </a:rPr>
                <a:t>DROP INDEX COLUMN</a:t>
              </a:r>
            </a:p>
          </p:txBody>
        </p:sp>
      </p:grpSp>
      <p:grpSp>
        <p:nvGrpSpPr>
          <p:cNvPr id="19" name="Group 19">
            <a:extLst>
              <a:ext uri="{FF2B5EF4-FFF2-40B4-BE49-F238E27FC236}">
                <a16:creationId xmlns:a16="http://schemas.microsoft.com/office/drawing/2014/main" id="{078A8503-035D-665A-0D96-D09838ED23EA}"/>
              </a:ext>
            </a:extLst>
          </p:cNvPr>
          <p:cNvGrpSpPr/>
          <p:nvPr/>
        </p:nvGrpSpPr>
        <p:grpSpPr>
          <a:xfrm>
            <a:off x="11873585" y="1040458"/>
            <a:ext cx="812101" cy="812101"/>
            <a:chOff x="0" y="0"/>
            <a:chExt cx="812800" cy="812800"/>
          </a:xfrm>
        </p:grpSpPr>
        <p:sp>
          <p:nvSpPr>
            <p:cNvPr id="20" name="Freeform 20">
              <a:extLst>
                <a:ext uri="{FF2B5EF4-FFF2-40B4-BE49-F238E27FC236}">
                  <a16:creationId xmlns:a16="http://schemas.microsoft.com/office/drawing/2014/main" id="{F8C4E72D-E9C8-19C5-229F-30CE10EA44AE}"/>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1">
              <a:gsLst>
                <a:gs pos="0">
                  <a:srgbClr val="6B1124">
                    <a:alpha val="100000"/>
                  </a:srgbClr>
                </a:gs>
                <a:gs pos="50000">
                  <a:srgbClr val="000000">
                    <a:alpha val="100000"/>
                  </a:srgbClr>
                </a:gs>
                <a:gs pos="100000">
                  <a:srgbClr val="6B1124">
                    <a:alpha val="100000"/>
                  </a:srgbClr>
                </a:gs>
              </a:gsLst>
              <a:path path="circle">
                <a:fillToRect r="100000" b="100000"/>
              </a:path>
              <a:tileRect l="-100000" t="-100000"/>
            </a:gradFill>
            <a:ln w="9525" cap="sq">
              <a:solidFill>
                <a:srgbClr val="F4F4F4"/>
              </a:solidFill>
              <a:prstDash val="solid"/>
              <a:miter/>
            </a:ln>
          </p:spPr>
          <p:txBody>
            <a:bodyPr/>
            <a:lstStyle/>
            <a:p>
              <a:endParaRPr lang="en-PH"/>
            </a:p>
          </p:txBody>
        </p:sp>
        <p:sp>
          <p:nvSpPr>
            <p:cNvPr id="21" name="TextBox 21">
              <a:extLst>
                <a:ext uri="{FF2B5EF4-FFF2-40B4-BE49-F238E27FC236}">
                  <a16:creationId xmlns:a16="http://schemas.microsoft.com/office/drawing/2014/main" id="{47262200-22FB-0C1C-602B-F84D2BE4E266}"/>
                </a:ext>
              </a:extLst>
            </p:cNvPr>
            <p:cNvSpPr txBox="1"/>
            <p:nvPr/>
          </p:nvSpPr>
          <p:spPr>
            <a:xfrm>
              <a:off x="76200" y="9525"/>
              <a:ext cx="660400" cy="727075"/>
            </a:xfrm>
            <a:prstGeom prst="rect">
              <a:avLst/>
            </a:prstGeom>
          </p:spPr>
          <p:txBody>
            <a:bodyPr lIns="50800" tIns="50800" rIns="50800" bIns="50800" rtlCol="0" anchor="ctr"/>
            <a:lstStyle/>
            <a:p>
              <a:pPr marL="0" lvl="0" indent="0" algn="ctr">
                <a:lnSpc>
                  <a:spcPts val="3110"/>
                </a:lnSpc>
              </a:pPr>
              <a:r>
                <a:rPr lang="en-US" sz="2221" b="1" spc="46">
                  <a:solidFill>
                    <a:srgbClr val="FFFFFF"/>
                  </a:solidFill>
                  <a:latin typeface="Poppins Medium"/>
                  <a:ea typeface="Poppins Medium"/>
                  <a:cs typeface="Poppins Medium"/>
                  <a:sym typeface="Poppins Medium"/>
                </a:rPr>
                <a:t>1</a:t>
              </a:r>
            </a:p>
          </p:txBody>
        </p:sp>
      </p:grpSp>
      <p:grpSp>
        <p:nvGrpSpPr>
          <p:cNvPr id="22" name="Group 22">
            <a:extLst>
              <a:ext uri="{FF2B5EF4-FFF2-40B4-BE49-F238E27FC236}">
                <a16:creationId xmlns:a16="http://schemas.microsoft.com/office/drawing/2014/main" id="{76AD8E29-E727-098A-498F-21C9CC64F101}"/>
              </a:ext>
            </a:extLst>
          </p:cNvPr>
          <p:cNvGrpSpPr/>
          <p:nvPr/>
        </p:nvGrpSpPr>
        <p:grpSpPr>
          <a:xfrm>
            <a:off x="11873585" y="2848191"/>
            <a:ext cx="812101" cy="812101"/>
            <a:chOff x="0" y="0"/>
            <a:chExt cx="812800" cy="812800"/>
          </a:xfrm>
        </p:grpSpPr>
        <p:sp>
          <p:nvSpPr>
            <p:cNvPr id="23" name="Freeform 23">
              <a:extLst>
                <a:ext uri="{FF2B5EF4-FFF2-40B4-BE49-F238E27FC236}">
                  <a16:creationId xmlns:a16="http://schemas.microsoft.com/office/drawing/2014/main" id="{748EA509-4194-5081-D716-39C803B2FF93}"/>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1">
              <a:gsLst>
                <a:gs pos="0">
                  <a:srgbClr val="6B1124">
                    <a:alpha val="100000"/>
                  </a:srgbClr>
                </a:gs>
                <a:gs pos="50000">
                  <a:srgbClr val="000000">
                    <a:alpha val="100000"/>
                  </a:srgbClr>
                </a:gs>
                <a:gs pos="100000">
                  <a:srgbClr val="6B1124">
                    <a:alpha val="100000"/>
                  </a:srgbClr>
                </a:gs>
              </a:gsLst>
              <a:path path="circle">
                <a:fillToRect r="100000" b="100000"/>
              </a:path>
              <a:tileRect l="-100000" t="-100000"/>
            </a:gradFill>
            <a:ln w="9525" cap="sq">
              <a:solidFill>
                <a:srgbClr val="F4F4F4"/>
              </a:solidFill>
              <a:prstDash val="solid"/>
              <a:miter/>
            </a:ln>
          </p:spPr>
          <p:txBody>
            <a:bodyPr/>
            <a:lstStyle/>
            <a:p>
              <a:endParaRPr lang="en-PH"/>
            </a:p>
          </p:txBody>
        </p:sp>
        <p:sp>
          <p:nvSpPr>
            <p:cNvPr id="24" name="TextBox 24">
              <a:extLst>
                <a:ext uri="{FF2B5EF4-FFF2-40B4-BE49-F238E27FC236}">
                  <a16:creationId xmlns:a16="http://schemas.microsoft.com/office/drawing/2014/main" id="{ADB835BF-BEEA-2B5E-F1AA-834E21B7BBEC}"/>
                </a:ext>
              </a:extLst>
            </p:cNvPr>
            <p:cNvSpPr txBox="1"/>
            <p:nvPr/>
          </p:nvSpPr>
          <p:spPr>
            <a:xfrm>
              <a:off x="76200" y="9525"/>
              <a:ext cx="660400" cy="727075"/>
            </a:xfrm>
            <a:prstGeom prst="rect">
              <a:avLst/>
            </a:prstGeom>
          </p:spPr>
          <p:txBody>
            <a:bodyPr lIns="50800" tIns="50800" rIns="50800" bIns="50800" rtlCol="0" anchor="ctr"/>
            <a:lstStyle/>
            <a:p>
              <a:pPr marL="0" lvl="0" indent="0" algn="ctr">
                <a:lnSpc>
                  <a:spcPts val="3108"/>
                </a:lnSpc>
              </a:pPr>
              <a:r>
                <a:rPr lang="en-US" sz="2220" b="1" spc="46">
                  <a:solidFill>
                    <a:srgbClr val="FFFFFF"/>
                  </a:solidFill>
                  <a:latin typeface="Poppins Medium"/>
                  <a:ea typeface="Poppins Medium"/>
                  <a:cs typeface="Poppins Medium"/>
                  <a:sym typeface="Poppins Medium"/>
                </a:rPr>
                <a:t>2</a:t>
              </a:r>
            </a:p>
          </p:txBody>
        </p:sp>
      </p:grpSp>
      <p:grpSp>
        <p:nvGrpSpPr>
          <p:cNvPr id="25" name="Group 25">
            <a:extLst>
              <a:ext uri="{FF2B5EF4-FFF2-40B4-BE49-F238E27FC236}">
                <a16:creationId xmlns:a16="http://schemas.microsoft.com/office/drawing/2014/main" id="{AB29FFAD-2144-4351-C183-AD59D233DF43}"/>
              </a:ext>
            </a:extLst>
          </p:cNvPr>
          <p:cNvGrpSpPr/>
          <p:nvPr/>
        </p:nvGrpSpPr>
        <p:grpSpPr>
          <a:xfrm>
            <a:off x="11873585" y="4737450"/>
            <a:ext cx="812101" cy="812101"/>
            <a:chOff x="0" y="0"/>
            <a:chExt cx="812800" cy="812800"/>
          </a:xfrm>
        </p:grpSpPr>
        <p:sp>
          <p:nvSpPr>
            <p:cNvPr id="26" name="Freeform 26">
              <a:extLst>
                <a:ext uri="{FF2B5EF4-FFF2-40B4-BE49-F238E27FC236}">
                  <a16:creationId xmlns:a16="http://schemas.microsoft.com/office/drawing/2014/main" id="{A6AF032F-CCBF-64CE-A9B0-FAD31B51F59F}"/>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1">
              <a:gsLst>
                <a:gs pos="0">
                  <a:srgbClr val="6B1124">
                    <a:alpha val="100000"/>
                  </a:srgbClr>
                </a:gs>
                <a:gs pos="50000">
                  <a:srgbClr val="000000">
                    <a:alpha val="100000"/>
                  </a:srgbClr>
                </a:gs>
                <a:gs pos="100000">
                  <a:srgbClr val="6B1124">
                    <a:alpha val="100000"/>
                  </a:srgbClr>
                </a:gs>
              </a:gsLst>
              <a:path path="circle">
                <a:fillToRect r="100000" b="100000"/>
              </a:path>
              <a:tileRect l="-100000" t="-100000"/>
            </a:gradFill>
            <a:ln w="9525" cap="sq">
              <a:solidFill>
                <a:srgbClr val="F4F4F4"/>
              </a:solidFill>
              <a:prstDash val="solid"/>
              <a:miter/>
            </a:ln>
          </p:spPr>
          <p:txBody>
            <a:bodyPr/>
            <a:lstStyle/>
            <a:p>
              <a:endParaRPr lang="en-PH"/>
            </a:p>
          </p:txBody>
        </p:sp>
        <p:sp>
          <p:nvSpPr>
            <p:cNvPr id="27" name="TextBox 27">
              <a:extLst>
                <a:ext uri="{FF2B5EF4-FFF2-40B4-BE49-F238E27FC236}">
                  <a16:creationId xmlns:a16="http://schemas.microsoft.com/office/drawing/2014/main" id="{96CA5D14-DF68-DA97-8722-1D5B768C7F48}"/>
                </a:ext>
              </a:extLst>
            </p:cNvPr>
            <p:cNvSpPr txBox="1"/>
            <p:nvPr/>
          </p:nvSpPr>
          <p:spPr>
            <a:xfrm>
              <a:off x="76200" y="9525"/>
              <a:ext cx="660400" cy="727075"/>
            </a:xfrm>
            <a:prstGeom prst="rect">
              <a:avLst/>
            </a:prstGeom>
          </p:spPr>
          <p:txBody>
            <a:bodyPr lIns="50800" tIns="50800" rIns="50800" bIns="50800" rtlCol="0" anchor="ctr"/>
            <a:lstStyle/>
            <a:p>
              <a:pPr marL="0" lvl="0" indent="0" algn="ctr">
                <a:lnSpc>
                  <a:spcPts val="3108"/>
                </a:lnSpc>
              </a:pPr>
              <a:r>
                <a:rPr lang="en-US" sz="2220" b="1" spc="46">
                  <a:solidFill>
                    <a:srgbClr val="FFFFFF"/>
                  </a:solidFill>
                  <a:latin typeface="Poppins Medium"/>
                  <a:ea typeface="Poppins Medium"/>
                  <a:cs typeface="Poppins Medium"/>
                  <a:sym typeface="Poppins Medium"/>
                </a:rPr>
                <a:t>3</a:t>
              </a:r>
            </a:p>
          </p:txBody>
        </p:sp>
      </p:grpSp>
      <p:grpSp>
        <p:nvGrpSpPr>
          <p:cNvPr id="28" name="Group 28">
            <a:extLst>
              <a:ext uri="{FF2B5EF4-FFF2-40B4-BE49-F238E27FC236}">
                <a16:creationId xmlns:a16="http://schemas.microsoft.com/office/drawing/2014/main" id="{C3B5DCA7-3656-6053-BAF2-7F103D318D43}"/>
              </a:ext>
            </a:extLst>
          </p:cNvPr>
          <p:cNvGrpSpPr/>
          <p:nvPr/>
        </p:nvGrpSpPr>
        <p:grpSpPr>
          <a:xfrm>
            <a:off x="11873585" y="6584116"/>
            <a:ext cx="812101" cy="812101"/>
            <a:chOff x="0" y="0"/>
            <a:chExt cx="812800" cy="812800"/>
          </a:xfrm>
        </p:grpSpPr>
        <p:sp>
          <p:nvSpPr>
            <p:cNvPr id="29" name="Freeform 29">
              <a:extLst>
                <a:ext uri="{FF2B5EF4-FFF2-40B4-BE49-F238E27FC236}">
                  <a16:creationId xmlns:a16="http://schemas.microsoft.com/office/drawing/2014/main" id="{C48C6B3B-7E67-6B43-F4F2-56A056A3F16A}"/>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1">
              <a:gsLst>
                <a:gs pos="0">
                  <a:srgbClr val="6B1124">
                    <a:alpha val="100000"/>
                  </a:srgbClr>
                </a:gs>
                <a:gs pos="50000">
                  <a:srgbClr val="000000">
                    <a:alpha val="100000"/>
                  </a:srgbClr>
                </a:gs>
                <a:gs pos="100000">
                  <a:srgbClr val="6B1124">
                    <a:alpha val="100000"/>
                  </a:srgbClr>
                </a:gs>
              </a:gsLst>
              <a:path path="circle">
                <a:fillToRect r="100000" b="100000"/>
              </a:path>
              <a:tileRect l="-100000" t="-100000"/>
            </a:gradFill>
            <a:ln w="9525" cap="sq">
              <a:solidFill>
                <a:srgbClr val="F4F4F4"/>
              </a:solidFill>
              <a:prstDash val="solid"/>
              <a:miter/>
            </a:ln>
          </p:spPr>
          <p:txBody>
            <a:bodyPr/>
            <a:lstStyle/>
            <a:p>
              <a:endParaRPr lang="en-PH"/>
            </a:p>
          </p:txBody>
        </p:sp>
        <p:sp>
          <p:nvSpPr>
            <p:cNvPr id="30" name="TextBox 30">
              <a:extLst>
                <a:ext uri="{FF2B5EF4-FFF2-40B4-BE49-F238E27FC236}">
                  <a16:creationId xmlns:a16="http://schemas.microsoft.com/office/drawing/2014/main" id="{344DBBF1-90A7-6232-4FD1-C122262A0592}"/>
                </a:ext>
              </a:extLst>
            </p:cNvPr>
            <p:cNvSpPr txBox="1"/>
            <p:nvPr/>
          </p:nvSpPr>
          <p:spPr>
            <a:xfrm>
              <a:off x="76200" y="9525"/>
              <a:ext cx="660400" cy="727075"/>
            </a:xfrm>
            <a:prstGeom prst="rect">
              <a:avLst/>
            </a:prstGeom>
          </p:spPr>
          <p:txBody>
            <a:bodyPr lIns="50800" tIns="50800" rIns="50800" bIns="50800" rtlCol="0" anchor="ctr"/>
            <a:lstStyle/>
            <a:p>
              <a:pPr marL="0" lvl="0" indent="0" algn="ctr">
                <a:lnSpc>
                  <a:spcPts val="3108"/>
                </a:lnSpc>
              </a:pPr>
              <a:r>
                <a:rPr lang="en-US" sz="2220" b="1" spc="46">
                  <a:solidFill>
                    <a:srgbClr val="FFFFFF"/>
                  </a:solidFill>
                  <a:latin typeface="Poppins Medium"/>
                  <a:ea typeface="Poppins Medium"/>
                  <a:cs typeface="Poppins Medium"/>
                  <a:sym typeface="Poppins Medium"/>
                </a:rPr>
                <a:t>4</a:t>
              </a:r>
            </a:p>
          </p:txBody>
        </p:sp>
      </p:grpSp>
      <p:grpSp>
        <p:nvGrpSpPr>
          <p:cNvPr id="31" name="Group 31">
            <a:extLst>
              <a:ext uri="{FF2B5EF4-FFF2-40B4-BE49-F238E27FC236}">
                <a16:creationId xmlns:a16="http://schemas.microsoft.com/office/drawing/2014/main" id="{8A55CBFE-0F17-17EF-C281-E3E5AC255AE7}"/>
              </a:ext>
            </a:extLst>
          </p:cNvPr>
          <p:cNvGrpSpPr/>
          <p:nvPr/>
        </p:nvGrpSpPr>
        <p:grpSpPr>
          <a:xfrm>
            <a:off x="11873585" y="8472542"/>
            <a:ext cx="812101" cy="812101"/>
            <a:chOff x="0" y="0"/>
            <a:chExt cx="812800" cy="812800"/>
          </a:xfrm>
        </p:grpSpPr>
        <p:sp>
          <p:nvSpPr>
            <p:cNvPr id="32" name="Freeform 32">
              <a:extLst>
                <a:ext uri="{FF2B5EF4-FFF2-40B4-BE49-F238E27FC236}">
                  <a16:creationId xmlns:a16="http://schemas.microsoft.com/office/drawing/2014/main" id="{6847D030-9F29-D22D-550A-CC6828D901E1}"/>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1">
              <a:gsLst>
                <a:gs pos="0">
                  <a:srgbClr val="6B1124">
                    <a:alpha val="100000"/>
                  </a:srgbClr>
                </a:gs>
                <a:gs pos="50000">
                  <a:srgbClr val="000000">
                    <a:alpha val="100000"/>
                  </a:srgbClr>
                </a:gs>
                <a:gs pos="100000">
                  <a:srgbClr val="6B1124">
                    <a:alpha val="100000"/>
                  </a:srgbClr>
                </a:gs>
              </a:gsLst>
              <a:path path="circle">
                <a:fillToRect r="100000" b="100000"/>
              </a:path>
              <a:tileRect l="-100000" t="-100000"/>
            </a:gradFill>
            <a:ln w="9525" cap="sq">
              <a:solidFill>
                <a:srgbClr val="F4F4F4"/>
              </a:solidFill>
              <a:prstDash val="solid"/>
              <a:miter/>
            </a:ln>
          </p:spPr>
          <p:txBody>
            <a:bodyPr/>
            <a:lstStyle/>
            <a:p>
              <a:endParaRPr lang="en-PH"/>
            </a:p>
          </p:txBody>
        </p:sp>
        <p:sp>
          <p:nvSpPr>
            <p:cNvPr id="33" name="TextBox 33">
              <a:extLst>
                <a:ext uri="{FF2B5EF4-FFF2-40B4-BE49-F238E27FC236}">
                  <a16:creationId xmlns:a16="http://schemas.microsoft.com/office/drawing/2014/main" id="{FB80CA66-40D7-0843-04C6-8B18360AA551}"/>
                </a:ext>
              </a:extLst>
            </p:cNvPr>
            <p:cNvSpPr txBox="1"/>
            <p:nvPr/>
          </p:nvSpPr>
          <p:spPr>
            <a:xfrm>
              <a:off x="76200" y="9525"/>
              <a:ext cx="660400" cy="727075"/>
            </a:xfrm>
            <a:prstGeom prst="rect">
              <a:avLst/>
            </a:prstGeom>
          </p:spPr>
          <p:txBody>
            <a:bodyPr lIns="50800" tIns="50800" rIns="50800" bIns="50800" rtlCol="0" anchor="ctr"/>
            <a:lstStyle/>
            <a:p>
              <a:pPr marL="0" lvl="0" indent="0" algn="ctr">
                <a:lnSpc>
                  <a:spcPts val="3108"/>
                </a:lnSpc>
              </a:pPr>
              <a:r>
                <a:rPr lang="en-US" sz="2220" b="1" spc="46">
                  <a:solidFill>
                    <a:srgbClr val="FFFFFF"/>
                  </a:solidFill>
                  <a:latin typeface="Poppins Medium"/>
                  <a:ea typeface="Poppins Medium"/>
                  <a:cs typeface="Poppins Medium"/>
                  <a:sym typeface="Poppins Medium"/>
                </a:rPr>
                <a:t>5</a:t>
              </a:r>
            </a:p>
          </p:txBody>
        </p:sp>
      </p:grpSp>
      <p:pic>
        <p:nvPicPr>
          <p:cNvPr id="41" name="Picture 40">
            <a:extLst>
              <a:ext uri="{FF2B5EF4-FFF2-40B4-BE49-F238E27FC236}">
                <a16:creationId xmlns:a16="http://schemas.microsoft.com/office/drawing/2014/main" id="{508FCCBC-7498-65C3-5C3E-0742B90792FF}"/>
              </a:ext>
            </a:extLst>
          </p:cNvPr>
          <p:cNvPicPr>
            <a:picLocks noChangeAspect="1"/>
          </p:cNvPicPr>
          <p:nvPr/>
        </p:nvPicPr>
        <p:blipFill>
          <a:blip r:embed="rId2"/>
          <a:stretch>
            <a:fillRect/>
          </a:stretch>
        </p:blipFill>
        <p:spPr>
          <a:xfrm>
            <a:off x="888853" y="4245034"/>
            <a:ext cx="10239024" cy="1730316"/>
          </a:xfrm>
          <a:prstGeom prst="rect">
            <a:avLst/>
          </a:prstGeom>
        </p:spPr>
      </p:pic>
    </p:spTree>
    <p:extLst>
      <p:ext uri="{BB962C8B-B14F-4D97-AF65-F5344CB8AC3E}">
        <p14:creationId xmlns:p14="http://schemas.microsoft.com/office/powerpoint/2010/main" val="44052929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gradFill rotWithShape="1">
          <a:gsLst>
            <a:gs pos="0">
              <a:srgbClr val="6B1124">
                <a:alpha val="100000"/>
              </a:srgbClr>
            </a:gs>
            <a:gs pos="50000">
              <a:srgbClr val="000000">
                <a:alpha val="100000"/>
              </a:srgbClr>
            </a:gs>
            <a:gs pos="100000">
              <a:srgbClr val="6B1124">
                <a:alpha val="100000"/>
              </a:srgbClr>
            </a:gs>
          </a:gsLst>
          <a:path path="circle">
            <a:fillToRect r="100000" b="100000"/>
          </a:path>
          <a:tileRect l="-100000" t="-100000"/>
        </a:gradFill>
        <a:effectLst/>
      </p:bgPr>
    </p:bg>
    <p:spTree>
      <p:nvGrpSpPr>
        <p:cNvPr id="1" name="">
          <a:extLst>
            <a:ext uri="{FF2B5EF4-FFF2-40B4-BE49-F238E27FC236}">
              <a16:creationId xmlns:a16="http://schemas.microsoft.com/office/drawing/2014/main" id="{B28B2923-09D5-79CD-2782-63598B22DA58}"/>
            </a:ext>
          </a:extLst>
        </p:cNvPr>
        <p:cNvGrpSpPr/>
        <p:nvPr/>
      </p:nvGrpSpPr>
      <p:grpSpPr>
        <a:xfrm>
          <a:off x="0" y="0"/>
          <a:ext cx="0" cy="0"/>
          <a:chOff x="0" y="0"/>
          <a:chExt cx="0" cy="0"/>
        </a:xfrm>
      </p:grpSpPr>
      <p:sp>
        <p:nvSpPr>
          <p:cNvPr id="3" name="AutoShape 3">
            <a:extLst>
              <a:ext uri="{FF2B5EF4-FFF2-40B4-BE49-F238E27FC236}">
                <a16:creationId xmlns:a16="http://schemas.microsoft.com/office/drawing/2014/main" id="{0694ADCA-4FE9-B2A8-01CC-A94A1498945D}"/>
              </a:ext>
            </a:extLst>
          </p:cNvPr>
          <p:cNvSpPr/>
          <p:nvPr/>
        </p:nvSpPr>
        <p:spPr>
          <a:xfrm flipV="1">
            <a:off x="12279636" y="0"/>
            <a:ext cx="0" cy="10321060"/>
          </a:xfrm>
          <a:prstGeom prst="line">
            <a:avLst/>
          </a:prstGeom>
          <a:ln w="9525" cap="rnd">
            <a:solidFill>
              <a:srgbClr val="F4F4F4"/>
            </a:solidFill>
            <a:prstDash val="solid"/>
            <a:headEnd type="none" w="sm" len="sm"/>
            <a:tailEnd type="none" w="sm" len="sm"/>
          </a:ln>
        </p:spPr>
        <p:txBody>
          <a:bodyPr/>
          <a:lstStyle/>
          <a:p>
            <a:endParaRPr lang="en-PH"/>
          </a:p>
        </p:txBody>
      </p:sp>
      <p:grpSp>
        <p:nvGrpSpPr>
          <p:cNvPr id="4" name="Group 4">
            <a:extLst>
              <a:ext uri="{FF2B5EF4-FFF2-40B4-BE49-F238E27FC236}">
                <a16:creationId xmlns:a16="http://schemas.microsoft.com/office/drawing/2014/main" id="{D7F6B902-D82A-5993-0FEB-C9465E441A06}"/>
              </a:ext>
            </a:extLst>
          </p:cNvPr>
          <p:cNvGrpSpPr/>
          <p:nvPr/>
        </p:nvGrpSpPr>
        <p:grpSpPr>
          <a:xfrm>
            <a:off x="13356138" y="1028700"/>
            <a:ext cx="3903162" cy="823858"/>
            <a:chOff x="0" y="0"/>
            <a:chExt cx="1027993" cy="216983"/>
          </a:xfrm>
        </p:grpSpPr>
        <p:sp>
          <p:nvSpPr>
            <p:cNvPr id="5" name="Freeform 5">
              <a:extLst>
                <a:ext uri="{FF2B5EF4-FFF2-40B4-BE49-F238E27FC236}">
                  <a16:creationId xmlns:a16="http://schemas.microsoft.com/office/drawing/2014/main" id="{0E9A9EA5-1836-2860-16E3-E3DB2D946174}"/>
                </a:ext>
              </a:extLst>
            </p:cNvPr>
            <p:cNvSpPr/>
            <p:nvPr/>
          </p:nvSpPr>
          <p:spPr>
            <a:xfrm>
              <a:off x="0" y="0"/>
              <a:ext cx="1027993" cy="216983"/>
            </a:xfrm>
            <a:custGeom>
              <a:avLst/>
              <a:gdLst/>
              <a:ahLst/>
              <a:cxnLst/>
              <a:rect l="l" t="t" r="r" b="b"/>
              <a:pathLst>
                <a:path w="1027993" h="216983">
                  <a:moveTo>
                    <a:pt x="108492" y="0"/>
                  </a:moveTo>
                  <a:lnTo>
                    <a:pt x="919502" y="0"/>
                  </a:lnTo>
                  <a:cubicBezTo>
                    <a:pt x="979420" y="0"/>
                    <a:pt x="1027993" y="48573"/>
                    <a:pt x="1027993" y="108492"/>
                  </a:cubicBezTo>
                  <a:lnTo>
                    <a:pt x="1027993" y="108492"/>
                  </a:lnTo>
                  <a:cubicBezTo>
                    <a:pt x="1027993" y="168410"/>
                    <a:pt x="979420" y="216983"/>
                    <a:pt x="919502" y="216983"/>
                  </a:cubicBezTo>
                  <a:lnTo>
                    <a:pt x="108492" y="216983"/>
                  </a:lnTo>
                  <a:cubicBezTo>
                    <a:pt x="48573" y="216983"/>
                    <a:pt x="0" y="168410"/>
                    <a:pt x="0" y="108492"/>
                  </a:cubicBezTo>
                  <a:lnTo>
                    <a:pt x="0" y="108492"/>
                  </a:lnTo>
                  <a:cubicBezTo>
                    <a:pt x="0" y="48573"/>
                    <a:pt x="48573" y="0"/>
                    <a:pt x="108492" y="0"/>
                  </a:cubicBezTo>
                  <a:close/>
                </a:path>
              </a:pathLst>
            </a:custGeom>
            <a:gradFill rotWithShape="1">
              <a:gsLst>
                <a:gs pos="0">
                  <a:srgbClr val="590E1E">
                    <a:alpha val="100000"/>
                  </a:srgbClr>
                </a:gs>
                <a:gs pos="100000">
                  <a:srgbClr val="000000">
                    <a:alpha val="100000"/>
                  </a:srgbClr>
                </a:gs>
              </a:gsLst>
              <a:lin ang="0"/>
            </a:gradFill>
            <a:ln w="9525" cap="rnd">
              <a:solidFill>
                <a:srgbClr val="F4F4F4"/>
              </a:solidFill>
              <a:prstDash val="solid"/>
              <a:round/>
            </a:ln>
          </p:spPr>
          <p:txBody>
            <a:bodyPr/>
            <a:lstStyle/>
            <a:p>
              <a:endParaRPr lang="en-PH"/>
            </a:p>
          </p:txBody>
        </p:sp>
        <p:sp>
          <p:nvSpPr>
            <p:cNvPr id="6" name="TextBox 6">
              <a:extLst>
                <a:ext uri="{FF2B5EF4-FFF2-40B4-BE49-F238E27FC236}">
                  <a16:creationId xmlns:a16="http://schemas.microsoft.com/office/drawing/2014/main" id="{B2AC8A0A-D606-5265-C98D-5C837A8DDBD8}"/>
                </a:ext>
              </a:extLst>
            </p:cNvPr>
            <p:cNvSpPr txBox="1"/>
            <p:nvPr/>
          </p:nvSpPr>
          <p:spPr>
            <a:xfrm>
              <a:off x="0" y="-76200"/>
              <a:ext cx="1027993" cy="293183"/>
            </a:xfrm>
            <a:prstGeom prst="rect">
              <a:avLst/>
            </a:prstGeom>
          </p:spPr>
          <p:txBody>
            <a:bodyPr lIns="50800" tIns="50800" rIns="50800" bIns="50800" rtlCol="0" anchor="ctr"/>
            <a:lstStyle/>
            <a:p>
              <a:pPr marL="0" lvl="0" indent="0" algn="ctr">
                <a:lnSpc>
                  <a:spcPts val="3527"/>
                </a:lnSpc>
              </a:pPr>
              <a:r>
                <a:rPr lang="en-US" sz="2519" b="1" spc="52">
                  <a:solidFill>
                    <a:srgbClr val="F4F4F4"/>
                  </a:solidFill>
                  <a:latin typeface="Poppins Medium"/>
                  <a:ea typeface="Poppins Medium"/>
                  <a:cs typeface="Poppins Medium"/>
                  <a:sym typeface="Poppins Medium"/>
                </a:rPr>
                <a:t>DROP INDEX COLUMN</a:t>
              </a:r>
            </a:p>
          </p:txBody>
        </p:sp>
      </p:grpSp>
      <p:grpSp>
        <p:nvGrpSpPr>
          <p:cNvPr id="7" name="Group 7">
            <a:extLst>
              <a:ext uri="{FF2B5EF4-FFF2-40B4-BE49-F238E27FC236}">
                <a16:creationId xmlns:a16="http://schemas.microsoft.com/office/drawing/2014/main" id="{F4D5D463-FC77-713A-AE1F-D0E37803A983}"/>
              </a:ext>
            </a:extLst>
          </p:cNvPr>
          <p:cNvGrpSpPr/>
          <p:nvPr/>
        </p:nvGrpSpPr>
        <p:grpSpPr>
          <a:xfrm>
            <a:off x="13356138" y="2848191"/>
            <a:ext cx="3903162" cy="823858"/>
            <a:chOff x="0" y="0"/>
            <a:chExt cx="1027993" cy="216983"/>
          </a:xfrm>
        </p:grpSpPr>
        <p:sp>
          <p:nvSpPr>
            <p:cNvPr id="8" name="Freeform 8">
              <a:extLst>
                <a:ext uri="{FF2B5EF4-FFF2-40B4-BE49-F238E27FC236}">
                  <a16:creationId xmlns:a16="http://schemas.microsoft.com/office/drawing/2014/main" id="{76954C41-430F-1869-34F3-667C74C43184}"/>
                </a:ext>
              </a:extLst>
            </p:cNvPr>
            <p:cNvSpPr/>
            <p:nvPr/>
          </p:nvSpPr>
          <p:spPr>
            <a:xfrm>
              <a:off x="0" y="0"/>
              <a:ext cx="1027993" cy="216983"/>
            </a:xfrm>
            <a:custGeom>
              <a:avLst/>
              <a:gdLst/>
              <a:ahLst/>
              <a:cxnLst/>
              <a:rect l="l" t="t" r="r" b="b"/>
              <a:pathLst>
                <a:path w="1027993" h="216983">
                  <a:moveTo>
                    <a:pt x="108492" y="0"/>
                  </a:moveTo>
                  <a:lnTo>
                    <a:pt x="919502" y="0"/>
                  </a:lnTo>
                  <a:cubicBezTo>
                    <a:pt x="979420" y="0"/>
                    <a:pt x="1027993" y="48573"/>
                    <a:pt x="1027993" y="108492"/>
                  </a:cubicBezTo>
                  <a:lnTo>
                    <a:pt x="1027993" y="108492"/>
                  </a:lnTo>
                  <a:cubicBezTo>
                    <a:pt x="1027993" y="168410"/>
                    <a:pt x="979420" y="216983"/>
                    <a:pt x="919502" y="216983"/>
                  </a:cubicBezTo>
                  <a:lnTo>
                    <a:pt x="108492" y="216983"/>
                  </a:lnTo>
                  <a:cubicBezTo>
                    <a:pt x="48573" y="216983"/>
                    <a:pt x="0" y="168410"/>
                    <a:pt x="0" y="108492"/>
                  </a:cubicBezTo>
                  <a:lnTo>
                    <a:pt x="0" y="108492"/>
                  </a:lnTo>
                  <a:cubicBezTo>
                    <a:pt x="0" y="48573"/>
                    <a:pt x="48573" y="0"/>
                    <a:pt x="108492" y="0"/>
                  </a:cubicBezTo>
                  <a:close/>
                </a:path>
              </a:pathLst>
            </a:custGeom>
            <a:gradFill rotWithShape="1">
              <a:gsLst>
                <a:gs pos="0">
                  <a:srgbClr val="590E1E">
                    <a:alpha val="100000"/>
                  </a:srgbClr>
                </a:gs>
                <a:gs pos="100000">
                  <a:srgbClr val="000000">
                    <a:alpha val="100000"/>
                  </a:srgbClr>
                </a:gs>
              </a:gsLst>
              <a:lin ang="0"/>
            </a:gradFill>
            <a:ln w="9525" cap="rnd">
              <a:solidFill>
                <a:srgbClr val="F4F4F4"/>
              </a:solidFill>
              <a:prstDash val="solid"/>
              <a:round/>
            </a:ln>
          </p:spPr>
          <p:txBody>
            <a:bodyPr/>
            <a:lstStyle/>
            <a:p>
              <a:endParaRPr lang="en-PH"/>
            </a:p>
          </p:txBody>
        </p:sp>
        <p:sp>
          <p:nvSpPr>
            <p:cNvPr id="9" name="TextBox 9">
              <a:extLst>
                <a:ext uri="{FF2B5EF4-FFF2-40B4-BE49-F238E27FC236}">
                  <a16:creationId xmlns:a16="http://schemas.microsoft.com/office/drawing/2014/main" id="{4908748A-CEF9-A4B3-C730-AB106312D0D2}"/>
                </a:ext>
              </a:extLst>
            </p:cNvPr>
            <p:cNvSpPr txBox="1"/>
            <p:nvPr/>
          </p:nvSpPr>
          <p:spPr>
            <a:xfrm>
              <a:off x="0" y="-76200"/>
              <a:ext cx="1027993" cy="293183"/>
            </a:xfrm>
            <a:prstGeom prst="rect">
              <a:avLst/>
            </a:prstGeom>
          </p:spPr>
          <p:txBody>
            <a:bodyPr lIns="50800" tIns="50800" rIns="50800" bIns="50800" rtlCol="0" anchor="ctr"/>
            <a:lstStyle/>
            <a:p>
              <a:pPr marL="0" lvl="0" indent="0" algn="ctr">
                <a:lnSpc>
                  <a:spcPts val="3527"/>
                </a:lnSpc>
              </a:pPr>
              <a:r>
                <a:rPr lang="en-US" sz="2519" b="1" spc="52">
                  <a:solidFill>
                    <a:srgbClr val="F4F4F4"/>
                  </a:solidFill>
                  <a:latin typeface="Poppins Medium"/>
                  <a:ea typeface="Poppins Medium"/>
                  <a:cs typeface="Poppins Medium"/>
                  <a:sym typeface="Poppins Medium"/>
                </a:rPr>
                <a:t>STANDARDIZE NAMES</a:t>
              </a:r>
            </a:p>
          </p:txBody>
        </p:sp>
      </p:grpSp>
      <p:grpSp>
        <p:nvGrpSpPr>
          <p:cNvPr id="19" name="Group 19">
            <a:extLst>
              <a:ext uri="{FF2B5EF4-FFF2-40B4-BE49-F238E27FC236}">
                <a16:creationId xmlns:a16="http://schemas.microsoft.com/office/drawing/2014/main" id="{A36BB427-56ED-EE38-A31D-60702FCA2127}"/>
              </a:ext>
            </a:extLst>
          </p:cNvPr>
          <p:cNvGrpSpPr/>
          <p:nvPr/>
        </p:nvGrpSpPr>
        <p:grpSpPr>
          <a:xfrm>
            <a:off x="11873585" y="1040458"/>
            <a:ext cx="812101" cy="812101"/>
            <a:chOff x="0" y="0"/>
            <a:chExt cx="812800" cy="812800"/>
          </a:xfrm>
        </p:grpSpPr>
        <p:sp>
          <p:nvSpPr>
            <p:cNvPr id="20" name="Freeform 20">
              <a:extLst>
                <a:ext uri="{FF2B5EF4-FFF2-40B4-BE49-F238E27FC236}">
                  <a16:creationId xmlns:a16="http://schemas.microsoft.com/office/drawing/2014/main" id="{5DE6694C-B8E1-D808-E67F-34DF4029C337}"/>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1">
              <a:gsLst>
                <a:gs pos="0">
                  <a:srgbClr val="6B1124">
                    <a:alpha val="100000"/>
                  </a:srgbClr>
                </a:gs>
                <a:gs pos="50000">
                  <a:srgbClr val="000000">
                    <a:alpha val="100000"/>
                  </a:srgbClr>
                </a:gs>
                <a:gs pos="100000">
                  <a:srgbClr val="6B1124">
                    <a:alpha val="100000"/>
                  </a:srgbClr>
                </a:gs>
              </a:gsLst>
              <a:path path="circle">
                <a:fillToRect r="100000" b="100000"/>
              </a:path>
              <a:tileRect l="-100000" t="-100000"/>
            </a:gradFill>
            <a:ln w="9525" cap="sq">
              <a:solidFill>
                <a:srgbClr val="F4F4F4"/>
              </a:solidFill>
              <a:prstDash val="solid"/>
              <a:miter/>
            </a:ln>
          </p:spPr>
          <p:txBody>
            <a:bodyPr/>
            <a:lstStyle/>
            <a:p>
              <a:endParaRPr lang="en-PH"/>
            </a:p>
          </p:txBody>
        </p:sp>
        <p:sp>
          <p:nvSpPr>
            <p:cNvPr id="21" name="TextBox 21">
              <a:extLst>
                <a:ext uri="{FF2B5EF4-FFF2-40B4-BE49-F238E27FC236}">
                  <a16:creationId xmlns:a16="http://schemas.microsoft.com/office/drawing/2014/main" id="{6432DEE6-36AB-64FF-E308-A8BC029D4EA3}"/>
                </a:ext>
              </a:extLst>
            </p:cNvPr>
            <p:cNvSpPr txBox="1"/>
            <p:nvPr/>
          </p:nvSpPr>
          <p:spPr>
            <a:xfrm>
              <a:off x="76200" y="9525"/>
              <a:ext cx="660400" cy="727075"/>
            </a:xfrm>
            <a:prstGeom prst="rect">
              <a:avLst/>
            </a:prstGeom>
          </p:spPr>
          <p:txBody>
            <a:bodyPr lIns="50800" tIns="50800" rIns="50800" bIns="50800" rtlCol="0" anchor="ctr"/>
            <a:lstStyle/>
            <a:p>
              <a:pPr marL="0" lvl="0" indent="0" algn="ctr">
                <a:lnSpc>
                  <a:spcPts val="3110"/>
                </a:lnSpc>
              </a:pPr>
              <a:r>
                <a:rPr lang="en-US" sz="2221" b="1" spc="46">
                  <a:solidFill>
                    <a:srgbClr val="FFFFFF"/>
                  </a:solidFill>
                  <a:latin typeface="Poppins Medium"/>
                  <a:ea typeface="Poppins Medium"/>
                  <a:cs typeface="Poppins Medium"/>
                  <a:sym typeface="Poppins Medium"/>
                </a:rPr>
                <a:t>1</a:t>
              </a:r>
            </a:p>
          </p:txBody>
        </p:sp>
      </p:grpSp>
      <p:grpSp>
        <p:nvGrpSpPr>
          <p:cNvPr id="22" name="Group 22">
            <a:extLst>
              <a:ext uri="{FF2B5EF4-FFF2-40B4-BE49-F238E27FC236}">
                <a16:creationId xmlns:a16="http://schemas.microsoft.com/office/drawing/2014/main" id="{A4F0B276-95A8-38F7-FB27-A9DE62C374E9}"/>
              </a:ext>
            </a:extLst>
          </p:cNvPr>
          <p:cNvGrpSpPr/>
          <p:nvPr/>
        </p:nvGrpSpPr>
        <p:grpSpPr>
          <a:xfrm>
            <a:off x="11873585" y="2848191"/>
            <a:ext cx="812101" cy="812101"/>
            <a:chOff x="0" y="0"/>
            <a:chExt cx="812800" cy="812800"/>
          </a:xfrm>
        </p:grpSpPr>
        <p:sp>
          <p:nvSpPr>
            <p:cNvPr id="23" name="Freeform 23">
              <a:extLst>
                <a:ext uri="{FF2B5EF4-FFF2-40B4-BE49-F238E27FC236}">
                  <a16:creationId xmlns:a16="http://schemas.microsoft.com/office/drawing/2014/main" id="{771360D2-B9A3-BCD5-E012-82E24DE45430}"/>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1">
              <a:gsLst>
                <a:gs pos="0">
                  <a:srgbClr val="6B1124">
                    <a:alpha val="100000"/>
                  </a:srgbClr>
                </a:gs>
                <a:gs pos="50000">
                  <a:srgbClr val="000000">
                    <a:alpha val="100000"/>
                  </a:srgbClr>
                </a:gs>
                <a:gs pos="100000">
                  <a:srgbClr val="6B1124">
                    <a:alpha val="100000"/>
                  </a:srgbClr>
                </a:gs>
              </a:gsLst>
              <a:path path="circle">
                <a:fillToRect r="100000" b="100000"/>
              </a:path>
              <a:tileRect l="-100000" t="-100000"/>
            </a:gradFill>
            <a:ln w="9525" cap="sq">
              <a:solidFill>
                <a:srgbClr val="F4F4F4"/>
              </a:solidFill>
              <a:prstDash val="solid"/>
              <a:miter/>
            </a:ln>
          </p:spPr>
          <p:txBody>
            <a:bodyPr/>
            <a:lstStyle/>
            <a:p>
              <a:endParaRPr lang="en-PH"/>
            </a:p>
          </p:txBody>
        </p:sp>
        <p:sp>
          <p:nvSpPr>
            <p:cNvPr id="24" name="TextBox 24">
              <a:extLst>
                <a:ext uri="{FF2B5EF4-FFF2-40B4-BE49-F238E27FC236}">
                  <a16:creationId xmlns:a16="http://schemas.microsoft.com/office/drawing/2014/main" id="{71D727F0-2711-0796-8086-ED35A6EC7699}"/>
                </a:ext>
              </a:extLst>
            </p:cNvPr>
            <p:cNvSpPr txBox="1"/>
            <p:nvPr/>
          </p:nvSpPr>
          <p:spPr>
            <a:xfrm>
              <a:off x="76200" y="9525"/>
              <a:ext cx="660400" cy="727075"/>
            </a:xfrm>
            <a:prstGeom prst="rect">
              <a:avLst/>
            </a:prstGeom>
          </p:spPr>
          <p:txBody>
            <a:bodyPr lIns="50800" tIns="50800" rIns="50800" bIns="50800" rtlCol="0" anchor="ctr"/>
            <a:lstStyle/>
            <a:p>
              <a:pPr marL="0" lvl="0" indent="0" algn="ctr">
                <a:lnSpc>
                  <a:spcPts val="3108"/>
                </a:lnSpc>
              </a:pPr>
              <a:r>
                <a:rPr lang="en-US" sz="2220" b="1" spc="46">
                  <a:solidFill>
                    <a:srgbClr val="FFFFFF"/>
                  </a:solidFill>
                  <a:latin typeface="Poppins Medium"/>
                  <a:ea typeface="Poppins Medium"/>
                  <a:cs typeface="Poppins Medium"/>
                  <a:sym typeface="Poppins Medium"/>
                </a:rPr>
                <a:t>2</a:t>
              </a:r>
            </a:p>
          </p:txBody>
        </p:sp>
      </p:grpSp>
      <p:grpSp>
        <p:nvGrpSpPr>
          <p:cNvPr id="25" name="Group 25">
            <a:extLst>
              <a:ext uri="{FF2B5EF4-FFF2-40B4-BE49-F238E27FC236}">
                <a16:creationId xmlns:a16="http://schemas.microsoft.com/office/drawing/2014/main" id="{D98CD196-78F0-BED0-2551-B44BC7EBD2AB}"/>
              </a:ext>
            </a:extLst>
          </p:cNvPr>
          <p:cNvGrpSpPr/>
          <p:nvPr/>
        </p:nvGrpSpPr>
        <p:grpSpPr>
          <a:xfrm>
            <a:off x="11873585" y="4737450"/>
            <a:ext cx="812101" cy="812101"/>
            <a:chOff x="0" y="0"/>
            <a:chExt cx="812800" cy="812800"/>
          </a:xfrm>
        </p:grpSpPr>
        <p:sp>
          <p:nvSpPr>
            <p:cNvPr id="26" name="Freeform 26">
              <a:extLst>
                <a:ext uri="{FF2B5EF4-FFF2-40B4-BE49-F238E27FC236}">
                  <a16:creationId xmlns:a16="http://schemas.microsoft.com/office/drawing/2014/main" id="{03288A3B-7FFD-044F-E4E2-F54C70B54EC9}"/>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1">
              <a:gsLst>
                <a:gs pos="0">
                  <a:srgbClr val="6B1124">
                    <a:alpha val="100000"/>
                  </a:srgbClr>
                </a:gs>
                <a:gs pos="50000">
                  <a:srgbClr val="000000">
                    <a:alpha val="100000"/>
                  </a:srgbClr>
                </a:gs>
                <a:gs pos="100000">
                  <a:srgbClr val="6B1124">
                    <a:alpha val="100000"/>
                  </a:srgbClr>
                </a:gs>
              </a:gsLst>
              <a:path path="circle">
                <a:fillToRect r="100000" b="100000"/>
              </a:path>
              <a:tileRect l="-100000" t="-100000"/>
            </a:gradFill>
            <a:ln w="9525" cap="sq">
              <a:solidFill>
                <a:srgbClr val="F4F4F4"/>
              </a:solidFill>
              <a:prstDash val="solid"/>
              <a:miter/>
            </a:ln>
          </p:spPr>
          <p:txBody>
            <a:bodyPr/>
            <a:lstStyle/>
            <a:p>
              <a:endParaRPr lang="en-PH"/>
            </a:p>
          </p:txBody>
        </p:sp>
        <p:sp>
          <p:nvSpPr>
            <p:cNvPr id="27" name="TextBox 27">
              <a:extLst>
                <a:ext uri="{FF2B5EF4-FFF2-40B4-BE49-F238E27FC236}">
                  <a16:creationId xmlns:a16="http://schemas.microsoft.com/office/drawing/2014/main" id="{CF667CA7-5FC1-2649-4E77-6C9C558CE2B0}"/>
                </a:ext>
              </a:extLst>
            </p:cNvPr>
            <p:cNvSpPr txBox="1"/>
            <p:nvPr/>
          </p:nvSpPr>
          <p:spPr>
            <a:xfrm>
              <a:off x="76200" y="9525"/>
              <a:ext cx="660400" cy="727075"/>
            </a:xfrm>
            <a:prstGeom prst="rect">
              <a:avLst/>
            </a:prstGeom>
          </p:spPr>
          <p:txBody>
            <a:bodyPr lIns="50800" tIns="50800" rIns="50800" bIns="50800" rtlCol="0" anchor="ctr"/>
            <a:lstStyle/>
            <a:p>
              <a:pPr marL="0" lvl="0" indent="0" algn="ctr">
                <a:lnSpc>
                  <a:spcPts val="3108"/>
                </a:lnSpc>
              </a:pPr>
              <a:r>
                <a:rPr lang="en-US" sz="2220" b="1" spc="46">
                  <a:solidFill>
                    <a:srgbClr val="FFFFFF"/>
                  </a:solidFill>
                  <a:latin typeface="Poppins Medium"/>
                  <a:ea typeface="Poppins Medium"/>
                  <a:cs typeface="Poppins Medium"/>
                  <a:sym typeface="Poppins Medium"/>
                </a:rPr>
                <a:t>3</a:t>
              </a:r>
            </a:p>
          </p:txBody>
        </p:sp>
      </p:grpSp>
      <p:grpSp>
        <p:nvGrpSpPr>
          <p:cNvPr id="28" name="Group 28">
            <a:extLst>
              <a:ext uri="{FF2B5EF4-FFF2-40B4-BE49-F238E27FC236}">
                <a16:creationId xmlns:a16="http://schemas.microsoft.com/office/drawing/2014/main" id="{5F4A4634-0CA7-81EA-C4AD-C513B174E4B0}"/>
              </a:ext>
            </a:extLst>
          </p:cNvPr>
          <p:cNvGrpSpPr/>
          <p:nvPr/>
        </p:nvGrpSpPr>
        <p:grpSpPr>
          <a:xfrm>
            <a:off x="11873585" y="6584116"/>
            <a:ext cx="812101" cy="812101"/>
            <a:chOff x="0" y="0"/>
            <a:chExt cx="812800" cy="812800"/>
          </a:xfrm>
        </p:grpSpPr>
        <p:sp>
          <p:nvSpPr>
            <p:cNvPr id="29" name="Freeform 29">
              <a:extLst>
                <a:ext uri="{FF2B5EF4-FFF2-40B4-BE49-F238E27FC236}">
                  <a16:creationId xmlns:a16="http://schemas.microsoft.com/office/drawing/2014/main" id="{27D74F23-0EA8-C385-408E-E806F916E4C4}"/>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1">
              <a:gsLst>
                <a:gs pos="0">
                  <a:srgbClr val="6B1124">
                    <a:alpha val="100000"/>
                  </a:srgbClr>
                </a:gs>
                <a:gs pos="50000">
                  <a:srgbClr val="000000">
                    <a:alpha val="100000"/>
                  </a:srgbClr>
                </a:gs>
                <a:gs pos="100000">
                  <a:srgbClr val="6B1124">
                    <a:alpha val="100000"/>
                  </a:srgbClr>
                </a:gs>
              </a:gsLst>
              <a:path path="circle">
                <a:fillToRect r="100000" b="100000"/>
              </a:path>
              <a:tileRect l="-100000" t="-100000"/>
            </a:gradFill>
            <a:ln w="9525" cap="sq">
              <a:solidFill>
                <a:srgbClr val="F4F4F4"/>
              </a:solidFill>
              <a:prstDash val="solid"/>
              <a:miter/>
            </a:ln>
          </p:spPr>
          <p:txBody>
            <a:bodyPr/>
            <a:lstStyle/>
            <a:p>
              <a:endParaRPr lang="en-PH"/>
            </a:p>
          </p:txBody>
        </p:sp>
        <p:sp>
          <p:nvSpPr>
            <p:cNvPr id="30" name="TextBox 30">
              <a:extLst>
                <a:ext uri="{FF2B5EF4-FFF2-40B4-BE49-F238E27FC236}">
                  <a16:creationId xmlns:a16="http://schemas.microsoft.com/office/drawing/2014/main" id="{06723A46-598D-6094-5330-35369E70CDFA}"/>
                </a:ext>
              </a:extLst>
            </p:cNvPr>
            <p:cNvSpPr txBox="1"/>
            <p:nvPr/>
          </p:nvSpPr>
          <p:spPr>
            <a:xfrm>
              <a:off x="76200" y="9525"/>
              <a:ext cx="660400" cy="727075"/>
            </a:xfrm>
            <a:prstGeom prst="rect">
              <a:avLst/>
            </a:prstGeom>
          </p:spPr>
          <p:txBody>
            <a:bodyPr lIns="50800" tIns="50800" rIns="50800" bIns="50800" rtlCol="0" anchor="ctr"/>
            <a:lstStyle/>
            <a:p>
              <a:pPr marL="0" lvl="0" indent="0" algn="ctr">
                <a:lnSpc>
                  <a:spcPts val="3108"/>
                </a:lnSpc>
              </a:pPr>
              <a:r>
                <a:rPr lang="en-US" sz="2220" b="1" spc="46">
                  <a:solidFill>
                    <a:srgbClr val="FFFFFF"/>
                  </a:solidFill>
                  <a:latin typeface="Poppins Medium"/>
                  <a:ea typeface="Poppins Medium"/>
                  <a:cs typeface="Poppins Medium"/>
                  <a:sym typeface="Poppins Medium"/>
                </a:rPr>
                <a:t>4</a:t>
              </a:r>
            </a:p>
          </p:txBody>
        </p:sp>
      </p:grpSp>
      <p:grpSp>
        <p:nvGrpSpPr>
          <p:cNvPr id="31" name="Group 31">
            <a:extLst>
              <a:ext uri="{FF2B5EF4-FFF2-40B4-BE49-F238E27FC236}">
                <a16:creationId xmlns:a16="http://schemas.microsoft.com/office/drawing/2014/main" id="{F4DF50AD-F06F-A7F0-4F73-103AD244CF8F}"/>
              </a:ext>
            </a:extLst>
          </p:cNvPr>
          <p:cNvGrpSpPr/>
          <p:nvPr/>
        </p:nvGrpSpPr>
        <p:grpSpPr>
          <a:xfrm>
            <a:off x="11873585" y="8472542"/>
            <a:ext cx="812101" cy="812101"/>
            <a:chOff x="0" y="0"/>
            <a:chExt cx="812800" cy="812800"/>
          </a:xfrm>
        </p:grpSpPr>
        <p:sp>
          <p:nvSpPr>
            <p:cNvPr id="32" name="Freeform 32">
              <a:extLst>
                <a:ext uri="{FF2B5EF4-FFF2-40B4-BE49-F238E27FC236}">
                  <a16:creationId xmlns:a16="http://schemas.microsoft.com/office/drawing/2014/main" id="{792175B6-5731-29C4-3C65-43B9B608332A}"/>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1">
              <a:gsLst>
                <a:gs pos="0">
                  <a:srgbClr val="6B1124">
                    <a:alpha val="100000"/>
                  </a:srgbClr>
                </a:gs>
                <a:gs pos="50000">
                  <a:srgbClr val="000000">
                    <a:alpha val="100000"/>
                  </a:srgbClr>
                </a:gs>
                <a:gs pos="100000">
                  <a:srgbClr val="6B1124">
                    <a:alpha val="100000"/>
                  </a:srgbClr>
                </a:gs>
              </a:gsLst>
              <a:path path="circle">
                <a:fillToRect r="100000" b="100000"/>
              </a:path>
              <a:tileRect l="-100000" t="-100000"/>
            </a:gradFill>
            <a:ln w="9525" cap="sq">
              <a:solidFill>
                <a:srgbClr val="F4F4F4"/>
              </a:solidFill>
              <a:prstDash val="solid"/>
              <a:miter/>
            </a:ln>
          </p:spPr>
          <p:txBody>
            <a:bodyPr/>
            <a:lstStyle/>
            <a:p>
              <a:endParaRPr lang="en-PH"/>
            </a:p>
          </p:txBody>
        </p:sp>
        <p:sp>
          <p:nvSpPr>
            <p:cNvPr id="33" name="TextBox 33">
              <a:extLst>
                <a:ext uri="{FF2B5EF4-FFF2-40B4-BE49-F238E27FC236}">
                  <a16:creationId xmlns:a16="http://schemas.microsoft.com/office/drawing/2014/main" id="{00BA0F8D-E9B1-4B9A-5E76-0B6DE6EA7AC5}"/>
                </a:ext>
              </a:extLst>
            </p:cNvPr>
            <p:cNvSpPr txBox="1"/>
            <p:nvPr/>
          </p:nvSpPr>
          <p:spPr>
            <a:xfrm>
              <a:off x="76200" y="9525"/>
              <a:ext cx="660400" cy="727075"/>
            </a:xfrm>
            <a:prstGeom prst="rect">
              <a:avLst/>
            </a:prstGeom>
          </p:spPr>
          <p:txBody>
            <a:bodyPr lIns="50800" tIns="50800" rIns="50800" bIns="50800" rtlCol="0" anchor="ctr"/>
            <a:lstStyle/>
            <a:p>
              <a:pPr marL="0" lvl="0" indent="0" algn="ctr">
                <a:lnSpc>
                  <a:spcPts val="3108"/>
                </a:lnSpc>
              </a:pPr>
              <a:r>
                <a:rPr lang="en-US" sz="2220" b="1" spc="46">
                  <a:solidFill>
                    <a:srgbClr val="FFFFFF"/>
                  </a:solidFill>
                  <a:latin typeface="Poppins Medium"/>
                  <a:ea typeface="Poppins Medium"/>
                  <a:cs typeface="Poppins Medium"/>
                  <a:sym typeface="Poppins Medium"/>
                </a:rPr>
                <a:t>5</a:t>
              </a:r>
            </a:p>
          </p:txBody>
        </p:sp>
      </p:grpSp>
      <p:pic>
        <p:nvPicPr>
          <p:cNvPr id="43" name="Picture 42">
            <a:extLst>
              <a:ext uri="{FF2B5EF4-FFF2-40B4-BE49-F238E27FC236}">
                <a16:creationId xmlns:a16="http://schemas.microsoft.com/office/drawing/2014/main" id="{4741640C-08D9-239B-8FCD-79DE847609CE}"/>
              </a:ext>
            </a:extLst>
          </p:cNvPr>
          <p:cNvPicPr>
            <a:picLocks noChangeAspect="1"/>
          </p:cNvPicPr>
          <p:nvPr/>
        </p:nvPicPr>
        <p:blipFill>
          <a:blip r:embed="rId2"/>
          <a:stretch>
            <a:fillRect/>
          </a:stretch>
        </p:blipFill>
        <p:spPr>
          <a:xfrm>
            <a:off x="555747" y="4544750"/>
            <a:ext cx="10647388" cy="1130884"/>
          </a:xfrm>
          <a:prstGeom prst="rect">
            <a:avLst/>
          </a:prstGeom>
        </p:spPr>
      </p:pic>
    </p:spTree>
    <p:extLst>
      <p:ext uri="{BB962C8B-B14F-4D97-AF65-F5344CB8AC3E}">
        <p14:creationId xmlns:p14="http://schemas.microsoft.com/office/powerpoint/2010/main" val="63664399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gradFill rotWithShape="1">
          <a:gsLst>
            <a:gs pos="0">
              <a:srgbClr val="6B1124">
                <a:alpha val="100000"/>
              </a:srgbClr>
            </a:gs>
            <a:gs pos="50000">
              <a:srgbClr val="000000">
                <a:alpha val="100000"/>
              </a:srgbClr>
            </a:gs>
            <a:gs pos="100000">
              <a:srgbClr val="6B1124">
                <a:alpha val="100000"/>
              </a:srgbClr>
            </a:gs>
          </a:gsLst>
          <a:path path="circle">
            <a:fillToRect r="100000" b="100000"/>
          </a:path>
          <a:tileRect l="-100000" t="-100000"/>
        </a:gradFill>
        <a:effectLst/>
      </p:bgPr>
    </p:bg>
    <p:spTree>
      <p:nvGrpSpPr>
        <p:cNvPr id="1" name="">
          <a:extLst>
            <a:ext uri="{FF2B5EF4-FFF2-40B4-BE49-F238E27FC236}">
              <a16:creationId xmlns:a16="http://schemas.microsoft.com/office/drawing/2014/main" id="{D979FBEC-F1B5-89EF-1346-A64B6580E4CE}"/>
            </a:ext>
          </a:extLst>
        </p:cNvPr>
        <p:cNvGrpSpPr/>
        <p:nvPr/>
      </p:nvGrpSpPr>
      <p:grpSpPr>
        <a:xfrm>
          <a:off x="0" y="0"/>
          <a:ext cx="0" cy="0"/>
          <a:chOff x="0" y="0"/>
          <a:chExt cx="0" cy="0"/>
        </a:xfrm>
      </p:grpSpPr>
      <p:sp>
        <p:nvSpPr>
          <p:cNvPr id="3" name="AutoShape 3">
            <a:extLst>
              <a:ext uri="{FF2B5EF4-FFF2-40B4-BE49-F238E27FC236}">
                <a16:creationId xmlns:a16="http://schemas.microsoft.com/office/drawing/2014/main" id="{69151260-1AB7-9259-A0E5-C49C0D13DF5D}"/>
              </a:ext>
            </a:extLst>
          </p:cNvPr>
          <p:cNvSpPr/>
          <p:nvPr/>
        </p:nvSpPr>
        <p:spPr>
          <a:xfrm flipV="1">
            <a:off x="12279636" y="0"/>
            <a:ext cx="0" cy="10321060"/>
          </a:xfrm>
          <a:prstGeom prst="line">
            <a:avLst/>
          </a:prstGeom>
          <a:ln w="9525" cap="rnd">
            <a:solidFill>
              <a:srgbClr val="F4F4F4"/>
            </a:solidFill>
            <a:prstDash val="solid"/>
            <a:headEnd type="none" w="sm" len="sm"/>
            <a:tailEnd type="none" w="sm" len="sm"/>
          </a:ln>
        </p:spPr>
        <p:txBody>
          <a:bodyPr/>
          <a:lstStyle/>
          <a:p>
            <a:endParaRPr lang="en-PH"/>
          </a:p>
        </p:txBody>
      </p:sp>
      <p:grpSp>
        <p:nvGrpSpPr>
          <p:cNvPr id="4" name="Group 4">
            <a:extLst>
              <a:ext uri="{FF2B5EF4-FFF2-40B4-BE49-F238E27FC236}">
                <a16:creationId xmlns:a16="http://schemas.microsoft.com/office/drawing/2014/main" id="{7E455FE9-0A55-C0FE-668C-F4A04F2384C1}"/>
              </a:ext>
            </a:extLst>
          </p:cNvPr>
          <p:cNvGrpSpPr/>
          <p:nvPr/>
        </p:nvGrpSpPr>
        <p:grpSpPr>
          <a:xfrm>
            <a:off x="13356138" y="1028700"/>
            <a:ext cx="3903162" cy="823858"/>
            <a:chOff x="0" y="0"/>
            <a:chExt cx="1027993" cy="216983"/>
          </a:xfrm>
        </p:grpSpPr>
        <p:sp>
          <p:nvSpPr>
            <p:cNvPr id="5" name="Freeform 5">
              <a:extLst>
                <a:ext uri="{FF2B5EF4-FFF2-40B4-BE49-F238E27FC236}">
                  <a16:creationId xmlns:a16="http://schemas.microsoft.com/office/drawing/2014/main" id="{D7CE121D-429B-F050-50F1-F524273F106D}"/>
                </a:ext>
              </a:extLst>
            </p:cNvPr>
            <p:cNvSpPr/>
            <p:nvPr/>
          </p:nvSpPr>
          <p:spPr>
            <a:xfrm>
              <a:off x="0" y="0"/>
              <a:ext cx="1027993" cy="216983"/>
            </a:xfrm>
            <a:custGeom>
              <a:avLst/>
              <a:gdLst/>
              <a:ahLst/>
              <a:cxnLst/>
              <a:rect l="l" t="t" r="r" b="b"/>
              <a:pathLst>
                <a:path w="1027993" h="216983">
                  <a:moveTo>
                    <a:pt x="108492" y="0"/>
                  </a:moveTo>
                  <a:lnTo>
                    <a:pt x="919502" y="0"/>
                  </a:lnTo>
                  <a:cubicBezTo>
                    <a:pt x="979420" y="0"/>
                    <a:pt x="1027993" y="48573"/>
                    <a:pt x="1027993" y="108492"/>
                  </a:cubicBezTo>
                  <a:lnTo>
                    <a:pt x="1027993" y="108492"/>
                  </a:lnTo>
                  <a:cubicBezTo>
                    <a:pt x="1027993" y="168410"/>
                    <a:pt x="979420" y="216983"/>
                    <a:pt x="919502" y="216983"/>
                  </a:cubicBezTo>
                  <a:lnTo>
                    <a:pt x="108492" y="216983"/>
                  </a:lnTo>
                  <a:cubicBezTo>
                    <a:pt x="48573" y="216983"/>
                    <a:pt x="0" y="168410"/>
                    <a:pt x="0" y="108492"/>
                  </a:cubicBezTo>
                  <a:lnTo>
                    <a:pt x="0" y="108492"/>
                  </a:lnTo>
                  <a:cubicBezTo>
                    <a:pt x="0" y="48573"/>
                    <a:pt x="48573" y="0"/>
                    <a:pt x="108492" y="0"/>
                  </a:cubicBezTo>
                  <a:close/>
                </a:path>
              </a:pathLst>
            </a:custGeom>
            <a:gradFill rotWithShape="1">
              <a:gsLst>
                <a:gs pos="0">
                  <a:srgbClr val="590E1E">
                    <a:alpha val="100000"/>
                  </a:srgbClr>
                </a:gs>
                <a:gs pos="100000">
                  <a:srgbClr val="000000">
                    <a:alpha val="100000"/>
                  </a:srgbClr>
                </a:gs>
              </a:gsLst>
              <a:lin ang="0"/>
            </a:gradFill>
            <a:ln w="9525" cap="rnd">
              <a:solidFill>
                <a:srgbClr val="F4F4F4"/>
              </a:solidFill>
              <a:prstDash val="solid"/>
              <a:round/>
            </a:ln>
          </p:spPr>
          <p:txBody>
            <a:bodyPr/>
            <a:lstStyle/>
            <a:p>
              <a:endParaRPr lang="en-PH"/>
            </a:p>
          </p:txBody>
        </p:sp>
        <p:sp>
          <p:nvSpPr>
            <p:cNvPr id="6" name="TextBox 6">
              <a:extLst>
                <a:ext uri="{FF2B5EF4-FFF2-40B4-BE49-F238E27FC236}">
                  <a16:creationId xmlns:a16="http://schemas.microsoft.com/office/drawing/2014/main" id="{03A29362-14EF-3088-D974-20A65FBA826A}"/>
                </a:ext>
              </a:extLst>
            </p:cNvPr>
            <p:cNvSpPr txBox="1"/>
            <p:nvPr/>
          </p:nvSpPr>
          <p:spPr>
            <a:xfrm>
              <a:off x="0" y="-76200"/>
              <a:ext cx="1027993" cy="293183"/>
            </a:xfrm>
            <a:prstGeom prst="rect">
              <a:avLst/>
            </a:prstGeom>
          </p:spPr>
          <p:txBody>
            <a:bodyPr lIns="50800" tIns="50800" rIns="50800" bIns="50800" rtlCol="0" anchor="ctr"/>
            <a:lstStyle/>
            <a:p>
              <a:pPr marL="0" lvl="0" indent="0" algn="ctr">
                <a:lnSpc>
                  <a:spcPts val="3527"/>
                </a:lnSpc>
              </a:pPr>
              <a:r>
                <a:rPr lang="en-US" sz="2519" b="1" spc="52">
                  <a:solidFill>
                    <a:srgbClr val="F4F4F4"/>
                  </a:solidFill>
                  <a:latin typeface="Poppins Medium"/>
                  <a:ea typeface="Poppins Medium"/>
                  <a:cs typeface="Poppins Medium"/>
                  <a:sym typeface="Poppins Medium"/>
                </a:rPr>
                <a:t>DROP INDEX COLUMN</a:t>
              </a:r>
            </a:p>
          </p:txBody>
        </p:sp>
      </p:grpSp>
      <p:grpSp>
        <p:nvGrpSpPr>
          <p:cNvPr id="7" name="Group 7">
            <a:extLst>
              <a:ext uri="{FF2B5EF4-FFF2-40B4-BE49-F238E27FC236}">
                <a16:creationId xmlns:a16="http://schemas.microsoft.com/office/drawing/2014/main" id="{3F73FB8A-3DA0-2EB8-61BD-A56A6EAD9CCA}"/>
              </a:ext>
            </a:extLst>
          </p:cNvPr>
          <p:cNvGrpSpPr/>
          <p:nvPr/>
        </p:nvGrpSpPr>
        <p:grpSpPr>
          <a:xfrm>
            <a:off x="13356138" y="2848191"/>
            <a:ext cx="3903162" cy="823858"/>
            <a:chOff x="0" y="0"/>
            <a:chExt cx="1027993" cy="216983"/>
          </a:xfrm>
        </p:grpSpPr>
        <p:sp>
          <p:nvSpPr>
            <p:cNvPr id="8" name="Freeform 8">
              <a:extLst>
                <a:ext uri="{FF2B5EF4-FFF2-40B4-BE49-F238E27FC236}">
                  <a16:creationId xmlns:a16="http://schemas.microsoft.com/office/drawing/2014/main" id="{DA1C2AF6-B602-E3A5-872F-F7B69037A5DF}"/>
                </a:ext>
              </a:extLst>
            </p:cNvPr>
            <p:cNvSpPr/>
            <p:nvPr/>
          </p:nvSpPr>
          <p:spPr>
            <a:xfrm>
              <a:off x="0" y="0"/>
              <a:ext cx="1027993" cy="216983"/>
            </a:xfrm>
            <a:custGeom>
              <a:avLst/>
              <a:gdLst/>
              <a:ahLst/>
              <a:cxnLst/>
              <a:rect l="l" t="t" r="r" b="b"/>
              <a:pathLst>
                <a:path w="1027993" h="216983">
                  <a:moveTo>
                    <a:pt x="108492" y="0"/>
                  </a:moveTo>
                  <a:lnTo>
                    <a:pt x="919502" y="0"/>
                  </a:lnTo>
                  <a:cubicBezTo>
                    <a:pt x="979420" y="0"/>
                    <a:pt x="1027993" y="48573"/>
                    <a:pt x="1027993" y="108492"/>
                  </a:cubicBezTo>
                  <a:lnTo>
                    <a:pt x="1027993" y="108492"/>
                  </a:lnTo>
                  <a:cubicBezTo>
                    <a:pt x="1027993" y="168410"/>
                    <a:pt x="979420" y="216983"/>
                    <a:pt x="919502" y="216983"/>
                  </a:cubicBezTo>
                  <a:lnTo>
                    <a:pt x="108492" y="216983"/>
                  </a:lnTo>
                  <a:cubicBezTo>
                    <a:pt x="48573" y="216983"/>
                    <a:pt x="0" y="168410"/>
                    <a:pt x="0" y="108492"/>
                  </a:cubicBezTo>
                  <a:lnTo>
                    <a:pt x="0" y="108492"/>
                  </a:lnTo>
                  <a:cubicBezTo>
                    <a:pt x="0" y="48573"/>
                    <a:pt x="48573" y="0"/>
                    <a:pt x="108492" y="0"/>
                  </a:cubicBezTo>
                  <a:close/>
                </a:path>
              </a:pathLst>
            </a:custGeom>
            <a:gradFill rotWithShape="1">
              <a:gsLst>
                <a:gs pos="0">
                  <a:srgbClr val="590E1E">
                    <a:alpha val="100000"/>
                  </a:srgbClr>
                </a:gs>
                <a:gs pos="100000">
                  <a:srgbClr val="000000">
                    <a:alpha val="100000"/>
                  </a:srgbClr>
                </a:gs>
              </a:gsLst>
              <a:lin ang="0"/>
            </a:gradFill>
            <a:ln w="9525" cap="rnd">
              <a:solidFill>
                <a:srgbClr val="F4F4F4"/>
              </a:solidFill>
              <a:prstDash val="solid"/>
              <a:round/>
            </a:ln>
          </p:spPr>
          <p:txBody>
            <a:bodyPr/>
            <a:lstStyle/>
            <a:p>
              <a:endParaRPr lang="en-PH"/>
            </a:p>
          </p:txBody>
        </p:sp>
        <p:sp>
          <p:nvSpPr>
            <p:cNvPr id="9" name="TextBox 9">
              <a:extLst>
                <a:ext uri="{FF2B5EF4-FFF2-40B4-BE49-F238E27FC236}">
                  <a16:creationId xmlns:a16="http://schemas.microsoft.com/office/drawing/2014/main" id="{577DC52D-FDD4-B7C3-FDF8-187241DF4144}"/>
                </a:ext>
              </a:extLst>
            </p:cNvPr>
            <p:cNvSpPr txBox="1"/>
            <p:nvPr/>
          </p:nvSpPr>
          <p:spPr>
            <a:xfrm>
              <a:off x="0" y="-76200"/>
              <a:ext cx="1027993" cy="293183"/>
            </a:xfrm>
            <a:prstGeom prst="rect">
              <a:avLst/>
            </a:prstGeom>
          </p:spPr>
          <p:txBody>
            <a:bodyPr lIns="50800" tIns="50800" rIns="50800" bIns="50800" rtlCol="0" anchor="ctr"/>
            <a:lstStyle/>
            <a:p>
              <a:pPr marL="0" lvl="0" indent="0" algn="ctr">
                <a:lnSpc>
                  <a:spcPts val="3527"/>
                </a:lnSpc>
              </a:pPr>
              <a:r>
                <a:rPr lang="en-US" sz="2519" b="1" spc="52">
                  <a:solidFill>
                    <a:srgbClr val="F4F4F4"/>
                  </a:solidFill>
                  <a:latin typeface="Poppins Medium"/>
                  <a:ea typeface="Poppins Medium"/>
                  <a:cs typeface="Poppins Medium"/>
                  <a:sym typeface="Poppins Medium"/>
                </a:rPr>
                <a:t>STANDARDIZE NAMES</a:t>
              </a:r>
            </a:p>
          </p:txBody>
        </p:sp>
      </p:grpSp>
      <p:grpSp>
        <p:nvGrpSpPr>
          <p:cNvPr id="10" name="Group 10">
            <a:extLst>
              <a:ext uri="{FF2B5EF4-FFF2-40B4-BE49-F238E27FC236}">
                <a16:creationId xmlns:a16="http://schemas.microsoft.com/office/drawing/2014/main" id="{C62F4DF6-C36F-9210-7E16-0756119A7926}"/>
              </a:ext>
            </a:extLst>
          </p:cNvPr>
          <p:cNvGrpSpPr/>
          <p:nvPr/>
        </p:nvGrpSpPr>
        <p:grpSpPr>
          <a:xfrm>
            <a:off x="13356138" y="4710275"/>
            <a:ext cx="3903162" cy="1170439"/>
            <a:chOff x="0" y="0"/>
            <a:chExt cx="1027993" cy="308264"/>
          </a:xfrm>
        </p:grpSpPr>
        <p:sp>
          <p:nvSpPr>
            <p:cNvPr id="11" name="Freeform 11">
              <a:extLst>
                <a:ext uri="{FF2B5EF4-FFF2-40B4-BE49-F238E27FC236}">
                  <a16:creationId xmlns:a16="http://schemas.microsoft.com/office/drawing/2014/main" id="{7C6C618E-7011-4EA6-2478-4F5893306EFE}"/>
                </a:ext>
              </a:extLst>
            </p:cNvPr>
            <p:cNvSpPr/>
            <p:nvPr/>
          </p:nvSpPr>
          <p:spPr>
            <a:xfrm>
              <a:off x="0" y="0"/>
              <a:ext cx="1027993" cy="308264"/>
            </a:xfrm>
            <a:custGeom>
              <a:avLst/>
              <a:gdLst/>
              <a:ahLst/>
              <a:cxnLst/>
              <a:rect l="l" t="t" r="r" b="b"/>
              <a:pathLst>
                <a:path w="1027993" h="308264">
                  <a:moveTo>
                    <a:pt x="154132" y="0"/>
                  </a:moveTo>
                  <a:lnTo>
                    <a:pt x="873861" y="0"/>
                  </a:lnTo>
                  <a:cubicBezTo>
                    <a:pt x="914740" y="0"/>
                    <a:pt x="953944" y="16239"/>
                    <a:pt x="982849" y="45144"/>
                  </a:cubicBezTo>
                  <a:cubicBezTo>
                    <a:pt x="1011755" y="74050"/>
                    <a:pt x="1027993" y="113254"/>
                    <a:pt x="1027993" y="154132"/>
                  </a:cubicBezTo>
                  <a:lnTo>
                    <a:pt x="1027993" y="154132"/>
                  </a:lnTo>
                  <a:cubicBezTo>
                    <a:pt x="1027993" y="239257"/>
                    <a:pt x="958986" y="308264"/>
                    <a:pt x="873861" y="308264"/>
                  </a:cubicBezTo>
                  <a:lnTo>
                    <a:pt x="154132" y="308264"/>
                  </a:lnTo>
                  <a:cubicBezTo>
                    <a:pt x="69007" y="308264"/>
                    <a:pt x="0" y="239257"/>
                    <a:pt x="0" y="154132"/>
                  </a:cubicBezTo>
                  <a:lnTo>
                    <a:pt x="0" y="154132"/>
                  </a:lnTo>
                  <a:cubicBezTo>
                    <a:pt x="0" y="69007"/>
                    <a:pt x="69007" y="0"/>
                    <a:pt x="154132" y="0"/>
                  </a:cubicBezTo>
                  <a:close/>
                </a:path>
              </a:pathLst>
            </a:custGeom>
            <a:gradFill rotWithShape="1">
              <a:gsLst>
                <a:gs pos="0">
                  <a:srgbClr val="590E1E">
                    <a:alpha val="100000"/>
                  </a:srgbClr>
                </a:gs>
                <a:gs pos="100000">
                  <a:srgbClr val="000000">
                    <a:alpha val="100000"/>
                  </a:srgbClr>
                </a:gs>
              </a:gsLst>
              <a:lin ang="0"/>
            </a:gradFill>
            <a:ln w="9525" cap="rnd">
              <a:solidFill>
                <a:srgbClr val="F4F4F4"/>
              </a:solidFill>
              <a:prstDash val="solid"/>
              <a:round/>
            </a:ln>
          </p:spPr>
          <p:txBody>
            <a:bodyPr/>
            <a:lstStyle/>
            <a:p>
              <a:endParaRPr lang="en-PH"/>
            </a:p>
          </p:txBody>
        </p:sp>
        <p:sp>
          <p:nvSpPr>
            <p:cNvPr id="12" name="TextBox 12">
              <a:extLst>
                <a:ext uri="{FF2B5EF4-FFF2-40B4-BE49-F238E27FC236}">
                  <a16:creationId xmlns:a16="http://schemas.microsoft.com/office/drawing/2014/main" id="{A6D22682-A91F-2F91-4EAA-256A3CB3CEE3}"/>
                </a:ext>
              </a:extLst>
            </p:cNvPr>
            <p:cNvSpPr txBox="1"/>
            <p:nvPr/>
          </p:nvSpPr>
          <p:spPr>
            <a:xfrm>
              <a:off x="0" y="-76200"/>
              <a:ext cx="1027993" cy="384464"/>
            </a:xfrm>
            <a:prstGeom prst="rect">
              <a:avLst/>
            </a:prstGeom>
          </p:spPr>
          <p:txBody>
            <a:bodyPr lIns="50800" tIns="50800" rIns="50800" bIns="50800" rtlCol="0" anchor="ctr"/>
            <a:lstStyle/>
            <a:p>
              <a:pPr marL="0" lvl="0" indent="0" algn="ctr">
                <a:lnSpc>
                  <a:spcPts val="3527"/>
                </a:lnSpc>
              </a:pPr>
              <a:r>
                <a:rPr lang="en-US" sz="2519" b="1" spc="52">
                  <a:solidFill>
                    <a:srgbClr val="F4F4F4"/>
                  </a:solidFill>
                  <a:latin typeface="Poppins Medium"/>
                  <a:ea typeface="Poppins Medium"/>
                  <a:cs typeface="Poppins Medium"/>
                  <a:sym typeface="Poppins Medium"/>
                </a:rPr>
                <a:t>ENCODE RECOMMENDED</a:t>
              </a:r>
            </a:p>
          </p:txBody>
        </p:sp>
      </p:grpSp>
      <p:grpSp>
        <p:nvGrpSpPr>
          <p:cNvPr id="19" name="Group 19">
            <a:extLst>
              <a:ext uri="{FF2B5EF4-FFF2-40B4-BE49-F238E27FC236}">
                <a16:creationId xmlns:a16="http://schemas.microsoft.com/office/drawing/2014/main" id="{AFD571A6-DD4D-E83D-D11C-CE3E442CF38A}"/>
              </a:ext>
            </a:extLst>
          </p:cNvPr>
          <p:cNvGrpSpPr/>
          <p:nvPr/>
        </p:nvGrpSpPr>
        <p:grpSpPr>
          <a:xfrm>
            <a:off x="11873585" y="1040458"/>
            <a:ext cx="812101" cy="812101"/>
            <a:chOff x="0" y="0"/>
            <a:chExt cx="812800" cy="812800"/>
          </a:xfrm>
        </p:grpSpPr>
        <p:sp>
          <p:nvSpPr>
            <p:cNvPr id="20" name="Freeform 20">
              <a:extLst>
                <a:ext uri="{FF2B5EF4-FFF2-40B4-BE49-F238E27FC236}">
                  <a16:creationId xmlns:a16="http://schemas.microsoft.com/office/drawing/2014/main" id="{3BD162AD-41D1-10DD-3CD2-B9D3BB432F4E}"/>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1">
              <a:gsLst>
                <a:gs pos="0">
                  <a:srgbClr val="6B1124">
                    <a:alpha val="100000"/>
                  </a:srgbClr>
                </a:gs>
                <a:gs pos="50000">
                  <a:srgbClr val="000000">
                    <a:alpha val="100000"/>
                  </a:srgbClr>
                </a:gs>
                <a:gs pos="100000">
                  <a:srgbClr val="6B1124">
                    <a:alpha val="100000"/>
                  </a:srgbClr>
                </a:gs>
              </a:gsLst>
              <a:path path="circle">
                <a:fillToRect r="100000" b="100000"/>
              </a:path>
              <a:tileRect l="-100000" t="-100000"/>
            </a:gradFill>
            <a:ln w="9525" cap="sq">
              <a:solidFill>
                <a:srgbClr val="F4F4F4"/>
              </a:solidFill>
              <a:prstDash val="solid"/>
              <a:miter/>
            </a:ln>
          </p:spPr>
          <p:txBody>
            <a:bodyPr/>
            <a:lstStyle/>
            <a:p>
              <a:endParaRPr lang="en-PH"/>
            </a:p>
          </p:txBody>
        </p:sp>
        <p:sp>
          <p:nvSpPr>
            <p:cNvPr id="21" name="TextBox 21">
              <a:extLst>
                <a:ext uri="{FF2B5EF4-FFF2-40B4-BE49-F238E27FC236}">
                  <a16:creationId xmlns:a16="http://schemas.microsoft.com/office/drawing/2014/main" id="{858BA44A-E5B5-A70C-F55E-8677B0B5F9F9}"/>
                </a:ext>
              </a:extLst>
            </p:cNvPr>
            <p:cNvSpPr txBox="1"/>
            <p:nvPr/>
          </p:nvSpPr>
          <p:spPr>
            <a:xfrm>
              <a:off x="76200" y="9525"/>
              <a:ext cx="660400" cy="727075"/>
            </a:xfrm>
            <a:prstGeom prst="rect">
              <a:avLst/>
            </a:prstGeom>
          </p:spPr>
          <p:txBody>
            <a:bodyPr lIns="50800" tIns="50800" rIns="50800" bIns="50800" rtlCol="0" anchor="ctr"/>
            <a:lstStyle/>
            <a:p>
              <a:pPr marL="0" lvl="0" indent="0" algn="ctr">
                <a:lnSpc>
                  <a:spcPts val="3110"/>
                </a:lnSpc>
              </a:pPr>
              <a:r>
                <a:rPr lang="en-US" sz="2221" b="1" spc="46">
                  <a:solidFill>
                    <a:srgbClr val="FFFFFF"/>
                  </a:solidFill>
                  <a:latin typeface="Poppins Medium"/>
                  <a:ea typeface="Poppins Medium"/>
                  <a:cs typeface="Poppins Medium"/>
                  <a:sym typeface="Poppins Medium"/>
                </a:rPr>
                <a:t>1</a:t>
              </a:r>
            </a:p>
          </p:txBody>
        </p:sp>
      </p:grpSp>
      <p:grpSp>
        <p:nvGrpSpPr>
          <p:cNvPr id="22" name="Group 22">
            <a:extLst>
              <a:ext uri="{FF2B5EF4-FFF2-40B4-BE49-F238E27FC236}">
                <a16:creationId xmlns:a16="http://schemas.microsoft.com/office/drawing/2014/main" id="{B58AB502-65AD-738C-6D36-37D8D344F70A}"/>
              </a:ext>
            </a:extLst>
          </p:cNvPr>
          <p:cNvGrpSpPr/>
          <p:nvPr/>
        </p:nvGrpSpPr>
        <p:grpSpPr>
          <a:xfrm>
            <a:off x="11873585" y="2848191"/>
            <a:ext cx="812101" cy="812101"/>
            <a:chOff x="0" y="0"/>
            <a:chExt cx="812800" cy="812800"/>
          </a:xfrm>
        </p:grpSpPr>
        <p:sp>
          <p:nvSpPr>
            <p:cNvPr id="23" name="Freeform 23">
              <a:extLst>
                <a:ext uri="{FF2B5EF4-FFF2-40B4-BE49-F238E27FC236}">
                  <a16:creationId xmlns:a16="http://schemas.microsoft.com/office/drawing/2014/main" id="{787DCD2F-7064-C261-1202-58AA61807B7B}"/>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1">
              <a:gsLst>
                <a:gs pos="0">
                  <a:srgbClr val="6B1124">
                    <a:alpha val="100000"/>
                  </a:srgbClr>
                </a:gs>
                <a:gs pos="50000">
                  <a:srgbClr val="000000">
                    <a:alpha val="100000"/>
                  </a:srgbClr>
                </a:gs>
                <a:gs pos="100000">
                  <a:srgbClr val="6B1124">
                    <a:alpha val="100000"/>
                  </a:srgbClr>
                </a:gs>
              </a:gsLst>
              <a:path path="circle">
                <a:fillToRect r="100000" b="100000"/>
              </a:path>
              <a:tileRect l="-100000" t="-100000"/>
            </a:gradFill>
            <a:ln w="9525" cap="sq">
              <a:solidFill>
                <a:srgbClr val="F4F4F4"/>
              </a:solidFill>
              <a:prstDash val="solid"/>
              <a:miter/>
            </a:ln>
          </p:spPr>
          <p:txBody>
            <a:bodyPr/>
            <a:lstStyle/>
            <a:p>
              <a:endParaRPr lang="en-PH"/>
            </a:p>
          </p:txBody>
        </p:sp>
        <p:sp>
          <p:nvSpPr>
            <p:cNvPr id="24" name="TextBox 24">
              <a:extLst>
                <a:ext uri="{FF2B5EF4-FFF2-40B4-BE49-F238E27FC236}">
                  <a16:creationId xmlns:a16="http://schemas.microsoft.com/office/drawing/2014/main" id="{A9728963-2714-28F6-C656-145A7B03F930}"/>
                </a:ext>
              </a:extLst>
            </p:cNvPr>
            <p:cNvSpPr txBox="1"/>
            <p:nvPr/>
          </p:nvSpPr>
          <p:spPr>
            <a:xfrm>
              <a:off x="76200" y="9525"/>
              <a:ext cx="660400" cy="727075"/>
            </a:xfrm>
            <a:prstGeom prst="rect">
              <a:avLst/>
            </a:prstGeom>
          </p:spPr>
          <p:txBody>
            <a:bodyPr lIns="50800" tIns="50800" rIns="50800" bIns="50800" rtlCol="0" anchor="ctr"/>
            <a:lstStyle/>
            <a:p>
              <a:pPr marL="0" lvl="0" indent="0" algn="ctr">
                <a:lnSpc>
                  <a:spcPts val="3108"/>
                </a:lnSpc>
              </a:pPr>
              <a:r>
                <a:rPr lang="en-US" sz="2220" b="1" spc="46">
                  <a:solidFill>
                    <a:srgbClr val="FFFFFF"/>
                  </a:solidFill>
                  <a:latin typeface="Poppins Medium"/>
                  <a:ea typeface="Poppins Medium"/>
                  <a:cs typeface="Poppins Medium"/>
                  <a:sym typeface="Poppins Medium"/>
                </a:rPr>
                <a:t>2</a:t>
              </a:r>
            </a:p>
          </p:txBody>
        </p:sp>
      </p:grpSp>
      <p:grpSp>
        <p:nvGrpSpPr>
          <p:cNvPr id="25" name="Group 25">
            <a:extLst>
              <a:ext uri="{FF2B5EF4-FFF2-40B4-BE49-F238E27FC236}">
                <a16:creationId xmlns:a16="http://schemas.microsoft.com/office/drawing/2014/main" id="{CA83C004-2005-E9E6-19F4-301C5134EB20}"/>
              </a:ext>
            </a:extLst>
          </p:cNvPr>
          <p:cNvGrpSpPr/>
          <p:nvPr/>
        </p:nvGrpSpPr>
        <p:grpSpPr>
          <a:xfrm>
            <a:off x="11873585" y="4737450"/>
            <a:ext cx="812101" cy="812101"/>
            <a:chOff x="0" y="0"/>
            <a:chExt cx="812800" cy="812800"/>
          </a:xfrm>
        </p:grpSpPr>
        <p:sp>
          <p:nvSpPr>
            <p:cNvPr id="26" name="Freeform 26">
              <a:extLst>
                <a:ext uri="{FF2B5EF4-FFF2-40B4-BE49-F238E27FC236}">
                  <a16:creationId xmlns:a16="http://schemas.microsoft.com/office/drawing/2014/main" id="{DC1BC6FB-D18F-F7CA-DB49-518E354DC70B}"/>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1">
              <a:gsLst>
                <a:gs pos="0">
                  <a:srgbClr val="6B1124">
                    <a:alpha val="100000"/>
                  </a:srgbClr>
                </a:gs>
                <a:gs pos="50000">
                  <a:srgbClr val="000000">
                    <a:alpha val="100000"/>
                  </a:srgbClr>
                </a:gs>
                <a:gs pos="100000">
                  <a:srgbClr val="6B1124">
                    <a:alpha val="100000"/>
                  </a:srgbClr>
                </a:gs>
              </a:gsLst>
              <a:path path="circle">
                <a:fillToRect r="100000" b="100000"/>
              </a:path>
              <a:tileRect l="-100000" t="-100000"/>
            </a:gradFill>
            <a:ln w="9525" cap="sq">
              <a:solidFill>
                <a:srgbClr val="F4F4F4"/>
              </a:solidFill>
              <a:prstDash val="solid"/>
              <a:miter/>
            </a:ln>
          </p:spPr>
          <p:txBody>
            <a:bodyPr/>
            <a:lstStyle/>
            <a:p>
              <a:endParaRPr lang="en-PH"/>
            </a:p>
          </p:txBody>
        </p:sp>
        <p:sp>
          <p:nvSpPr>
            <p:cNvPr id="27" name="TextBox 27">
              <a:extLst>
                <a:ext uri="{FF2B5EF4-FFF2-40B4-BE49-F238E27FC236}">
                  <a16:creationId xmlns:a16="http://schemas.microsoft.com/office/drawing/2014/main" id="{297B569E-7A97-56D2-255E-7B2E60405B45}"/>
                </a:ext>
              </a:extLst>
            </p:cNvPr>
            <p:cNvSpPr txBox="1"/>
            <p:nvPr/>
          </p:nvSpPr>
          <p:spPr>
            <a:xfrm>
              <a:off x="76200" y="9525"/>
              <a:ext cx="660400" cy="727075"/>
            </a:xfrm>
            <a:prstGeom prst="rect">
              <a:avLst/>
            </a:prstGeom>
          </p:spPr>
          <p:txBody>
            <a:bodyPr lIns="50800" tIns="50800" rIns="50800" bIns="50800" rtlCol="0" anchor="ctr"/>
            <a:lstStyle/>
            <a:p>
              <a:pPr marL="0" lvl="0" indent="0" algn="ctr">
                <a:lnSpc>
                  <a:spcPts val="3108"/>
                </a:lnSpc>
              </a:pPr>
              <a:r>
                <a:rPr lang="en-US" sz="2220" b="1" spc="46">
                  <a:solidFill>
                    <a:srgbClr val="FFFFFF"/>
                  </a:solidFill>
                  <a:latin typeface="Poppins Medium"/>
                  <a:ea typeface="Poppins Medium"/>
                  <a:cs typeface="Poppins Medium"/>
                  <a:sym typeface="Poppins Medium"/>
                </a:rPr>
                <a:t>3</a:t>
              </a:r>
            </a:p>
          </p:txBody>
        </p:sp>
      </p:grpSp>
      <p:grpSp>
        <p:nvGrpSpPr>
          <p:cNvPr id="28" name="Group 28">
            <a:extLst>
              <a:ext uri="{FF2B5EF4-FFF2-40B4-BE49-F238E27FC236}">
                <a16:creationId xmlns:a16="http://schemas.microsoft.com/office/drawing/2014/main" id="{82D06B85-BBF1-0AE4-5484-7D88501C7822}"/>
              </a:ext>
            </a:extLst>
          </p:cNvPr>
          <p:cNvGrpSpPr/>
          <p:nvPr/>
        </p:nvGrpSpPr>
        <p:grpSpPr>
          <a:xfrm>
            <a:off x="11873585" y="6584116"/>
            <a:ext cx="812101" cy="812101"/>
            <a:chOff x="0" y="0"/>
            <a:chExt cx="812800" cy="812800"/>
          </a:xfrm>
        </p:grpSpPr>
        <p:sp>
          <p:nvSpPr>
            <p:cNvPr id="29" name="Freeform 29">
              <a:extLst>
                <a:ext uri="{FF2B5EF4-FFF2-40B4-BE49-F238E27FC236}">
                  <a16:creationId xmlns:a16="http://schemas.microsoft.com/office/drawing/2014/main" id="{973DEB83-9C79-53BD-C71D-CC3F69E2E4BF}"/>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1">
              <a:gsLst>
                <a:gs pos="0">
                  <a:srgbClr val="6B1124">
                    <a:alpha val="100000"/>
                  </a:srgbClr>
                </a:gs>
                <a:gs pos="50000">
                  <a:srgbClr val="000000">
                    <a:alpha val="100000"/>
                  </a:srgbClr>
                </a:gs>
                <a:gs pos="100000">
                  <a:srgbClr val="6B1124">
                    <a:alpha val="100000"/>
                  </a:srgbClr>
                </a:gs>
              </a:gsLst>
              <a:path path="circle">
                <a:fillToRect r="100000" b="100000"/>
              </a:path>
              <a:tileRect l="-100000" t="-100000"/>
            </a:gradFill>
            <a:ln w="9525" cap="sq">
              <a:solidFill>
                <a:srgbClr val="F4F4F4"/>
              </a:solidFill>
              <a:prstDash val="solid"/>
              <a:miter/>
            </a:ln>
          </p:spPr>
          <p:txBody>
            <a:bodyPr/>
            <a:lstStyle/>
            <a:p>
              <a:endParaRPr lang="en-PH"/>
            </a:p>
          </p:txBody>
        </p:sp>
        <p:sp>
          <p:nvSpPr>
            <p:cNvPr id="30" name="TextBox 30">
              <a:extLst>
                <a:ext uri="{FF2B5EF4-FFF2-40B4-BE49-F238E27FC236}">
                  <a16:creationId xmlns:a16="http://schemas.microsoft.com/office/drawing/2014/main" id="{59F5DC4E-FF92-D97A-AC08-89CE5D7A5B4F}"/>
                </a:ext>
              </a:extLst>
            </p:cNvPr>
            <p:cNvSpPr txBox="1"/>
            <p:nvPr/>
          </p:nvSpPr>
          <p:spPr>
            <a:xfrm>
              <a:off x="76200" y="9525"/>
              <a:ext cx="660400" cy="727075"/>
            </a:xfrm>
            <a:prstGeom prst="rect">
              <a:avLst/>
            </a:prstGeom>
          </p:spPr>
          <p:txBody>
            <a:bodyPr lIns="50800" tIns="50800" rIns="50800" bIns="50800" rtlCol="0" anchor="ctr"/>
            <a:lstStyle/>
            <a:p>
              <a:pPr marL="0" lvl="0" indent="0" algn="ctr">
                <a:lnSpc>
                  <a:spcPts val="3108"/>
                </a:lnSpc>
              </a:pPr>
              <a:r>
                <a:rPr lang="en-US" sz="2220" b="1" spc="46">
                  <a:solidFill>
                    <a:srgbClr val="FFFFFF"/>
                  </a:solidFill>
                  <a:latin typeface="Poppins Medium"/>
                  <a:ea typeface="Poppins Medium"/>
                  <a:cs typeface="Poppins Medium"/>
                  <a:sym typeface="Poppins Medium"/>
                </a:rPr>
                <a:t>4</a:t>
              </a:r>
            </a:p>
          </p:txBody>
        </p:sp>
      </p:grpSp>
      <p:grpSp>
        <p:nvGrpSpPr>
          <p:cNvPr id="31" name="Group 31">
            <a:extLst>
              <a:ext uri="{FF2B5EF4-FFF2-40B4-BE49-F238E27FC236}">
                <a16:creationId xmlns:a16="http://schemas.microsoft.com/office/drawing/2014/main" id="{732FE800-EA1A-F82C-FE69-523ECA846B8F}"/>
              </a:ext>
            </a:extLst>
          </p:cNvPr>
          <p:cNvGrpSpPr/>
          <p:nvPr/>
        </p:nvGrpSpPr>
        <p:grpSpPr>
          <a:xfrm>
            <a:off x="11873585" y="8472542"/>
            <a:ext cx="812101" cy="812101"/>
            <a:chOff x="0" y="0"/>
            <a:chExt cx="812800" cy="812800"/>
          </a:xfrm>
        </p:grpSpPr>
        <p:sp>
          <p:nvSpPr>
            <p:cNvPr id="32" name="Freeform 32">
              <a:extLst>
                <a:ext uri="{FF2B5EF4-FFF2-40B4-BE49-F238E27FC236}">
                  <a16:creationId xmlns:a16="http://schemas.microsoft.com/office/drawing/2014/main" id="{B9D03A23-A44C-978B-97DF-497C2979B669}"/>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1">
              <a:gsLst>
                <a:gs pos="0">
                  <a:srgbClr val="6B1124">
                    <a:alpha val="100000"/>
                  </a:srgbClr>
                </a:gs>
                <a:gs pos="50000">
                  <a:srgbClr val="000000">
                    <a:alpha val="100000"/>
                  </a:srgbClr>
                </a:gs>
                <a:gs pos="100000">
                  <a:srgbClr val="6B1124">
                    <a:alpha val="100000"/>
                  </a:srgbClr>
                </a:gs>
              </a:gsLst>
              <a:path path="circle">
                <a:fillToRect r="100000" b="100000"/>
              </a:path>
              <a:tileRect l="-100000" t="-100000"/>
            </a:gradFill>
            <a:ln w="9525" cap="sq">
              <a:solidFill>
                <a:srgbClr val="F4F4F4"/>
              </a:solidFill>
              <a:prstDash val="solid"/>
              <a:miter/>
            </a:ln>
          </p:spPr>
          <p:txBody>
            <a:bodyPr/>
            <a:lstStyle/>
            <a:p>
              <a:endParaRPr lang="en-PH"/>
            </a:p>
          </p:txBody>
        </p:sp>
        <p:sp>
          <p:nvSpPr>
            <p:cNvPr id="33" name="TextBox 33">
              <a:extLst>
                <a:ext uri="{FF2B5EF4-FFF2-40B4-BE49-F238E27FC236}">
                  <a16:creationId xmlns:a16="http://schemas.microsoft.com/office/drawing/2014/main" id="{A4D06DF0-2065-7647-5E4A-E57B2AD7AD5C}"/>
                </a:ext>
              </a:extLst>
            </p:cNvPr>
            <p:cNvSpPr txBox="1"/>
            <p:nvPr/>
          </p:nvSpPr>
          <p:spPr>
            <a:xfrm>
              <a:off x="76200" y="9525"/>
              <a:ext cx="660400" cy="727075"/>
            </a:xfrm>
            <a:prstGeom prst="rect">
              <a:avLst/>
            </a:prstGeom>
          </p:spPr>
          <p:txBody>
            <a:bodyPr lIns="50800" tIns="50800" rIns="50800" bIns="50800" rtlCol="0" anchor="ctr"/>
            <a:lstStyle/>
            <a:p>
              <a:pPr marL="0" lvl="0" indent="0" algn="ctr">
                <a:lnSpc>
                  <a:spcPts val="3108"/>
                </a:lnSpc>
              </a:pPr>
              <a:r>
                <a:rPr lang="en-US" sz="2220" b="1" spc="46">
                  <a:solidFill>
                    <a:srgbClr val="FFFFFF"/>
                  </a:solidFill>
                  <a:latin typeface="Poppins Medium"/>
                  <a:ea typeface="Poppins Medium"/>
                  <a:cs typeface="Poppins Medium"/>
                  <a:sym typeface="Poppins Medium"/>
                </a:rPr>
                <a:t>5</a:t>
              </a:r>
            </a:p>
          </p:txBody>
        </p:sp>
      </p:grpSp>
      <p:pic>
        <p:nvPicPr>
          <p:cNvPr id="45" name="Picture 44">
            <a:extLst>
              <a:ext uri="{FF2B5EF4-FFF2-40B4-BE49-F238E27FC236}">
                <a16:creationId xmlns:a16="http://schemas.microsoft.com/office/drawing/2014/main" id="{48FC0C6F-A712-E4C2-80A3-352E762CDE15}"/>
              </a:ext>
            </a:extLst>
          </p:cNvPr>
          <p:cNvPicPr>
            <a:picLocks noChangeAspect="1"/>
          </p:cNvPicPr>
          <p:nvPr/>
        </p:nvPicPr>
        <p:blipFill>
          <a:blip r:embed="rId2"/>
          <a:stretch>
            <a:fillRect/>
          </a:stretch>
        </p:blipFill>
        <p:spPr>
          <a:xfrm>
            <a:off x="1266849" y="2320978"/>
            <a:ext cx="9483032" cy="5645043"/>
          </a:xfrm>
          <a:prstGeom prst="rect">
            <a:avLst/>
          </a:prstGeom>
        </p:spPr>
      </p:pic>
    </p:spTree>
    <p:extLst>
      <p:ext uri="{BB962C8B-B14F-4D97-AF65-F5344CB8AC3E}">
        <p14:creationId xmlns:p14="http://schemas.microsoft.com/office/powerpoint/2010/main" val="13115416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gradFill rotWithShape="1">
          <a:gsLst>
            <a:gs pos="0">
              <a:srgbClr val="6B1124">
                <a:alpha val="100000"/>
              </a:srgbClr>
            </a:gs>
            <a:gs pos="50000">
              <a:srgbClr val="000000">
                <a:alpha val="100000"/>
              </a:srgbClr>
            </a:gs>
            <a:gs pos="100000">
              <a:srgbClr val="6B1124">
                <a:alpha val="100000"/>
              </a:srgbClr>
            </a:gs>
          </a:gsLst>
          <a:path path="circle">
            <a:fillToRect r="100000" b="100000"/>
          </a:path>
          <a:tileRect l="-100000" t="-100000"/>
        </a:gradFill>
        <a:effectLst/>
      </p:bgPr>
    </p:bg>
    <p:spTree>
      <p:nvGrpSpPr>
        <p:cNvPr id="1" name="">
          <a:extLst>
            <a:ext uri="{FF2B5EF4-FFF2-40B4-BE49-F238E27FC236}">
              <a16:creationId xmlns:a16="http://schemas.microsoft.com/office/drawing/2014/main" id="{AFA1A241-69F0-F0AF-9EF9-96681B046AEC}"/>
            </a:ext>
          </a:extLst>
        </p:cNvPr>
        <p:cNvGrpSpPr/>
        <p:nvPr/>
      </p:nvGrpSpPr>
      <p:grpSpPr>
        <a:xfrm>
          <a:off x="0" y="0"/>
          <a:ext cx="0" cy="0"/>
          <a:chOff x="0" y="0"/>
          <a:chExt cx="0" cy="0"/>
        </a:xfrm>
      </p:grpSpPr>
      <p:sp>
        <p:nvSpPr>
          <p:cNvPr id="3" name="AutoShape 3">
            <a:extLst>
              <a:ext uri="{FF2B5EF4-FFF2-40B4-BE49-F238E27FC236}">
                <a16:creationId xmlns:a16="http://schemas.microsoft.com/office/drawing/2014/main" id="{235C2D73-B69F-3431-C6D5-86E6FE28EB29}"/>
              </a:ext>
            </a:extLst>
          </p:cNvPr>
          <p:cNvSpPr/>
          <p:nvPr/>
        </p:nvSpPr>
        <p:spPr>
          <a:xfrm flipV="1">
            <a:off x="12279636" y="0"/>
            <a:ext cx="0" cy="10321060"/>
          </a:xfrm>
          <a:prstGeom prst="line">
            <a:avLst/>
          </a:prstGeom>
          <a:ln w="9525" cap="rnd">
            <a:solidFill>
              <a:srgbClr val="F4F4F4"/>
            </a:solidFill>
            <a:prstDash val="solid"/>
            <a:headEnd type="none" w="sm" len="sm"/>
            <a:tailEnd type="none" w="sm" len="sm"/>
          </a:ln>
        </p:spPr>
        <p:txBody>
          <a:bodyPr/>
          <a:lstStyle/>
          <a:p>
            <a:endParaRPr lang="en-PH"/>
          </a:p>
        </p:txBody>
      </p:sp>
      <p:grpSp>
        <p:nvGrpSpPr>
          <p:cNvPr id="4" name="Group 4">
            <a:extLst>
              <a:ext uri="{FF2B5EF4-FFF2-40B4-BE49-F238E27FC236}">
                <a16:creationId xmlns:a16="http://schemas.microsoft.com/office/drawing/2014/main" id="{482AA26B-D3C6-8D3D-0B1F-F1F27C06E797}"/>
              </a:ext>
            </a:extLst>
          </p:cNvPr>
          <p:cNvGrpSpPr/>
          <p:nvPr/>
        </p:nvGrpSpPr>
        <p:grpSpPr>
          <a:xfrm>
            <a:off x="13356138" y="1028700"/>
            <a:ext cx="3903162" cy="823858"/>
            <a:chOff x="0" y="0"/>
            <a:chExt cx="1027993" cy="216983"/>
          </a:xfrm>
        </p:grpSpPr>
        <p:sp>
          <p:nvSpPr>
            <p:cNvPr id="5" name="Freeform 5">
              <a:extLst>
                <a:ext uri="{FF2B5EF4-FFF2-40B4-BE49-F238E27FC236}">
                  <a16:creationId xmlns:a16="http://schemas.microsoft.com/office/drawing/2014/main" id="{A8CD02C4-47EE-50FB-A68D-28A861005E0B}"/>
                </a:ext>
              </a:extLst>
            </p:cNvPr>
            <p:cNvSpPr/>
            <p:nvPr/>
          </p:nvSpPr>
          <p:spPr>
            <a:xfrm>
              <a:off x="0" y="0"/>
              <a:ext cx="1027993" cy="216983"/>
            </a:xfrm>
            <a:custGeom>
              <a:avLst/>
              <a:gdLst/>
              <a:ahLst/>
              <a:cxnLst/>
              <a:rect l="l" t="t" r="r" b="b"/>
              <a:pathLst>
                <a:path w="1027993" h="216983">
                  <a:moveTo>
                    <a:pt x="108492" y="0"/>
                  </a:moveTo>
                  <a:lnTo>
                    <a:pt x="919502" y="0"/>
                  </a:lnTo>
                  <a:cubicBezTo>
                    <a:pt x="979420" y="0"/>
                    <a:pt x="1027993" y="48573"/>
                    <a:pt x="1027993" y="108492"/>
                  </a:cubicBezTo>
                  <a:lnTo>
                    <a:pt x="1027993" y="108492"/>
                  </a:lnTo>
                  <a:cubicBezTo>
                    <a:pt x="1027993" y="168410"/>
                    <a:pt x="979420" y="216983"/>
                    <a:pt x="919502" y="216983"/>
                  </a:cubicBezTo>
                  <a:lnTo>
                    <a:pt x="108492" y="216983"/>
                  </a:lnTo>
                  <a:cubicBezTo>
                    <a:pt x="48573" y="216983"/>
                    <a:pt x="0" y="168410"/>
                    <a:pt x="0" y="108492"/>
                  </a:cubicBezTo>
                  <a:lnTo>
                    <a:pt x="0" y="108492"/>
                  </a:lnTo>
                  <a:cubicBezTo>
                    <a:pt x="0" y="48573"/>
                    <a:pt x="48573" y="0"/>
                    <a:pt x="108492" y="0"/>
                  </a:cubicBezTo>
                  <a:close/>
                </a:path>
              </a:pathLst>
            </a:custGeom>
            <a:gradFill rotWithShape="1">
              <a:gsLst>
                <a:gs pos="0">
                  <a:srgbClr val="590E1E">
                    <a:alpha val="100000"/>
                  </a:srgbClr>
                </a:gs>
                <a:gs pos="100000">
                  <a:srgbClr val="000000">
                    <a:alpha val="100000"/>
                  </a:srgbClr>
                </a:gs>
              </a:gsLst>
              <a:lin ang="0"/>
            </a:gradFill>
            <a:ln w="9525" cap="rnd">
              <a:solidFill>
                <a:srgbClr val="F4F4F4"/>
              </a:solidFill>
              <a:prstDash val="solid"/>
              <a:round/>
            </a:ln>
          </p:spPr>
          <p:txBody>
            <a:bodyPr/>
            <a:lstStyle/>
            <a:p>
              <a:endParaRPr lang="en-PH"/>
            </a:p>
          </p:txBody>
        </p:sp>
        <p:sp>
          <p:nvSpPr>
            <p:cNvPr id="6" name="TextBox 6">
              <a:extLst>
                <a:ext uri="{FF2B5EF4-FFF2-40B4-BE49-F238E27FC236}">
                  <a16:creationId xmlns:a16="http://schemas.microsoft.com/office/drawing/2014/main" id="{14B931E5-61C2-C448-1B40-9B30E5F7E963}"/>
                </a:ext>
              </a:extLst>
            </p:cNvPr>
            <p:cNvSpPr txBox="1"/>
            <p:nvPr/>
          </p:nvSpPr>
          <p:spPr>
            <a:xfrm>
              <a:off x="0" y="-76200"/>
              <a:ext cx="1027993" cy="293183"/>
            </a:xfrm>
            <a:prstGeom prst="rect">
              <a:avLst/>
            </a:prstGeom>
          </p:spPr>
          <p:txBody>
            <a:bodyPr lIns="50800" tIns="50800" rIns="50800" bIns="50800" rtlCol="0" anchor="ctr"/>
            <a:lstStyle/>
            <a:p>
              <a:pPr marL="0" lvl="0" indent="0" algn="ctr">
                <a:lnSpc>
                  <a:spcPts val="3527"/>
                </a:lnSpc>
              </a:pPr>
              <a:r>
                <a:rPr lang="en-US" sz="2519" b="1" spc="52">
                  <a:solidFill>
                    <a:srgbClr val="F4F4F4"/>
                  </a:solidFill>
                  <a:latin typeface="Poppins Medium"/>
                  <a:ea typeface="Poppins Medium"/>
                  <a:cs typeface="Poppins Medium"/>
                  <a:sym typeface="Poppins Medium"/>
                </a:rPr>
                <a:t>DROP INDEX COLUMN</a:t>
              </a:r>
            </a:p>
          </p:txBody>
        </p:sp>
      </p:grpSp>
      <p:grpSp>
        <p:nvGrpSpPr>
          <p:cNvPr id="7" name="Group 7">
            <a:extLst>
              <a:ext uri="{FF2B5EF4-FFF2-40B4-BE49-F238E27FC236}">
                <a16:creationId xmlns:a16="http://schemas.microsoft.com/office/drawing/2014/main" id="{7A5D35D4-4E57-7B55-2197-C83BAEF60934}"/>
              </a:ext>
            </a:extLst>
          </p:cNvPr>
          <p:cNvGrpSpPr/>
          <p:nvPr/>
        </p:nvGrpSpPr>
        <p:grpSpPr>
          <a:xfrm>
            <a:off x="13356138" y="2848191"/>
            <a:ext cx="3903162" cy="823858"/>
            <a:chOff x="0" y="0"/>
            <a:chExt cx="1027993" cy="216983"/>
          </a:xfrm>
        </p:grpSpPr>
        <p:sp>
          <p:nvSpPr>
            <p:cNvPr id="8" name="Freeform 8">
              <a:extLst>
                <a:ext uri="{FF2B5EF4-FFF2-40B4-BE49-F238E27FC236}">
                  <a16:creationId xmlns:a16="http://schemas.microsoft.com/office/drawing/2014/main" id="{E5295B6B-ADCD-55F9-9E5B-B0CE5FDB849C}"/>
                </a:ext>
              </a:extLst>
            </p:cNvPr>
            <p:cNvSpPr/>
            <p:nvPr/>
          </p:nvSpPr>
          <p:spPr>
            <a:xfrm>
              <a:off x="0" y="0"/>
              <a:ext cx="1027993" cy="216983"/>
            </a:xfrm>
            <a:custGeom>
              <a:avLst/>
              <a:gdLst/>
              <a:ahLst/>
              <a:cxnLst/>
              <a:rect l="l" t="t" r="r" b="b"/>
              <a:pathLst>
                <a:path w="1027993" h="216983">
                  <a:moveTo>
                    <a:pt x="108492" y="0"/>
                  </a:moveTo>
                  <a:lnTo>
                    <a:pt x="919502" y="0"/>
                  </a:lnTo>
                  <a:cubicBezTo>
                    <a:pt x="979420" y="0"/>
                    <a:pt x="1027993" y="48573"/>
                    <a:pt x="1027993" y="108492"/>
                  </a:cubicBezTo>
                  <a:lnTo>
                    <a:pt x="1027993" y="108492"/>
                  </a:lnTo>
                  <a:cubicBezTo>
                    <a:pt x="1027993" y="168410"/>
                    <a:pt x="979420" y="216983"/>
                    <a:pt x="919502" y="216983"/>
                  </a:cubicBezTo>
                  <a:lnTo>
                    <a:pt x="108492" y="216983"/>
                  </a:lnTo>
                  <a:cubicBezTo>
                    <a:pt x="48573" y="216983"/>
                    <a:pt x="0" y="168410"/>
                    <a:pt x="0" y="108492"/>
                  </a:cubicBezTo>
                  <a:lnTo>
                    <a:pt x="0" y="108492"/>
                  </a:lnTo>
                  <a:cubicBezTo>
                    <a:pt x="0" y="48573"/>
                    <a:pt x="48573" y="0"/>
                    <a:pt x="108492" y="0"/>
                  </a:cubicBezTo>
                  <a:close/>
                </a:path>
              </a:pathLst>
            </a:custGeom>
            <a:gradFill rotWithShape="1">
              <a:gsLst>
                <a:gs pos="0">
                  <a:srgbClr val="590E1E">
                    <a:alpha val="100000"/>
                  </a:srgbClr>
                </a:gs>
                <a:gs pos="100000">
                  <a:srgbClr val="000000">
                    <a:alpha val="100000"/>
                  </a:srgbClr>
                </a:gs>
              </a:gsLst>
              <a:lin ang="0"/>
            </a:gradFill>
            <a:ln w="9525" cap="rnd">
              <a:solidFill>
                <a:srgbClr val="F4F4F4"/>
              </a:solidFill>
              <a:prstDash val="solid"/>
              <a:round/>
            </a:ln>
          </p:spPr>
          <p:txBody>
            <a:bodyPr/>
            <a:lstStyle/>
            <a:p>
              <a:endParaRPr lang="en-PH"/>
            </a:p>
          </p:txBody>
        </p:sp>
        <p:sp>
          <p:nvSpPr>
            <p:cNvPr id="9" name="TextBox 9">
              <a:extLst>
                <a:ext uri="{FF2B5EF4-FFF2-40B4-BE49-F238E27FC236}">
                  <a16:creationId xmlns:a16="http://schemas.microsoft.com/office/drawing/2014/main" id="{E93946E6-DF17-1983-C373-FF27BB36A50F}"/>
                </a:ext>
              </a:extLst>
            </p:cNvPr>
            <p:cNvSpPr txBox="1"/>
            <p:nvPr/>
          </p:nvSpPr>
          <p:spPr>
            <a:xfrm>
              <a:off x="0" y="-76200"/>
              <a:ext cx="1027993" cy="293183"/>
            </a:xfrm>
            <a:prstGeom prst="rect">
              <a:avLst/>
            </a:prstGeom>
          </p:spPr>
          <p:txBody>
            <a:bodyPr lIns="50800" tIns="50800" rIns="50800" bIns="50800" rtlCol="0" anchor="ctr"/>
            <a:lstStyle/>
            <a:p>
              <a:pPr marL="0" lvl="0" indent="0" algn="ctr">
                <a:lnSpc>
                  <a:spcPts val="3527"/>
                </a:lnSpc>
              </a:pPr>
              <a:r>
                <a:rPr lang="en-US" sz="2519" b="1" spc="52" dirty="0">
                  <a:solidFill>
                    <a:srgbClr val="F4F4F4"/>
                  </a:solidFill>
                  <a:latin typeface="Poppins Medium"/>
                  <a:ea typeface="Poppins Medium"/>
                  <a:cs typeface="Poppins Medium"/>
                  <a:sym typeface="Poppins Medium"/>
                </a:rPr>
                <a:t>STANDARDIZE NAMES</a:t>
              </a:r>
            </a:p>
          </p:txBody>
        </p:sp>
      </p:grpSp>
      <p:grpSp>
        <p:nvGrpSpPr>
          <p:cNvPr id="10" name="Group 10">
            <a:extLst>
              <a:ext uri="{FF2B5EF4-FFF2-40B4-BE49-F238E27FC236}">
                <a16:creationId xmlns:a16="http://schemas.microsoft.com/office/drawing/2014/main" id="{DAD5B424-79FF-2E8E-E334-851F4B2307BB}"/>
              </a:ext>
            </a:extLst>
          </p:cNvPr>
          <p:cNvGrpSpPr/>
          <p:nvPr/>
        </p:nvGrpSpPr>
        <p:grpSpPr>
          <a:xfrm>
            <a:off x="13356138" y="4710275"/>
            <a:ext cx="3903162" cy="1170439"/>
            <a:chOff x="0" y="0"/>
            <a:chExt cx="1027993" cy="308264"/>
          </a:xfrm>
        </p:grpSpPr>
        <p:sp>
          <p:nvSpPr>
            <p:cNvPr id="11" name="Freeform 11">
              <a:extLst>
                <a:ext uri="{FF2B5EF4-FFF2-40B4-BE49-F238E27FC236}">
                  <a16:creationId xmlns:a16="http://schemas.microsoft.com/office/drawing/2014/main" id="{267A92C0-828A-EE9B-A8B9-ABA9537F7DEC}"/>
                </a:ext>
              </a:extLst>
            </p:cNvPr>
            <p:cNvSpPr/>
            <p:nvPr/>
          </p:nvSpPr>
          <p:spPr>
            <a:xfrm>
              <a:off x="0" y="0"/>
              <a:ext cx="1027993" cy="308264"/>
            </a:xfrm>
            <a:custGeom>
              <a:avLst/>
              <a:gdLst/>
              <a:ahLst/>
              <a:cxnLst/>
              <a:rect l="l" t="t" r="r" b="b"/>
              <a:pathLst>
                <a:path w="1027993" h="308264">
                  <a:moveTo>
                    <a:pt x="154132" y="0"/>
                  </a:moveTo>
                  <a:lnTo>
                    <a:pt x="873861" y="0"/>
                  </a:lnTo>
                  <a:cubicBezTo>
                    <a:pt x="914740" y="0"/>
                    <a:pt x="953944" y="16239"/>
                    <a:pt x="982849" y="45144"/>
                  </a:cubicBezTo>
                  <a:cubicBezTo>
                    <a:pt x="1011755" y="74050"/>
                    <a:pt x="1027993" y="113254"/>
                    <a:pt x="1027993" y="154132"/>
                  </a:cubicBezTo>
                  <a:lnTo>
                    <a:pt x="1027993" y="154132"/>
                  </a:lnTo>
                  <a:cubicBezTo>
                    <a:pt x="1027993" y="239257"/>
                    <a:pt x="958986" y="308264"/>
                    <a:pt x="873861" y="308264"/>
                  </a:cubicBezTo>
                  <a:lnTo>
                    <a:pt x="154132" y="308264"/>
                  </a:lnTo>
                  <a:cubicBezTo>
                    <a:pt x="69007" y="308264"/>
                    <a:pt x="0" y="239257"/>
                    <a:pt x="0" y="154132"/>
                  </a:cubicBezTo>
                  <a:lnTo>
                    <a:pt x="0" y="154132"/>
                  </a:lnTo>
                  <a:cubicBezTo>
                    <a:pt x="0" y="69007"/>
                    <a:pt x="69007" y="0"/>
                    <a:pt x="154132" y="0"/>
                  </a:cubicBezTo>
                  <a:close/>
                </a:path>
              </a:pathLst>
            </a:custGeom>
            <a:gradFill rotWithShape="1">
              <a:gsLst>
                <a:gs pos="0">
                  <a:srgbClr val="590E1E">
                    <a:alpha val="100000"/>
                  </a:srgbClr>
                </a:gs>
                <a:gs pos="100000">
                  <a:srgbClr val="000000">
                    <a:alpha val="100000"/>
                  </a:srgbClr>
                </a:gs>
              </a:gsLst>
              <a:lin ang="0"/>
            </a:gradFill>
            <a:ln w="9525" cap="rnd">
              <a:solidFill>
                <a:srgbClr val="F4F4F4"/>
              </a:solidFill>
              <a:prstDash val="solid"/>
              <a:round/>
            </a:ln>
          </p:spPr>
          <p:txBody>
            <a:bodyPr/>
            <a:lstStyle/>
            <a:p>
              <a:endParaRPr lang="en-PH"/>
            </a:p>
          </p:txBody>
        </p:sp>
        <p:sp>
          <p:nvSpPr>
            <p:cNvPr id="12" name="TextBox 12">
              <a:extLst>
                <a:ext uri="{FF2B5EF4-FFF2-40B4-BE49-F238E27FC236}">
                  <a16:creationId xmlns:a16="http://schemas.microsoft.com/office/drawing/2014/main" id="{D3811019-6165-D227-43AA-CD790511EBC8}"/>
                </a:ext>
              </a:extLst>
            </p:cNvPr>
            <p:cNvSpPr txBox="1"/>
            <p:nvPr/>
          </p:nvSpPr>
          <p:spPr>
            <a:xfrm>
              <a:off x="0" y="-76200"/>
              <a:ext cx="1027993" cy="384464"/>
            </a:xfrm>
            <a:prstGeom prst="rect">
              <a:avLst/>
            </a:prstGeom>
          </p:spPr>
          <p:txBody>
            <a:bodyPr lIns="50800" tIns="50800" rIns="50800" bIns="50800" rtlCol="0" anchor="ctr"/>
            <a:lstStyle/>
            <a:p>
              <a:pPr marL="0" lvl="0" indent="0" algn="ctr">
                <a:lnSpc>
                  <a:spcPts val="3527"/>
                </a:lnSpc>
              </a:pPr>
              <a:r>
                <a:rPr lang="en-US" sz="2519" b="1" spc="52">
                  <a:solidFill>
                    <a:srgbClr val="F4F4F4"/>
                  </a:solidFill>
                  <a:latin typeface="Poppins Medium"/>
                  <a:ea typeface="Poppins Medium"/>
                  <a:cs typeface="Poppins Medium"/>
                  <a:sym typeface="Poppins Medium"/>
                </a:rPr>
                <a:t>ENCODE RECOMMENDED</a:t>
              </a:r>
            </a:p>
          </p:txBody>
        </p:sp>
      </p:grpSp>
      <p:grpSp>
        <p:nvGrpSpPr>
          <p:cNvPr id="13" name="Group 13">
            <a:extLst>
              <a:ext uri="{FF2B5EF4-FFF2-40B4-BE49-F238E27FC236}">
                <a16:creationId xmlns:a16="http://schemas.microsoft.com/office/drawing/2014/main" id="{F7962D3C-CFC0-464A-7DD8-DEB0322A06D7}"/>
              </a:ext>
            </a:extLst>
          </p:cNvPr>
          <p:cNvGrpSpPr/>
          <p:nvPr/>
        </p:nvGrpSpPr>
        <p:grpSpPr>
          <a:xfrm>
            <a:off x="13356138" y="6572358"/>
            <a:ext cx="3903162" cy="823858"/>
            <a:chOff x="0" y="0"/>
            <a:chExt cx="1027993" cy="216983"/>
          </a:xfrm>
        </p:grpSpPr>
        <p:sp>
          <p:nvSpPr>
            <p:cNvPr id="14" name="Freeform 14">
              <a:extLst>
                <a:ext uri="{FF2B5EF4-FFF2-40B4-BE49-F238E27FC236}">
                  <a16:creationId xmlns:a16="http://schemas.microsoft.com/office/drawing/2014/main" id="{3CE8EB61-729F-2A6B-70AF-5B620CEC419F}"/>
                </a:ext>
              </a:extLst>
            </p:cNvPr>
            <p:cNvSpPr/>
            <p:nvPr/>
          </p:nvSpPr>
          <p:spPr>
            <a:xfrm>
              <a:off x="0" y="0"/>
              <a:ext cx="1027993" cy="216983"/>
            </a:xfrm>
            <a:custGeom>
              <a:avLst/>
              <a:gdLst/>
              <a:ahLst/>
              <a:cxnLst/>
              <a:rect l="l" t="t" r="r" b="b"/>
              <a:pathLst>
                <a:path w="1027993" h="216983">
                  <a:moveTo>
                    <a:pt x="108492" y="0"/>
                  </a:moveTo>
                  <a:lnTo>
                    <a:pt x="919502" y="0"/>
                  </a:lnTo>
                  <a:cubicBezTo>
                    <a:pt x="979420" y="0"/>
                    <a:pt x="1027993" y="48573"/>
                    <a:pt x="1027993" y="108492"/>
                  </a:cubicBezTo>
                  <a:lnTo>
                    <a:pt x="1027993" y="108492"/>
                  </a:lnTo>
                  <a:cubicBezTo>
                    <a:pt x="1027993" y="168410"/>
                    <a:pt x="979420" y="216983"/>
                    <a:pt x="919502" y="216983"/>
                  </a:cubicBezTo>
                  <a:lnTo>
                    <a:pt x="108492" y="216983"/>
                  </a:lnTo>
                  <a:cubicBezTo>
                    <a:pt x="48573" y="216983"/>
                    <a:pt x="0" y="168410"/>
                    <a:pt x="0" y="108492"/>
                  </a:cubicBezTo>
                  <a:lnTo>
                    <a:pt x="0" y="108492"/>
                  </a:lnTo>
                  <a:cubicBezTo>
                    <a:pt x="0" y="48573"/>
                    <a:pt x="48573" y="0"/>
                    <a:pt x="108492" y="0"/>
                  </a:cubicBezTo>
                  <a:close/>
                </a:path>
              </a:pathLst>
            </a:custGeom>
            <a:gradFill rotWithShape="1">
              <a:gsLst>
                <a:gs pos="0">
                  <a:srgbClr val="590E1E">
                    <a:alpha val="100000"/>
                  </a:srgbClr>
                </a:gs>
                <a:gs pos="100000">
                  <a:srgbClr val="000000">
                    <a:alpha val="100000"/>
                  </a:srgbClr>
                </a:gs>
              </a:gsLst>
              <a:lin ang="0"/>
            </a:gradFill>
            <a:ln w="9525" cap="rnd">
              <a:solidFill>
                <a:srgbClr val="F4F4F4"/>
              </a:solidFill>
              <a:prstDash val="solid"/>
              <a:round/>
            </a:ln>
          </p:spPr>
          <p:txBody>
            <a:bodyPr/>
            <a:lstStyle/>
            <a:p>
              <a:endParaRPr lang="en-PH"/>
            </a:p>
          </p:txBody>
        </p:sp>
        <p:sp>
          <p:nvSpPr>
            <p:cNvPr id="15" name="TextBox 15">
              <a:extLst>
                <a:ext uri="{FF2B5EF4-FFF2-40B4-BE49-F238E27FC236}">
                  <a16:creationId xmlns:a16="http://schemas.microsoft.com/office/drawing/2014/main" id="{D3CF169A-5490-DE3D-4354-F63D24B2B9D3}"/>
                </a:ext>
              </a:extLst>
            </p:cNvPr>
            <p:cNvSpPr txBox="1"/>
            <p:nvPr/>
          </p:nvSpPr>
          <p:spPr>
            <a:xfrm>
              <a:off x="0" y="-76200"/>
              <a:ext cx="1027993" cy="293183"/>
            </a:xfrm>
            <a:prstGeom prst="rect">
              <a:avLst/>
            </a:prstGeom>
          </p:spPr>
          <p:txBody>
            <a:bodyPr lIns="50800" tIns="50800" rIns="50800" bIns="50800" rtlCol="0" anchor="ctr"/>
            <a:lstStyle/>
            <a:p>
              <a:pPr marL="0" lvl="0" indent="0" algn="ctr">
                <a:lnSpc>
                  <a:spcPts val="3527"/>
                </a:lnSpc>
              </a:pPr>
              <a:r>
                <a:rPr lang="en-US" sz="2519" b="1" spc="52">
                  <a:solidFill>
                    <a:srgbClr val="F4F4F4"/>
                  </a:solidFill>
                  <a:latin typeface="Poppins Medium"/>
                  <a:ea typeface="Poppins Medium"/>
                  <a:cs typeface="Poppins Medium"/>
                  <a:sym typeface="Poppins Medium"/>
                </a:rPr>
                <a:t>FILL MISSING AIRCRAFT</a:t>
              </a:r>
            </a:p>
          </p:txBody>
        </p:sp>
      </p:grpSp>
      <p:grpSp>
        <p:nvGrpSpPr>
          <p:cNvPr id="19" name="Group 19">
            <a:extLst>
              <a:ext uri="{FF2B5EF4-FFF2-40B4-BE49-F238E27FC236}">
                <a16:creationId xmlns:a16="http://schemas.microsoft.com/office/drawing/2014/main" id="{A0396D25-086E-CECC-3624-53E8D0A66AA0}"/>
              </a:ext>
            </a:extLst>
          </p:cNvPr>
          <p:cNvGrpSpPr/>
          <p:nvPr/>
        </p:nvGrpSpPr>
        <p:grpSpPr>
          <a:xfrm>
            <a:off x="11873585" y="1040458"/>
            <a:ext cx="812101" cy="812101"/>
            <a:chOff x="0" y="0"/>
            <a:chExt cx="812800" cy="812800"/>
          </a:xfrm>
        </p:grpSpPr>
        <p:sp>
          <p:nvSpPr>
            <p:cNvPr id="20" name="Freeform 20">
              <a:extLst>
                <a:ext uri="{FF2B5EF4-FFF2-40B4-BE49-F238E27FC236}">
                  <a16:creationId xmlns:a16="http://schemas.microsoft.com/office/drawing/2014/main" id="{88DF1926-BF75-2B02-22A0-1388A45CE75B}"/>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1">
              <a:gsLst>
                <a:gs pos="0">
                  <a:srgbClr val="6B1124">
                    <a:alpha val="100000"/>
                  </a:srgbClr>
                </a:gs>
                <a:gs pos="50000">
                  <a:srgbClr val="000000">
                    <a:alpha val="100000"/>
                  </a:srgbClr>
                </a:gs>
                <a:gs pos="100000">
                  <a:srgbClr val="6B1124">
                    <a:alpha val="100000"/>
                  </a:srgbClr>
                </a:gs>
              </a:gsLst>
              <a:path path="circle">
                <a:fillToRect r="100000" b="100000"/>
              </a:path>
              <a:tileRect l="-100000" t="-100000"/>
            </a:gradFill>
            <a:ln w="9525" cap="sq">
              <a:solidFill>
                <a:srgbClr val="F4F4F4"/>
              </a:solidFill>
              <a:prstDash val="solid"/>
              <a:miter/>
            </a:ln>
          </p:spPr>
          <p:txBody>
            <a:bodyPr/>
            <a:lstStyle/>
            <a:p>
              <a:endParaRPr lang="en-PH"/>
            </a:p>
          </p:txBody>
        </p:sp>
        <p:sp>
          <p:nvSpPr>
            <p:cNvPr id="21" name="TextBox 21">
              <a:extLst>
                <a:ext uri="{FF2B5EF4-FFF2-40B4-BE49-F238E27FC236}">
                  <a16:creationId xmlns:a16="http://schemas.microsoft.com/office/drawing/2014/main" id="{94ADD7E7-504B-9D8C-0878-7D5A0D14E023}"/>
                </a:ext>
              </a:extLst>
            </p:cNvPr>
            <p:cNvSpPr txBox="1"/>
            <p:nvPr/>
          </p:nvSpPr>
          <p:spPr>
            <a:xfrm>
              <a:off x="76200" y="9525"/>
              <a:ext cx="660400" cy="727075"/>
            </a:xfrm>
            <a:prstGeom prst="rect">
              <a:avLst/>
            </a:prstGeom>
          </p:spPr>
          <p:txBody>
            <a:bodyPr lIns="50800" tIns="50800" rIns="50800" bIns="50800" rtlCol="0" anchor="ctr"/>
            <a:lstStyle/>
            <a:p>
              <a:pPr marL="0" lvl="0" indent="0" algn="ctr">
                <a:lnSpc>
                  <a:spcPts val="3110"/>
                </a:lnSpc>
              </a:pPr>
              <a:r>
                <a:rPr lang="en-US" sz="2221" b="1" spc="46">
                  <a:solidFill>
                    <a:srgbClr val="FFFFFF"/>
                  </a:solidFill>
                  <a:latin typeface="Poppins Medium"/>
                  <a:ea typeface="Poppins Medium"/>
                  <a:cs typeface="Poppins Medium"/>
                  <a:sym typeface="Poppins Medium"/>
                </a:rPr>
                <a:t>1</a:t>
              </a:r>
            </a:p>
          </p:txBody>
        </p:sp>
      </p:grpSp>
      <p:grpSp>
        <p:nvGrpSpPr>
          <p:cNvPr id="22" name="Group 22">
            <a:extLst>
              <a:ext uri="{FF2B5EF4-FFF2-40B4-BE49-F238E27FC236}">
                <a16:creationId xmlns:a16="http://schemas.microsoft.com/office/drawing/2014/main" id="{4129466D-BC6A-4FB5-3579-BA9A43E18B3B}"/>
              </a:ext>
            </a:extLst>
          </p:cNvPr>
          <p:cNvGrpSpPr/>
          <p:nvPr/>
        </p:nvGrpSpPr>
        <p:grpSpPr>
          <a:xfrm>
            <a:off x="11873585" y="2848191"/>
            <a:ext cx="812101" cy="812101"/>
            <a:chOff x="0" y="0"/>
            <a:chExt cx="812800" cy="812800"/>
          </a:xfrm>
        </p:grpSpPr>
        <p:sp>
          <p:nvSpPr>
            <p:cNvPr id="23" name="Freeform 23">
              <a:extLst>
                <a:ext uri="{FF2B5EF4-FFF2-40B4-BE49-F238E27FC236}">
                  <a16:creationId xmlns:a16="http://schemas.microsoft.com/office/drawing/2014/main" id="{728C2348-F3F7-9D83-D3F8-A82765A867F6}"/>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1">
              <a:gsLst>
                <a:gs pos="0">
                  <a:srgbClr val="6B1124">
                    <a:alpha val="100000"/>
                  </a:srgbClr>
                </a:gs>
                <a:gs pos="50000">
                  <a:srgbClr val="000000">
                    <a:alpha val="100000"/>
                  </a:srgbClr>
                </a:gs>
                <a:gs pos="100000">
                  <a:srgbClr val="6B1124">
                    <a:alpha val="100000"/>
                  </a:srgbClr>
                </a:gs>
              </a:gsLst>
              <a:path path="circle">
                <a:fillToRect r="100000" b="100000"/>
              </a:path>
              <a:tileRect l="-100000" t="-100000"/>
            </a:gradFill>
            <a:ln w="9525" cap="sq">
              <a:solidFill>
                <a:srgbClr val="F4F4F4"/>
              </a:solidFill>
              <a:prstDash val="solid"/>
              <a:miter/>
            </a:ln>
          </p:spPr>
          <p:txBody>
            <a:bodyPr/>
            <a:lstStyle/>
            <a:p>
              <a:endParaRPr lang="en-PH"/>
            </a:p>
          </p:txBody>
        </p:sp>
        <p:sp>
          <p:nvSpPr>
            <p:cNvPr id="24" name="TextBox 24">
              <a:extLst>
                <a:ext uri="{FF2B5EF4-FFF2-40B4-BE49-F238E27FC236}">
                  <a16:creationId xmlns:a16="http://schemas.microsoft.com/office/drawing/2014/main" id="{AFE685C5-2704-5425-B950-BB70437EB76C}"/>
                </a:ext>
              </a:extLst>
            </p:cNvPr>
            <p:cNvSpPr txBox="1"/>
            <p:nvPr/>
          </p:nvSpPr>
          <p:spPr>
            <a:xfrm>
              <a:off x="76200" y="9525"/>
              <a:ext cx="660400" cy="727075"/>
            </a:xfrm>
            <a:prstGeom prst="rect">
              <a:avLst/>
            </a:prstGeom>
          </p:spPr>
          <p:txBody>
            <a:bodyPr lIns="50800" tIns="50800" rIns="50800" bIns="50800" rtlCol="0" anchor="ctr"/>
            <a:lstStyle/>
            <a:p>
              <a:pPr marL="0" lvl="0" indent="0" algn="ctr">
                <a:lnSpc>
                  <a:spcPts val="3108"/>
                </a:lnSpc>
              </a:pPr>
              <a:r>
                <a:rPr lang="en-US" sz="2220" b="1" spc="46">
                  <a:solidFill>
                    <a:srgbClr val="FFFFFF"/>
                  </a:solidFill>
                  <a:latin typeface="Poppins Medium"/>
                  <a:ea typeface="Poppins Medium"/>
                  <a:cs typeface="Poppins Medium"/>
                  <a:sym typeface="Poppins Medium"/>
                </a:rPr>
                <a:t>2</a:t>
              </a:r>
            </a:p>
          </p:txBody>
        </p:sp>
      </p:grpSp>
      <p:grpSp>
        <p:nvGrpSpPr>
          <p:cNvPr id="25" name="Group 25">
            <a:extLst>
              <a:ext uri="{FF2B5EF4-FFF2-40B4-BE49-F238E27FC236}">
                <a16:creationId xmlns:a16="http://schemas.microsoft.com/office/drawing/2014/main" id="{4E796796-E843-30BE-CDEE-7AC7B45A0BBA}"/>
              </a:ext>
            </a:extLst>
          </p:cNvPr>
          <p:cNvGrpSpPr/>
          <p:nvPr/>
        </p:nvGrpSpPr>
        <p:grpSpPr>
          <a:xfrm>
            <a:off x="11873585" y="4737450"/>
            <a:ext cx="812101" cy="812101"/>
            <a:chOff x="0" y="0"/>
            <a:chExt cx="812800" cy="812800"/>
          </a:xfrm>
        </p:grpSpPr>
        <p:sp>
          <p:nvSpPr>
            <p:cNvPr id="26" name="Freeform 26">
              <a:extLst>
                <a:ext uri="{FF2B5EF4-FFF2-40B4-BE49-F238E27FC236}">
                  <a16:creationId xmlns:a16="http://schemas.microsoft.com/office/drawing/2014/main" id="{36C267D5-9126-C1B7-1809-E57C6419BDAE}"/>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1">
              <a:gsLst>
                <a:gs pos="0">
                  <a:srgbClr val="6B1124">
                    <a:alpha val="100000"/>
                  </a:srgbClr>
                </a:gs>
                <a:gs pos="50000">
                  <a:srgbClr val="000000">
                    <a:alpha val="100000"/>
                  </a:srgbClr>
                </a:gs>
                <a:gs pos="100000">
                  <a:srgbClr val="6B1124">
                    <a:alpha val="100000"/>
                  </a:srgbClr>
                </a:gs>
              </a:gsLst>
              <a:path path="circle">
                <a:fillToRect r="100000" b="100000"/>
              </a:path>
              <a:tileRect l="-100000" t="-100000"/>
            </a:gradFill>
            <a:ln w="9525" cap="sq">
              <a:solidFill>
                <a:srgbClr val="F4F4F4"/>
              </a:solidFill>
              <a:prstDash val="solid"/>
              <a:miter/>
            </a:ln>
          </p:spPr>
          <p:txBody>
            <a:bodyPr/>
            <a:lstStyle/>
            <a:p>
              <a:endParaRPr lang="en-PH"/>
            </a:p>
          </p:txBody>
        </p:sp>
        <p:sp>
          <p:nvSpPr>
            <p:cNvPr id="27" name="TextBox 27">
              <a:extLst>
                <a:ext uri="{FF2B5EF4-FFF2-40B4-BE49-F238E27FC236}">
                  <a16:creationId xmlns:a16="http://schemas.microsoft.com/office/drawing/2014/main" id="{3AD35CDF-2F6F-DDB0-7D2F-68886BF570C5}"/>
                </a:ext>
              </a:extLst>
            </p:cNvPr>
            <p:cNvSpPr txBox="1"/>
            <p:nvPr/>
          </p:nvSpPr>
          <p:spPr>
            <a:xfrm>
              <a:off x="76200" y="9525"/>
              <a:ext cx="660400" cy="727075"/>
            </a:xfrm>
            <a:prstGeom prst="rect">
              <a:avLst/>
            </a:prstGeom>
          </p:spPr>
          <p:txBody>
            <a:bodyPr lIns="50800" tIns="50800" rIns="50800" bIns="50800" rtlCol="0" anchor="ctr"/>
            <a:lstStyle/>
            <a:p>
              <a:pPr marL="0" lvl="0" indent="0" algn="ctr">
                <a:lnSpc>
                  <a:spcPts val="3108"/>
                </a:lnSpc>
              </a:pPr>
              <a:r>
                <a:rPr lang="en-US" sz="2220" b="1" spc="46">
                  <a:solidFill>
                    <a:srgbClr val="FFFFFF"/>
                  </a:solidFill>
                  <a:latin typeface="Poppins Medium"/>
                  <a:ea typeface="Poppins Medium"/>
                  <a:cs typeface="Poppins Medium"/>
                  <a:sym typeface="Poppins Medium"/>
                </a:rPr>
                <a:t>3</a:t>
              </a:r>
            </a:p>
          </p:txBody>
        </p:sp>
      </p:grpSp>
      <p:grpSp>
        <p:nvGrpSpPr>
          <p:cNvPr id="28" name="Group 28">
            <a:extLst>
              <a:ext uri="{FF2B5EF4-FFF2-40B4-BE49-F238E27FC236}">
                <a16:creationId xmlns:a16="http://schemas.microsoft.com/office/drawing/2014/main" id="{EFC46FE8-269F-C0B8-BFAE-AC75CF111B97}"/>
              </a:ext>
            </a:extLst>
          </p:cNvPr>
          <p:cNvGrpSpPr/>
          <p:nvPr/>
        </p:nvGrpSpPr>
        <p:grpSpPr>
          <a:xfrm>
            <a:off x="11873585" y="6584116"/>
            <a:ext cx="812101" cy="812101"/>
            <a:chOff x="0" y="0"/>
            <a:chExt cx="812800" cy="812800"/>
          </a:xfrm>
        </p:grpSpPr>
        <p:sp>
          <p:nvSpPr>
            <p:cNvPr id="29" name="Freeform 29">
              <a:extLst>
                <a:ext uri="{FF2B5EF4-FFF2-40B4-BE49-F238E27FC236}">
                  <a16:creationId xmlns:a16="http://schemas.microsoft.com/office/drawing/2014/main" id="{CEC8B858-5089-56EF-AA34-8BC22FDB08A5}"/>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1">
              <a:gsLst>
                <a:gs pos="0">
                  <a:srgbClr val="6B1124">
                    <a:alpha val="100000"/>
                  </a:srgbClr>
                </a:gs>
                <a:gs pos="50000">
                  <a:srgbClr val="000000">
                    <a:alpha val="100000"/>
                  </a:srgbClr>
                </a:gs>
                <a:gs pos="100000">
                  <a:srgbClr val="6B1124">
                    <a:alpha val="100000"/>
                  </a:srgbClr>
                </a:gs>
              </a:gsLst>
              <a:path path="circle">
                <a:fillToRect r="100000" b="100000"/>
              </a:path>
              <a:tileRect l="-100000" t="-100000"/>
            </a:gradFill>
            <a:ln w="9525" cap="sq">
              <a:solidFill>
                <a:srgbClr val="F4F4F4"/>
              </a:solidFill>
              <a:prstDash val="solid"/>
              <a:miter/>
            </a:ln>
          </p:spPr>
          <p:txBody>
            <a:bodyPr/>
            <a:lstStyle/>
            <a:p>
              <a:endParaRPr lang="en-PH"/>
            </a:p>
          </p:txBody>
        </p:sp>
        <p:sp>
          <p:nvSpPr>
            <p:cNvPr id="30" name="TextBox 30">
              <a:extLst>
                <a:ext uri="{FF2B5EF4-FFF2-40B4-BE49-F238E27FC236}">
                  <a16:creationId xmlns:a16="http://schemas.microsoft.com/office/drawing/2014/main" id="{0BA9F6E3-0003-B262-FA44-3B92C38F5625}"/>
                </a:ext>
              </a:extLst>
            </p:cNvPr>
            <p:cNvSpPr txBox="1"/>
            <p:nvPr/>
          </p:nvSpPr>
          <p:spPr>
            <a:xfrm>
              <a:off x="76200" y="9525"/>
              <a:ext cx="660400" cy="727075"/>
            </a:xfrm>
            <a:prstGeom prst="rect">
              <a:avLst/>
            </a:prstGeom>
          </p:spPr>
          <p:txBody>
            <a:bodyPr lIns="50800" tIns="50800" rIns="50800" bIns="50800" rtlCol="0" anchor="ctr"/>
            <a:lstStyle/>
            <a:p>
              <a:pPr marL="0" lvl="0" indent="0" algn="ctr">
                <a:lnSpc>
                  <a:spcPts val="3108"/>
                </a:lnSpc>
              </a:pPr>
              <a:r>
                <a:rPr lang="en-US" sz="2220" b="1" spc="46">
                  <a:solidFill>
                    <a:srgbClr val="FFFFFF"/>
                  </a:solidFill>
                  <a:latin typeface="Poppins Medium"/>
                  <a:ea typeface="Poppins Medium"/>
                  <a:cs typeface="Poppins Medium"/>
                  <a:sym typeface="Poppins Medium"/>
                </a:rPr>
                <a:t>4</a:t>
              </a:r>
            </a:p>
          </p:txBody>
        </p:sp>
      </p:grpSp>
      <p:grpSp>
        <p:nvGrpSpPr>
          <p:cNvPr id="31" name="Group 31">
            <a:extLst>
              <a:ext uri="{FF2B5EF4-FFF2-40B4-BE49-F238E27FC236}">
                <a16:creationId xmlns:a16="http://schemas.microsoft.com/office/drawing/2014/main" id="{711D7043-F75D-CFEB-EE56-4E1A3C4EBB2B}"/>
              </a:ext>
            </a:extLst>
          </p:cNvPr>
          <p:cNvGrpSpPr/>
          <p:nvPr/>
        </p:nvGrpSpPr>
        <p:grpSpPr>
          <a:xfrm>
            <a:off x="11873585" y="8472542"/>
            <a:ext cx="812101" cy="812101"/>
            <a:chOff x="0" y="0"/>
            <a:chExt cx="812800" cy="812800"/>
          </a:xfrm>
        </p:grpSpPr>
        <p:sp>
          <p:nvSpPr>
            <p:cNvPr id="32" name="Freeform 32">
              <a:extLst>
                <a:ext uri="{FF2B5EF4-FFF2-40B4-BE49-F238E27FC236}">
                  <a16:creationId xmlns:a16="http://schemas.microsoft.com/office/drawing/2014/main" id="{6CBA9913-6467-8657-3EEC-37CEE124BEA8}"/>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1">
              <a:gsLst>
                <a:gs pos="0">
                  <a:srgbClr val="6B1124">
                    <a:alpha val="100000"/>
                  </a:srgbClr>
                </a:gs>
                <a:gs pos="50000">
                  <a:srgbClr val="000000">
                    <a:alpha val="100000"/>
                  </a:srgbClr>
                </a:gs>
                <a:gs pos="100000">
                  <a:srgbClr val="6B1124">
                    <a:alpha val="100000"/>
                  </a:srgbClr>
                </a:gs>
              </a:gsLst>
              <a:path path="circle">
                <a:fillToRect r="100000" b="100000"/>
              </a:path>
              <a:tileRect l="-100000" t="-100000"/>
            </a:gradFill>
            <a:ln w="9525" cap="sq">
              <a:solidFill>
                <a:srgbClr val="F4F4F4"/>
              </a:solidFill>
              <a:prstDash val="solid"/>
              <a:miter/>
            </a:ln>
          </p:spPr>
          <p:txBody>
            <a:bodyPr/>
            <a:lstStyle/>
            <a:p>
              <a:endParaRPr lang="en-PH"/>
            </a:p>
          </p:txBody>
        </p:sp>
        <p:sp>
          <p:nvSpPr>
            <p:cNvPr id="33" name="TextBox 33">
              <a:extLst>
                <a:ext uri="{FF2B5EF4-FFF2-40B4-BE49-F238E27FC236}">
                  <a16:creationId xmlns:a16="http://schemas.microsoft.com/office/drawing/2014/main" id="{AB121317-88CB-B9E5-B438-1E4965DDFDE2}"/>
                </a:ext>
              </a:extLst>
            </p:cNvPr>
            <p:cNvSpPr txBox="1"/>
            <p:nvPr/>
          </p:nvSpPr>
          <p:spPr>
            <a:xfrm>
              <a:off x="76200" y="9525"/>
              <a:ext cx="660400" cy="727075"/>
            </a:xfrm>
            <a:prstGeom prst="rect">
              <a:avLst/>
            </a:prstGeom>
          </p:spPr>
          <p:txBody>
            <a:bodyPr lIns="50800" tIns="50800" rIns="50800" bIns="50800" rtlCol="0" anchor="ctr"/>
            <a:lstStyle/>
            <a:p>
              <a:pPr marL="0" lvl="0" indent="0" algn="ctr">
                <a:lnSpc>
                  <a:spcPts val="3108"/>
                </a:lnSpc>
              </a:pPr>
              <a:r>
                <a:rPr lang="en-US" sz="2220" b="1" spc="46">
                  <a:solidFill>
                    <a:srgbClr val="FFFFFF"/>
                  </a:solidFill>
                  <a:latin typeface="Poppins Medium"/>
                  <a:ea typeface="Poppins Medium"/>
                  <a:cs typeface="Poppins Medium"/>
                  <a:sym typeface="Poppins Medium"/>
                </a:rPr>
                <a:t>5</a:t>
              </a:r>
            </a:p>
          </p:txBody>
        </p:sp>
      </p:grpSp>
      <p:pic>
        <p:nvPicPr>
          <p:cNvPr id="47" name="Picture 46">
            <a:extLst>
              <a:ext uri="{FF2B5EF4-FFF2-40B4-BE49-F238E27FC236}">
                <a16:creationId xmlns:a16="http://schemas.microsoft.com/office/drawing/2014/main" id="{6DB03424-1181-7B81-2019-9CB3CA6F78FF}"/>
              </a:ext>
            </a:extLst>
          </p:cNvPr>
          <p:cNvPicPr>
            <a:picLocks noChangeAspect="1"/>
          </p:cNvPicPr>
          <p:nvPr/>
        </p:nvPicPr>
        <p:blipFill>
          <a:blip r:embed="rId2"/>
          <a:stretch>
            <a:fillRect/>
          </a:stretch>
        </p:blipFill>
        <p:spPr>
          <a:xfrm>
            <a:off x="1702530" y="1140040"/>
            <a:ext cx="8611669" cy="7346386"/>
          </a:xfrm>
          <a:prstGeom prst="rect">
            <a:avLst/>
          </a:prstGeom>
        </p:spPr>
      </p:pic>
    </p:spTree>
    <p:extLst>
      <p:ext uri="{BB962C8B-B14F-4D97-AF65-F5344CB8AC3E}">
        <p14:creationId xmlns:p14="http://schemas.microsoft.com/office/powerpoint/2010/main" val="367311868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gradFill rotWithShape="1">
          <a:gsLst>
            <a:gs pos="0">
              <a:srgbClr val="6B1124">
                <a:alpha val="100000"/>
              </a:srgbClr>
            </a:gs>
            <a:gs pos="50000">
              <a:srgbClr val="000000">
                <a:alpha val="100000"/>
              </a:srgbClr>
            </a:gs>
            <a:gs pos="100000">
              <a:srgbClr val="6B1124">
                <a:alpha val="100000"/>
              </a:srgbClr>
            </a:gs>
          </a:gsLst>
          <a:path path="circle">
            <a:fillToRect r="100000" b="100000"/>
          </a:path>
          <a:tileRect l="-100000" t="-100000"/>
        </a:gradFill>
        <a:effectLst/>
      </p:bgPr>
    </p:bg>
    <p:spTree>
      <p:nvGrpSpPr>
        <p:cNvPr id="1" name="">
          <a:extLst>
            <a:ext uri="{FF2B5EF4-FFF2-40B4-BE49-F238E27FC236}">
              <a16:creationId xmlns:a16="http://schemas.microsoft.com/office/drawing/2014/main" id="{B5461CEC-DB58-CF28-A4B2-D43E79B9A7BB}"/>
            </a:ext>
          </a:extLst>
        </p:cNvPr>
        <p:cNvGrpSpPr/>
        <p:nvPr/>
      </p:nvGrpSpPr>
      <p:grpSpPr>
        <a:xfrm>
          <a:off x="0" y="0"/>
          <a:ext cx="0" cy="0"/>
          <a:chOff x="0" y="0"/>
          <a:chExt cx="0" cy="0"/>
        </a:xfrm>
      </p:grpSpPr>
      <p:sp>
        <p:nvSpPr>
          <p:cNvPr id="3" name="AutoShape 3">
            <a:extLst>
              <a:ext uri="{FF2B5EF4-FFF2-40B4-BE49-F238E27FC236}">
                <a16:creationId xmlns:a16="http://schemas.microsoft.com/office/drawing/2014/main" id="{E90216A9-47A1-2A60-7716-609A20F9C307}"/>
              </a:ext>
            </a:extLst>
          </p:cNvPr>
          <p:cNvSpPr/>
          <p:nvPr/>
        </p:nvSpPr>
        <p:spPr>
          <a:xfrm flipV="1">
            <a:off x="12279636" y="0"/>
            <a:ext cx="0" cy="10321060"/>
          </a:xfrm>
          <a:prstGeom prst="line">
            <a:avLst/>
          </a:prstGeom>
          <a:ln w="9525" cap="rnd">
            <a:solidFill>
              <a:srgbClr val="F4F4F4"/>
            </a:solidFill>
            <a:prstDash val="solid"/>
            <a:headEnd type="none" w="sm" len="sm"/>
            <a:tailEnd type="none" w="sm" len="sm"/>
          </a:ln>
        </p:spPr>
        <p:txBody>
          <a:bodyPr/>
          <a:lstStyle/>
          <a:p>
            <a:endParaRPr lang="en-PH"/>
          </a:p>
        </p:txBody>
      </p:sp>
      <p:grpSp>
        <p:nvGrpSpPr>
          <p:cNvPr id="4" name="Group 4">
            <a:extLst>
              <a:ext uri="{FF2B5EF4-FFF2-40B4-BE49-F238E27FC236}">
                <a16:creationId xmlns:a16="http://schemas.microsoft.com/office/drawing/2014/main" id="{CC3C34F4-D0C3-4109-8E7E-24FFB69B68CE}"/>
              </a:ext>
            </a:extLst>
          </p:cNvPr>
          <p:cNvGrpSpPr/>
          <p:nvPr/>
        </p:nvGrpSpPr>
        <p:grpSpPr>
          <a:xfrm>
            <a:off x="13356138" y="1028700"/>
            <a:ext cx="3903162" cy="823858"/>
            <a:chOff x="0" y="0"/>
            <a:chExt cx="1027993" cy="216983"/>
          </a:xfrm>
        </p:grpSpPr>
        <p:sp>
          <p:nvSpPr>
            <p:cNvPr id="5" name="Freeform 5">
              <a:extLst>
                <a:ext uri="{FF2B5EF4-FFF2-40B4-BE49-F238E27FC236}">
                  <a16:creationId xmlns:a16="http://schemas.microsoft.com/office/drawing/2014/main" id="{6344CCAA-E2DA-C03C-4058-C10B793EB354}"/>
                </a:ext>
              </a:extLst>
            </p:cNvPr>
            <p:cNvSpPr/>
            <p:nvPr/>
          </p:nvSpPr>
          <p:spPr>
            <a:xfrm>
              <a:off x="0" y="0"/>
              <a:ext cx="1027993" cy="216983"/>
            </a:xfrm>
            <a:custGeom>
              <a:avLst/>
              <a:gdLst/>
              <a:ahLst/>
              <a:cxnLst/>
              <a:rect l="l" t="t" r="r" b="b"/>
              <a:pathLst>
                <a:path w="1027993" h="216983">
                  <a:moveTo>
                    <a:pt x="108492" y="0"/>
                  </a:moveTo>
                  <a:lnTo>
                    <a:pt x="919502" y="0"/>
                  </a:lnTo>
                  <a:cubicBezTo>
                    <a:pt x="979420" y="0"/>
                    <a:pt x="1027993" y="48573"/>
                    <a:pt x="1027993" y="108492"/>
                  </a:cubicBezTo>
                  <a:lnTo>
                    <a:pt x="1027993" y="108492"/>
                  </a:lnTo>
                  <a:cubicBezTo>
                    <a:pt x="1027993" y="168410"/>
                    <a:pt x="979420" y="216983"/>
                    <a:pt x="919502" y="216983"/>
                  </a:cubicBezTo>
                  <a:lnTo>
                    <a:pt x="108492" y="216983"/>
                  </a:lnTo>
                  <a:cubicBezTo>
                    <a:pt x="48573" y="216983"/>
                    <a:pt x="0" y="168410"/>
                    <a:pt x="0" y="108492"/>
                  </a:cubicBezTo>
                  <a:lnTo>
                    <a:pt x="0" y="108492"/>
                  </a:lnTo>
                  <a:cubicBezTo>
                    <a:pt x="0" y="48573"/>
                    <a:pt x="48573" y="0"/>
                    <a:pt x="108492" y="0"/>
                  </a:cubicBezTo>
                  <a:close/>
                </a:path>
              </a:pathLst>
            </a:custGeom>
            <a:gradFill rotWithShape="1">
              <a:gsLst>
                <a:gs pos="0">
                  <a:srgbClr val="590E1E">
                    <a:alpha val="100000"/>
                  </a:srgbClr>
                </a:gs>
                <a:gs pos="100000">
                  <a:srgbClr val="000000">
                    <a:alpha val="100000"/>
                  </a:srgbClr>
                </a:gs>
              </a:gsLst>
              <a:lin ang="0"/>
            </a:gradFill>
            <a:ln w="9525" cap="rnd">
              <a:solidFill>
                <a:srgbClr val="F4F4F4"/>
              </a:solidFill>
              <a:prstDash val="solid"/>
              <a:round/>
            </a:ln>
          </p:spPr>
          <p:txBody>
            <a:bodyPr/>
            <a:lstStyle/>
            <a:p>
              <a:endParaRPr lang="en-PH"/>
            </a:p>
          </p:txBody>
        </p:sp>
        <p:sp>
          <p:nvSpPr>
            <p:cNvPr id="6" name="TextBox 6">
              <a:extLst>
                <a:ext uri="{FF2B5EF4-FFF2-40B4-BE49-F238E27FC236}">
                  <a16:creationId xmlns:a16="http://schemas.microsoft.com/office/drawing/2014/main" id="{D4C0E16F-5F09-A998-5A43-1695FC6791DE}"/>
                </a:ext>
              </a:extLst>
            </p:cNvPr>
            <p:cNvSpPr txBox="1"/>
            <p:nvPr/>
          </p:nvSpPr>
          <p:spPr>
            <a:xfrm>
              <a:off x="0" y="-76200"/>
              <a:ext cx="1027993" cy="293183"/>
            </a:xfrm>
            <a:prstGeom prst="rect">
              <a:avLst/>
            </a:prstGeom>
          </p:spPr>
          <p:txBody>
            <a:bodyPr lIns="50800" tIns="50800" rIns="50800" bIns="50800" rtlCol="0" anchor="ctr"/>
            <a:lstStyle/>
            <a:p>
              <a:pPr marL="0" lvl="0" indent="0" algn="ctr">
                <a:lnSpc>
                  <a:spcPts val="3527"/>
                </a:lnSpc>
              </a:pPr>
              <a:r>
                <a:rPr lang="en-US" sz="2519" b="1" spc="52">
                  <a:solidFill>
                    <a:srgbClr val="F4F4F4"/>
                  </a:solidFill>
                  <a:latin typeface="Poppins Medium"/>
                  <a:ea typeface="Poppins Medium"/>
                  <a:cs typeface="Poppins Medium"/>
                  <a:sym typeface="Poppins Medium"/>
                </a:rPr>
                <a:t>DROP INDEX COLUMN</a:t>
              </a:r>
            </a:p>
          </p:txBody>
        </p:sp>
      </p:grpSp>
      <p:grpSp>
        <p:nvGrpSpPr>
          <p:cNvPr id="7" name="Group 7">
            <a:extLst>
              <a:ext uri="{FF2B5EF4-FFF2-40B4-BE49-F238E27FC236}">
                <a16:creationId xmlns:a16="http://schemas.microsoft.com/office/drawing/2014/main" id="{AA8B83C5-5AF7-02BB-EFA6-1C5809EEFE2C}"/>
              </a:ext>
            </a:extLst>
          </p:cNvPr>
          <p:cNvGrpSpPr/>
          <p:nvPr/>
        </p:nvGrpSpPr>
        <p:grpSpPr>
          <a:xfrm>
            <a:off x="13356138" y="2848191"/>
            <a:ext cx="3903162" cy="823858"/>
            <a:chOff x="0" y="0"/>
            <a:chExt cx="1027993" cy="216983"/>
          </a:xfrm>
        </p:grpSpPr>
        <p:sp>
          <p:nvSpPr>
            <p:cNvPr id="8" name="Freeform 8">
              <a:extLst>
                <a:ext uri="{FF2B5EF4-FFF2-40B4-BE49-F238E27FC236}">
                  <a16:creationId xmlns:a16="http://schemas.microsoft.com/office/drawing/2014/main" id="{6E5ABC47-3CCE-E0B6-6D6C-9F4E8FD204B8}"/>
                </a:ext>
              </a:extLst>
            </p:cNvPr>
            <p:cNvSpPr/>
            <p:nvPr/>
          </p:nvSpPr>
          <p:spPr>
            <a:xfrm>
              <a:off x="0" y="0"/>
              <a:ext cx="1027993" cy="216983"/>
            </a:xfrm>
            <a:custGeom>
              <a:avLst/>
              <a:gdLst/>
              <a:ahLst/>
              <a:cxnLst/>
              <a:rect l="l" t="t" r="r" b="b"/>
              <a:pathLst>
                <a:path w="1027993" h="216983">
                  <a:moveTo>
                    <a:pt x="108492" y="0"/>
                  </a:moveTo>
                  <a:lnTo>
                    <a:pt x="919502" y="0"/>
                  </a:lnTo>
                  <a:cubicBezTo>
                    <a:pt x="979420" y="0"/>
                    <a:pt x="1027993" y="48573"/>
                    <a:pt x="1027993" y="108492"/>
                  </a:cubicBezTo>
                  <a:lnTo>
                    <a:pt x="1027993" y="108492"/>
                  </a:lnTo>
                  <a:cubicBezTo>
                    <a:pt x="1027993" y="168410"/>
                    <a:pt x="979420" y="216983"/>
                    <a:pt x="919502" y="216983"/>
                  </a:cubicBezTo>
                  <a:lnTo>
                    <a:pt x="108492" y="216983"/>
                  </a:lnTo>
                  <a:cubicBezTo>
                    <a:pt x="48573" y="216983"/>
                    <a:pt x="0" y="168410"/>
                    <a:pt x="0" y="108492"/>
                  </a:cubicBezTo>
                  <a:lnTo>
                    <a:pt x="0" y="108492"/>
                  </a:lnTo>
                  <a:cubicBezTo>
                    <a:pt x="0" y="48573"/>
                    <a:pt x="48573" y="0"/>
                    <a:pt x="108492" y="0"/>
                  </a:cubicBezTo>
                  <a:close/>
                </a:path>
              </a:pathLst>
            </a:custGeom>
            <a:gradFill rotWithShape="1">
              <a:gsLst>
                <a:gs pos="0">
                  <a:srgbClr val="590E1E">
                    <a:alpha val="100000"/>
                  </a:srgbClr>
                </a:gs>
                <a:gs pos="100000">
                  <a:srgbClr val="000000">
                    <a:alpha val="100000"/>
                  </a:srgbClr>
                </a:gs>
              </a:gsLst>
              <a:lin ang="0"/>
            </a:gradFill>
            <a:ln w="9525" cap="rnd">
              <a:solidFill>
                <a:srgbClr val="F4F4F4"/>
              </a:solidFill>
              <a:prstDash val="solid"/>
              <a:round/>
            </a:ln>
          </p:spPr>
          <p:txBody>
            <a:bodyPr/>
            <a:lstStyle/>
            <a:p>
              <a:endParaRPr lang="en-PH"/>
            </a:p>
          </p:txBody>
        </p:sp>
        <p:sp>
          <p:nvSpPr>
            <p:cNvPr id="9" name="TextBox 9">
              <a:extLst>
                <a:ext uri="{FF2B5EF4-FFF2-40B4-BE49-F238E27FC236}">
                  <a16:creationId xmlns:a16="http://schemas.microsoft.com/office/drawing/2014/main" id="{3250D12E-475B-2D45-16A1-D60FDB2F98C4}"/>
                </a:ext>
              </a:extLst>
            </p:cNvPr>
            <p:cNvSpPr txBox="1"/>
            <p:nvPr/>
          </p:nvSpPr>
          <p:spPr>
            <a:xfrm>
              <a:off x="0" y="-76200"/>
              <a:ext cx="1027993" cy="293183"/>
            </a:xfrm>
            <a:prstGeom prst="rect">
              <a:avLst/>
            </a:prstGeom>
          </p:spPr>
          <p:txBody>
            <a:bodyPr lIns="50800" tIns="50800" rIns="50800" bIns="50800" rtlCol="0" anchor="ctr"/>
            <a:lstStyle/>
            <a:p>
              <a:pPr marL="0" lvl="0" indent="0" algn="ctr">
                <a:lnSpc>
                  <a:spcPts val="3527"/>
                </a:lnSpc>
              </a:pPr>
              <a:r>
                <a:rPr lang="en-US" sz="2519" b="1" spc="52">
                  <a:solidFill>
                    <a:srgbClr val="F4F4F4"/>
                  </a:solidFill>
                  <a:latin typeface="Poppins Medium"/>
                  <a:ea typeface="Poppins Medium"/>
                  <a:cs typeface="Poppins Medium"/>
                  <a:sym typeface="Poppins Medium"/>
                </a:rPr>
                <a:t>STANDARDIZE NAMES</a:t>
              </a:r>
            </a:p>
          </p:txBody>
        </p:sp>
      </p:grpSp>
      <p:grpSp>
        <p:nvGrpSpPr>
          <p:cNvPr id="10" name="Group 10">
            <a:extLst>
              <a:ext uri="{FF2B5EF4-FFF2-40B4-BE49-F238E27FC236}">
                <a16:creationId xmlns:a16="http://schemas.microsoft.com/office/drawing/2014/main" id="{55CF81D7-927B-3F43-84CA-ACBDA19CF97E}"/>
              </a:ext>
            </a:extLst>
          </p:cNvPr>
          <p:cNvGrpSpPr/>
          <p:nvPr/>
        </p:nvGrpSpPr>
        <p:grpSpPr>
          <a:xfrm>
            <a:off x="13356138" y="4710275"/>
            <a:ext cx="3903162" cy="1170439"/>
            <a:chOff x="0" y="0"/>
            <a:chExt cx="1027993" cy="308264"/>
          </a:xfrm>
        </p:grpSpPr>
        <p:sp>
          <p:nvSpPr>
            <p:cNvPr id="11" name="Freeform 11">
              <a:extLst>
                <a:ext uri="{FF2B5EF4-FFF2-40B4-BE49-F238E27FC236}">
                  <a16:creationId xmlns:a16="http://schemas.microsoft.com/office/drawing/2014/main" id="{0726DA11-4C9C-9B02-31AA-D483AE0D423A}"/>
                </a:ext>
              </a:extLst>
            </p:cNvPr>
            <p:cNvSpPr/>
            <p:nvPr/>
          </p:nvSpPr>
          <p:spPr>
            <a:xfrm>
              <a:off x="0" y="0"/>
              <a:ext cx="1027993" cy="308264"/>
            </a:xfrm>
            <a:custGeom>
              <a:avLst/>
              <a:gdLst/>
              <a:ahLst/>
              <a:cxnLst/>
              <a:rect l="l" t="t" r="r" b="b"/>
              <a:pathLst>
                <a:path w="1027993" h="308264">
                  <a:moveTo>
                    <a:pt x="154132" y="0"/>
                  </a:moveTo>
                  <a:lnTo>
                    <a:pt x="873861" y="0"/>
                  </a:lnTo>
                  <a:cubicBezTo>
                    <a:pt x="914740" y="0"/>
                    <a:pt x="953944" y="16239"/>
                    <a:pt x="982849" y="45144"/>
                  </a:cubicBezTo>
                  <a:cubicBezTo>
                    <a:pt x="1011755" y="74050"/>
                    <a:pt x="1027993" y="113254"/>
                    <a:pt x="1027993" y="154132"/>
                  </a:cubicBezTo>
                  <a:lnTo>
                    <a:pt x="1027993" y="154132"/>
                  </a:lnTo>
                  <a:cubicBezTo>
                    <a:pt x="1027993" y="239257"/>
                    <a:pt x="958986" y="308264"/>
                    <a:pt x="873861" y="308264"/>
                  </a:cubicBezTo>
                  <a:lnTo>
                    <a:pt x="154132" y="308264"/>
                  </a:lnTo>
                  <a:cubicBezTo>
                    <a:pt x="69007" y="308264"/>
                    <a:pt x="0" y="239257"/>
                    <a:pt x="0" y="154132"/>
                  </a:cubicBezTo>
                  <a:lnTo>
                    <a:pt x="0" y="154132"/>
                  </a:lnTo>
                  <a:cubicBezTo>
                    <a:pt x="0" y="69007"/>
                    <a:pt x="69007" y="0"/>
                    <a:pt x="154132" y="0"/>
                  </a:cubicBezTo>
                  <a:close/>
                </a:path>
              </a:pathLst>
            </a:custGeom>
            <a:gradFill rotWithShape="1">
              <a:gsLst>
                <a:gs pos="0">
                  <a:srgbClr val="590E1E">
                    <a:alpha val="100000"/>
                  </a:srgbClr>
                </a:gs>
                <a:gs pos="100000">
                  <a:srgbClr val="000000">
                    <a:alpha val="100000"/>
                  </a:srgbClr>
                </a:gs>
              </a:gsLst>
              <a:lin ang="0"/>
            </a:gradFill>
            <a:ln w="9525" cap="rnd">
              <a:solidFill>
                <a:srgbClr val="F4F4F4"/>
              </a:solidFill>
              <a:prstDash val="solid"/>
              <a:round/>
            </a:ln>
          </p:spPr>
          <p:txBody>
            <a:bodyPr/>
            <a:lstStyle/>
            <a:p>
              <a:endParaRPr lang="en-PH"/>
            </a:p>
          </p:txBody>
        </p:sp>
        <p:sp>
          <p:nvSpPr>
            <p:cNvPr id="12" name="TextBox 12">
              <a:extLst>
                <a:ext uri="{FF2B5EF4-FFF2-40B4-BE49-F238E27FC236}">
                  <a16:creationId xmlns:a16="http://schemas.microsoft.com/office/drawing/2014/main" id="{A9EA28EF-34AC-AD88-C8C3-4AFD844A34C9}"/>
                </a:ext>
              </a:extLst>
            </p:cNvPr>
            <p:cNvSpPr txBox="1"/>
            <p:nvPr/>
          </p:nvSpPr>
          <p:spPr>
            <a:xfrm>
              <a:off x="0" y="-76200"/>
              <a:ext cx="1027993" cy="384464"/>
            </a:xfrm>
            <a:prstGeom prst="rect">
              <a:avLst/>
            </a:prstGeom>
          </p:spPr>
          <p:txBody>
            <a:bodyPr lIns="50800" tIns="50800" rIns="50800" bIns="50800" rtlCol="0" anchor="ctr"/>
            <a:lstStyle/>
            <a:p>
              <a:pPr marL="0" lvl="0" indent="0" algn="ctr">
                <a:lnSpc>
                  <a:spcPts val="3527"/>
                </a:lnSpc>
              </a:pPr>
              <a:r>
                <a:rPr lang="en-US" sz="2519" b="1" spc="52">
                  <a:solidFill>
                    <a:srgbClr val="F4F4F4"/>
                  </a:solidFill>
                  <a:latin typeface="Poppins Medium"/>
                  <a:ea typeface="Poppins Medium"/>
                  <a:cs typeface="Poppins Medium"/>
                  <a:sym typeface="Poppins Medium"/>
                </a:rPr>
                <a:t>ENCODE RECOMMENDED</a:t>
              </a:r>
            </a:p>
          </p:txBody>
        </p:sp>
      </p:grpSp>
      <p:grpSp>
        <p:nvGrpSpPr>
          <p:cNvPr id="13" name="Group 13">
            <a:extLst>
              <a:ext uri="{FF2B5EF4-FFF2-40B4-BE49-F238E27FC236}">
                <a16:creationId xmlns:a16="http://schemas.microsoft.com/office/drawing/2014/main" id="{8CBD3736-7DD9-E76F-DA7F-A7E7F882D766}"/>
              </a:ext>
            </a:extLst>
          </p:cNvPr>
          <p:cNvGrpSpPr/>
          <p:nvPr/>
        </p:nvGrpSpPr>
        <p:grpSpPr>
          <a:xfrm>
            <a:off x="13356138" y="6572358"/>
            <a:ext cx="3903162" cy="823858"/>
            <a:chOff x="0" y="0"/>
            <a:chExt cx="1027993" cy="216983"/>
          </a:xfrm>
        </p:grpSpPr>
        <p:sp>
          <p:nvSpPr>
            <p:cNvPr id="14" name="Freeform 14">
              <a:extLst>
                <a:ext uri="{FF2B5EF4-FFF2-40B4-BE49-F238E27FC236}">
                  <a16:creationId xmlns:a16="http://schemas.microsoft.com/office/drawing/2014/main" id="{3685F7F6-74BE-AA20-FA5B-7FB5E1D5F193}"/>
                </a:ext>
              </a:extLst>
            </p:cNvPr>
            <p:cNvSpPr/>
            <p:nvPr/>
          </p:nvSpPr>
          <p:spPr>
            <a:xfrm>
              <a:off x="0" y="0"/>
              <a:ext cx="1027993" cy="216983"/>
            </a:xfrm>
            <a:custGeom>
              <a:avLst/>
              <a:gdLst/>
              <a:ahLst/>
              <a:cxnLst/>
              <a:rect l="l" t="t" r="r" b="b"/>
              <a:pathLst>
                <a:path w="1027993" h="216983">
                  <a:moveTo>
                    <a:pt x="108492" y="0"/>
                  </a:moveTo>
                  <a:lnTo>
                    <a:pt x="919502" y="0"/>
                  </a:lnTo>
                  <a:cubicBezTo>
                    <a:pt x="979420" y="0"/>
                    <a:pt x="1027993" y="48573"/>
                    <a:pt x="1027993" y="108492"/>
                  </a:cubicBezTo>
                  <a:lnTo>
                    <a:pt x="1027993" y="108492"/>
                  </a:lnTo>
                  <a:cubicBezTo>
                    <a:pt x="1027993" y="168410"/>
                    <a:pt x="979420" y="216983"/>
                    <a:pt x="919502" y="216983"/>
                  </a:cubicBezTo>
                  <a:lnTo>
                    <a:pt x="108492" y="216983"/>
                  </a:lnTo>
                  <a:cubicBezTo>
                    <a:pt x="48573" y="216983"/>
                    <a:pt x="0" y="168410"/>
                    <a:pt x="0" y="108492"/>
                  </a:cubicBezTo>
                  <a:lnTo>
                    <a:pt x="0" y="108492"/>
                  </a:lnTo>
                  <a:cubicBezTo>
                    <a:pt x="0" y="48573"/>
                    <a:pt x="48573" y="0"/>
                    <a:pt x="108492" y="0"/>
                  </a:cubicBezTo>
                  <a:close/>
                </a:path>
              </a:pathLst>
            </a:custGeom>
            <a:gradFill rotWithShape="1">
              <a:gsLst>
                <a:gs pos="0">
                  <a:srgbClr val="590E1E">
                    <a:alpha val="100000"/>
                  </a:srgbClr>
                </a:gs>
                <a:gs pos="100000">
                  <a:srgbClr val="000000">
                    <a:alpha val="100000"/>
                  </a:srgbClr>
                </a:gs>
              </a:gsLst>
              <a:lin ang="0"/>
            </a:gradFill>
            <a:ln w="9525" cap="rnd">
              <a:solidFill>
                <a:srgbClr val="F4F4F4"/>
              </a:solidFill>
              <a:prstDash val="solid"/>
              <a:round/>
            </a:ln>
          </p:spPr>
          <p:txBody>
            <a:bodyPr/>
            <a:lstStyle/>
            <a:p>
              <a:endParaRPr lang="en-PH"/>
            </a:p>
          </p:txBody>
        </p:sp>
        <p:sp>
          <p:nvSpPr>
            <p:cNvPr id="15" name="TextBox 15">
              <a:extLst>
                <a:ext uri="{FF2B5EF4-FFF2-40B4-BE49-F238E27FC236}">
                  <a16:creationId xmlns:a16="http://schemas.microsoft.com/office/drawing/2014/main" id="{575D3F90-B695-A839-FBF4-B8F4C253C4CA}"/>
                </a:ext>
              </a:extLst>
            </p:cNvPr>
            <p:cNvSpPr txBox="1"/>
            <p:nvPr/>
          </p:nvSpPr>
          <p:spPr>
            <a:xfrm>
              <a:off x="0" y="-76200"/>
              <a:ext cx="1027993" cy="293183"/>
            </a:xfrm>
            <a:prstGeom prst="rect">
              <a:avLst/>
            </a:prstGeom>
          </p:spPr>
          <p:txBody>
            <a:bodyPr lIns="50800" tIns="50800" rIns="50800" bIns="50800" rtlCol="0" anchor="ctr"/>
            <a:lstStyle/>
            <a:p>
              <a:pPr marL="0" lvl="0" indent="0" algn="ctr">
                <a:lnSpc>
                  <a:spcPts val="3527"/>
                </a:lnSpc>
              </a:pPr>
              <a:r>
                <a:rPr lang="en-US" sz="2519" b="1" spc="52">
                  <a:solidFill>
                    <a:srgbClr val="F4F4F4"/>
                  </a:solidFill>
                  <a:latin typeface="Poppins Medium"/>
                  <a:ea typeface="Poppins Medium"/>
                  <a:cs typeface="Poppins Medium"/>
                  <a:sym typeface="Poppins Medium"/>
                </a:rPr>
                <a:t>FILL MISSING AIRCRAFT</a:t>
              </a:r>
            </a:p>
          </p:txBody>
        </p:sp>
      </p:grpSp>
      <p:grpSp>
        <p:nvGrpSpPr>
          <p:cNvPr id="16" name="Group 16">
            <a:extLst>
              <a:ext uri="{FF2B5EF4-FFF2-40B4-BE49-F238E27FC236}">
                <a16:creationId xmlns:a16="http://schemas.microsoft.com/office/drawing/2014/main" id="{53FB8DB5-C087-2179-60F4-3E66F1A77C3E}"/>
              </a:ext>
            </a:extLst>
          </p:cNvPr>
          <p:cNvGrpSpPr/>
          <p:nvPr/>
        </p:nvGrpSpPr>
        <p:grpSpPr>
          <a:xfrm>
            <a:off x="13356138" y="8434442"/>
            <a:ext cx="3903162" cy="823858"/>
            <a:chOff x="0" y="0"/>
            <a:chExt cx="1027993" cy="216983"/>
          </a:xfrm>
        </p:grpSpPr>
        <p:sp>
          <p:nvSpPr>
            <p:cNvPr id="17" name="Freeform 17">
              <a:extLst>
                <a:ext uri="{FF2B5EF4-FFF2-40B4-BE49-F238E27FC236}">
                  <a16:creationId xmlns:a16="http://schemas.microsoft.com/office/drawing/2014/main" id="{AC5740F9-6FBA-FEAE-E3B1-F630A9675472}"/>
                </a:ext>
              </a:extLst>
            </p:cNvPr>
            <p:cNvSpPr/>
            <p:nvPr/>
          </p:nvSpPr>
          <p:spPr>
            <a:xfrm>
              <a:off x="0" y="0"/>
              <a:ext cx="1027993" cy="216983"/>
            </a:xfrm>
            <a:custGeom>
              <a:avLst/>
              <a:gdLst/>
              <a:ahLst/>
              <a:cxnLst/>
              <a:rect l="l" t="t" r="r" b="b"/>
              <a:pathLst>
                <a:path w="1027993" h="216983">
                  <a:moveTo>
                    <a:pt x="108492" y="0"/>
                  </a:moveTo>
                  <a:lnTo>
                    <a:pt x="919502" y="0"/>
                  </a:lnTo>
                  <a:cubicBezTo>
                    <a:pt x="979420" y="0"/>
                    <a:pt x="1027993" y="48573"/>
                    <a:pt x="1027993" y="108492"/>
                  </a:cubicBezTo>
                  <a:lnTo>
                    <a:pt x="1027993" y="108492"/>
                  </a:lnTo>
                  <a:cubicBezTo>
                    <a:pt x="1027993" y="168410"/>
                    <a:pt x="979420" y="216983"/>
                    <a:pt x="919502" y="216983"/>
                  </a:cubicBezTo>
                  <a:lnTo>
                    <a:pt x="108492" y="216983"/>
                  </a:lnTo>
                  <a:cubicBezTo>
                    <a:pt x="48573" y="216983"/>
                    <a:pt x="0" y="168410"/>
                    <a:pt x="0" y="108492"/>
                  </a:cubicBezTo>
                  <a:lnTo>
                    <a:pt x="0" y="108492"/>
                  </a:lnTo>
                  <a:cubicBezTo>
                    <a:pt x="0" y="48573"/>
                    <a:pt x="48573" y="0"/>
                    <a:pt x="108492" y="0"/>
                  </a:cubicBezTo>
                  <a:close/>
                </a:path>
              </a:pathLst>
            </a:custGeom>
            <a:gradFill rotWithShape="1">
              <a:gsLst>
                <a:gs pos="0">
                  <a:srgbClr val="590E1E">
                    <a:alpha val="100000"/>
                  </a:srgbClr>
                </a:gs>
                <a:gs pos="100000">
                  <a:srgbClr val="000000">
                    <a:alpha val="100000"/>
                  </a:srgbClr>
                </a:gs>
              </a:gsLst>
              <a:lin ang="0"/>
            </a:gradFill>
            <a:ln w="9525" cap="rnd">
              <a:solidFill>
                <a:srgbClr val="F4F4F4"/>
              </a:solidFill>
              <a:prstDash val="solid"/>
              <a:round/>
            </a:ln>
          </p:spPr>
          <p:txBody>
            <a:bodyPr/>
            <a:lstStyle/>
            <a:p>
              <a:endParaRPr lang="en-PH"/>
            </a:p>
          </p:txBody>
        </p:sp>
        <p:sp>
          <p:nvSpPr>
            <p:cNvPr id="18" name="TextBox 18">
              <a:extLst>
                <a:ext uri="{FF2B5EF4-FFF2-40B4-BE49-F238E27FC236}">
                  <a16:creationId xmlns:a16="http://schemas.microsoft.com/office/drawing/2014/main" id="{5AD0DA8A-D655-5413-CA86-4D81EBBC417B}"/>
                </a:ext>
              </a:extLst>
            </p:cNvPr>
            <p:cNvSpPr txBox="1"/>
            <p:nvPr/>
          </p:nvSpPr>
          <p:spPr>
            <a:xfrm>
              <a:off x="0" y="-76200"/>
              <a:ext cx="1027993" cy="293183"/>
            </a:xfrm>
            <a:prstGeom prst="rect">
              <a:avLst/>
            </a:prstGeom>
          </p:spPr>
          <p:txBody>
            <a:bodyPr lIns="50800" tIns="50800" rIns="50800" bIns="50800" rtlCol="0" anchor="ctr"/>
            <a:lstStyle/>
            <a:p>
              <a:pPr marL="0" lvl="0" indent="0" algn="ctr">
                <a:lnSpc>
                  <a:spcPts val="3527"/>
                </a:lnSpc>
              </a:pPr>
              <a:r>
                <a:rPr lang="en-US" sz="2519" b="1" spc="52">
                  <a:solidFill>
                    <a:srgbClr val="F4F4F4"/>
                  </a:solidFill>
                  <a:latin typeface="Poppins Medium"/>
                  <a:ea typeface="Poppins Medium"/>
                  <a:cs typeface="Poppins Medium"/>
                  <a:sym typeface="Poppins Medium"/>
                </a:rPr>
                <a:t>CONVERT TO NUMERIC</a:t>
              </a:r>
            </a:p>
          </p:txBody>
        </p:sp>
      </p:grpSp>
      <p:grpSp>
        <p:nvGrpSpPr>
          <p:cNvPr id="19" name="Group 19">
            <a:extLst>
              <a:ext uri="{FF2B5EF4-FFF2-40B4-BE49-F238E27FC236}">
                <a16:creationId xmlns:a16="http://schemas.microsoft.com/office/drawing/2014/main" id="{69962531-AD1B-FC66-9BA5-F25FC62651A0}"/>
              </a:ext>
            </a:extLst>
          </p:cNvPr>
          <p:cNvGrpSpPr/>
          <p:nvPr/>
        </p:nvGrpSpPr>
        <p:grpSpPr>
          <a:xfrm>
            <a:off x="11873585" y="1040458"/>
            <a:ext cx="812101" cy="812101"/>
            <a:chOff x="0" y="0"/>
            <a:chExt cx="812800" cy="812800"/>
          </a:xfrm>
        </p:grpSpPr>
        <p:sp>
          <p:nvSpPr>
            <p:cNvPr id="20" name="Freeform 20">
              <a:extLst>
                <a:ext uri="{FF2B5EF4-FFF2-40B4-BE49-F238E27FC236}">
                  <a16:creationId xmlns:a16="http://schemas.microsoft.com/office/drawing/2014/main" id="{A80C8620-2756-19F1-3EFC-9E512FDA8680}"/>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1">
              <a:gsLst>
                <a:gs pos="0">
                  <a:srgbClr val="6B1124">
                    <a:alpha val="100000"/>
                  </a:srgbClr>
                </a:gs>
                <a:gs pos="50000">
                  <a:srgbClr val="000000">
                    <a:alpha val="100000"/>
                  </a:srgbClr>
                </a:gs>
                <a:gs pos="100000">
                  <a:srgbClr val="6B1124">
                    <a:alpha val="100000"/>
                  </a:srgbClr>
                </a:gs>
              </a:gsLst>
              <a:path path="circle">
                <a:fillToRect r="100000" b="100000"/>
              </a:path>
              <a:tileRect l="-100000" t="-100000"/>
            </a:gradFill>
            <a:ln w="9525" cap="sq">
              <a:solidFill>
                <a:srgbClr val="F4F4F4"/>
              </a:solidFill>
              <a:prstDash val="solid"/>
              <a:miter/>
            </a:ln>
          </p:spPr>
          <p:txBody>
            <a:bodyPr/>
            <a:lstStyle/>
            <a:p>
              <a:endParaRPr lang="en-PH"/>
            </a:p>
          </p:txBody>
        </p:sp>
        <p:sp>
          <p:nvSpPr>
            <p:cNvPr id="21" name="TextBox 21">
              <a:extLst>
                <a:ext uri="{FF2B5EF4-FFF2-40B4-BE49-F238E27FC236}">
                  <a16:creationId xmlns:a16="http://schemas.microsoft.com/office/drawing/2014/main" id="{9AD3C239-ABFB-618E-2F2A-0D2A70991992}"/>
                </a:ext>
              </a:extLst>
            </p:cNvPr>
            <p:cNvSpPr txBox="1"/>
            <p:nvPr/>
          </p:nvSpPr>
          <p:spPr>
            <a:xfrm>
              <a:off x="76200" y="9525"/>
              <a:ext cx="660400" cy="727075"/>
            </a:xfrm>
            <a:prstGeom prst="rect">
              <a:avLst/>
            </a:prstGeom>
          </p:spPr>
          <p:txBody>
            <a:bodyPr lIns="50800" tIns="50800" rIns="50800" bIns="50800" rtlCol="0" anchor="ctr"/>
            <a:lstStyle/>
            <a:p>
              <a:pPr marL="0" lvl="0" indent="0" algn="ctr">
                <a:lnSpc>
                  <a:spcPts val="3110"/>
                </a:lnSpc>
              </a:pPr>
              <a:r>
                <a:rPr lang="en-US" sz="2221" b="1" spc="46">
                  <a:solidFill>
                    <a:srgbClr val="FFFFFF"/>
                  </a:solidFill>
                  <a:latin typeface="Poppins Medium"/>
                  <a:ea typeface="Poppins Medium"/>
                  <a:cs typeface="Poppins Medium"/>
                  <a:sym typeface="Poppins Medium"/>
                </a:rPr>
                <a:t>1</a:t>
              </a:r>
            </a:p>
          </p:txBody>
        </p:sp>
      </p:grpSp>
      <p:grpSp>
        <p:nvGrpSpPr>
          <p:cNvPr id="22" name="Group 22">
            <a:extLst>
              <a:ext uri="{FF2B5EF4-FFF2-40B4-BE49-F238E27FC236}">
                <a16:creationId xmlns:a16="http://schemas.microsoft.com/office/drawing/2014/main" id="{1A636591-2EBD-85F5-273C-39428596B110}"/>
              </a:ext>
            </a:extLst>
          </p:cNvPr>
          <p:cNvGrpSpPr/>
          <p:nvPr/>
        </p:nvGrpSpPr>
        <p:grpSpPr>
          <a:xfrm>
            <a:off x="11873585" y="2848191"/>
            <a:ext cx="812101" cy="812101"/>
            <a:chOff x="0" y="0"/>
            <a:chExt cx="812800" cy="812800"/>
          </a:xfrm>
        </p:grpSpPr>
        <p:sp>
          <p:nvSpPr>
            <p:cNvPr id="23" name="Freeform 23">
              <a:extLst>
                <a:ext uri="{FF2B5EF4-FFF2-40B4-BE49-F238E27FC236}">
                  <a16:creationId xmlns:a16="http://schemas.microsoft.com/office/drawing/2014/main" id="{E697B92E-C5C0-7955-0034-092D0BCCD2D7}"/>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1">
              <a:gsLst>
                <a:gs pos="0">
                  <a:srgbClr val="6B1124">
                    <a:alpha val="100000"/>
                  </a:srgbClr>
                </a:gs>
                <a:gs pos="50000">
                  <a:srgbClr val="000000">
                    <a:alpha val="100000"/>
                  </a:srgbClr>
                </a:gs>
                <a:gs pos="100000">
                  <a:srgbClr val="6B1124">
                    <a:alpha val="100000"/>
                  </a:srgbClr>
                </a:gs>
              </a:gsLst>
              <a:path path="circle">
                <a:fillToRect r="100000" b="100000"/>
              </a:path>
              <a:tileRect l="-100000" t="-100000"/>
            </a:gradFill>
            <a:ln w="9525" cap="sq">
              <a:solidFill>
                <a:srgbClr val="F4F4F4"/>
              </a:solidFill>
              <a:prstDash val="solid"/>
              <a:miter/>
            </a:ln>
          </p:spPr>
          <p:txBody>
            <a:bodyPr/>
            <a:lstStyle/>
            <a:p>
              <a:endParaRPr lang="en-PH"/>
            </a:p>
          </p:txBody>
        </p:sp>
        <p:sp>
          <p:nvSpPr>
            <p:cNvPr id="24" name="TextBox 24">
              <a:extLst>
                <a:ext uri="{FF2B5EF4-FFF2-40B4-BE49-F238E27FC236}">
                  <a16:creationId xmlns:a16="http://schemas.microsoft.com/office/drawing/2014/main" id="{B60337F9-71A7-5189-98C9-A018BF1CA838}"/>
                </a:ext>
              </a:extLst>
            </p:cNvPr>
            <p:cNvSpPr txBox="1"/>
            <p:nvPr/>
          </p:nvSpPr>
          <p:spPr>
            <a:xfrm>
              <a:off x="76200" y="9525"/>
              <a:ext cx="660400" cy="727075"/>
            </a:xfrm>
            <a:prstGeom prst="rect">
              <a:avLst/>
            </a:prstGeom>
          </p:spPr>
          <p:txBody>
            <a:bodyPr lIns="50800" tIns="50800" rIns="50800" bIns="50800" rtlCol="0" anchor="ctr"/>
            <a:lstStyle/>
            <a:p>
              <a:pPr marL="0" lvl="0" indent="0" algn="ctr">
                <a:lnSpc>
                  <a:spcPts val="3108"/>
                </a:lnSpc>
              </a:pPr>
              <a:r>
                <a:rPr lang="en-US" sz="2220" b="1" spc="46">
                  <a:solidFill>
                    <a:srgbClr val="FFFFFF"/>
                  </a:solidFill>
                  <a:latin typeface="Poppins Medium"/>
                  <a:ea typeface="Poppins Medium"/>
                  <a:cs typeface="Poppins Medium"/>
                  <a:sym typeface="Poppins Medium"/>
                </a:rPr>
                <a:t>2</a:t>
              </a:r>
            </a:p>
          </p:txBody>
        </p:sp>
      </p:grpSp>
      <p:grpSp>
        <p:nvGrpSpPr>
          <p:cNvPr id="25" name="Group 25">
            <a:extLst>
              <a:ext uri="{FF2B5EF4-FFF2-40B4-BE49-F238E27FC236}">
                <a16:creationId xmlns:a16="http://schemas.microsoft.com/office/drawing/2014/main" id="{41209CC1-EF39-F174-CB71-F2DDFCE343A6}"/>
              </a:ext>
            </a:extLst>
          </p:cNvPr>
          <p:cNvGrpSpPr/>
          <p:nvPr/>
        </p:nvGrpSpPr>
        <p:grpSpPr>
          <a:xfrm>
            <a:off x="11873585" y="4737450"/>
            <a:ext cx="812101" cy="812101"/>
            <a:chOff x="0" y="0"/>
            <a:chExt cx="812800" cy="812800"/>
          </a:xfrm>
        </p:grpSpPr>
        <p:sp>
          <p:nvSpPr>
            <p:cNvPr id="26" name="Freeform 26">
              <a:extLst>
                <a:ext uri="{FF2B5EF4-FFF2-40B4-BE49-F238E27FC236}">
                  <a16:creationId xmlns:a16="http://schemas.microsoft.com/office/drawing/2014/main" id="{0F2065C1-C442-8C24-FE95-7882A605ACEE}"/>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1">
              <a:gsLst>
                <a:gs pos="0">
                  <a:srgbClr val="6B1124">
                    <a:alpha val="100000"/>
                  </a:srgbClr>
                </a:gs>
                <a:gs pos="50000">
                  <a:srgbClr val="000000">
                    <a:alpha val="100000"/>
                  </a:srgbClr>
                </a:gs>
                <a:gs pos="100000">
                  <a:srgbClr val="6B1124">
                    <a:alpha val="100000"/>
                  </a:srgbClr>
                </a:gs>
              </a:gsLst>
              <a:path path="circle">
                <a:fillToRect r="100000" b="100000"/>
              </a:path>
              <a:tileRect l="-100000" t="-100000"/>
            </a:gradFill>
            <a:ln w="9525" cap="sq">
              <a:solidFill>
                <a:srgbClr val="F4F4F4"/>
              </a:solidFill>
              <a:prstDash val="solid"/>
              <a:miter/>
            </a:ln>
          </p:spPr>
          <p:txBody>
            <a:bodyPr/>
            <a:lstStyle/>
            <a:p>
              <a:endParaRPr lang="en-PH"/>
            </a:p>
          </p:txBody>
        </p:sp>
        <p:sp>
          <p:nvSpPr>
            <p:cNvPr id="27" name="TextBox 27">
              <a:extLst>
                <a:ext uri="{FF2B5EF4-FFF2-40B4-BE49-F238E27FC236}">
                  <a16:creationId xmlns:a16="http://schemas.microsoft.com/office/drawing/2014/main" id="{D9603477-3813-11CB-D8C5-D8B179106A5F}"/>
                </a:ext>
              </a:extLst>
            </p:cNvPr>
            <p:cNvSpPr txBox="1"/>
            <p:nvPr/>
          </p:nvSpPr>
          <p:spPr>
            <a:xfrm>
              <a:off x="76200" y="9525"/>
              <a:ext cx="660400" cy="727075"/>
            </a:xfrm>
            <a:prstGeom prst="rect">
              <a:avLst/>
            </a:prstGeom>
          </p:spPr>
          <p:txBody>
            <a:bodyPr lIns="50800" tIns="50800" rIns="50800" bIns="50800" rtlCol="0" anchor="ctr"/>
            <a:lstStyle/>
            <a:p>
              <a:pPr marL="0" lvl="0" indent="0" algn="ctr">
                <a:lnSpc>
                  <a:spcPts val="3108"/>
                </a:lnSpc>
              </a:pPr>
              <a:r>
                <a:rPr lang="en-US" sz="2220" b="1" spc="46">
                  <a:solidFill>
                    <a:srgbClr val="FFFFFF"/>
                  </a:solidFill>
                  <a:latin typeface="Poppins Medium"/>
                  <a:ea typeface="Poppins Medium"/>
                  <a:cs typeface="Poppins Medium"/>
                  <a:sym typeface="Poppins Medium"/>
                </a:rPr>
                <a:t>3</a:t>
              </a:r>
            </a:p>
          </p:txBody>
        </p:sp>
      </p:grpSp>
      <p:grpSp>
        <p:nvGrpSpPr>
          <p:cNvPr id="28" name="Group 28">
            <a:extLst>
              <a:ext uri="{FF2B5EF4-FFF2-40B4-BE49-F238E27FC236}">
                <a16:creationId xmlns:a16="http://schemas.microsoft.com/office/drawing/2014/main" id="{774C2481-B299-F9BE-DEFD-ED0712E10BED}"/>
              </a:ext>
            </a:extLst>
          </p:cNvPr>
          <p:cNvGrpSpPr/>
          <p:nvPr/>
        </p:nvGrpSpPr>
        <p:grpSpPr>
          <a:xfrm>
            <a:off x="11873585" y="6584116"/>
            <a:ext cx="812101" cy="812101"/>
            <a:chOff x="0" y="0"/>
            <a:chExt cx="812800" cy="812800"/>
          </a:xfrm>
        </p:grpSpPr>
        <p:sp>
          <p:nvSpPr>
            <p:cNvPr id="29" name="Freeform 29">
              <a:extLst>
                <a:ext uri="{FF2B5EF4-FFF2-40B4-BE49-F238E27FC236}">
                  <a16:creationId xmlns:a16="http://schemas.microsoft.com/office/drawing/2014/main" id="{4445DEE6-2508-DC3B-099B-0E17B1DF0FE7}"/>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1">
              <a:gsLst>
                <a:gs pos="0">
                  <a:srgbClr val="6B1124">
                    <a:alpha val="100000"/>
                  </a:srgbClr>
                </a:gs>
                <a:gs pos="50000">
                  <a:srgbClr val="000000">
                    <a:alpha val="100000"/>
                  </a:srgbClr>
                </a:gs>
                <a:gs pos="100000">
                  <a:srgbClr val="6B1124">
                    <a:alpha val="100000"/>
                  </a:srgbClr>
                </a:gs>
              </a:gsLst>
              <a:path path="circle">
                <a:fillToRect r="100000" b="100000"/>
              </a:path>
              <a:tileRect l="-100000" t="-100000"/>
            </a:gradFill>
            <a:ln w="9525" cap="sq">
              <a:solidFill>
                <a:srgbClr val="F4F4F4"/>
              </a:solidFill>
              <a:prstDash val="solid"/>
              <a:miter/>
            </a:ln>
          </p:spPr>
          <p:txBody>
            <a:bodyPr/>
            <a:lstStyle/>
            <a:p>
              <a:endParaRPr lang="en-PH"/>
            </a:p>
          </p:txBody>
        </p:sp>
        <p:sp>
          <p:nvSpPr>
            <p:cNvPr id="30" name="TextBox 30">
              <a:extLst>
                <a:ext uri="{FF2B5EF4-FFF2-40B4-BE49-F238E27FC236}">
                  <a16:creationId xmlns:a16="http://schemas.microsoft.com/office/drawing/2014/main" id="{374D5360-5A08-CE1E-C3D2-04465FAE7045}"/>
                </a:ext>
              </a:extLst>
            </p:cNvPr>
            <p:cNvSpPr txBox="1"/>
            <p:nvPr/>
          </p:nvSpPr>
          <p:spPr>
            <a:xfrm>
              <a:off x="76200" y="9525"/>
              <a:ext cx="660400" cy="727075"/>
            </a:xfrm>
            <a:prstGeom prst="rect">
              <a:avLst/>
            </a:prstGeom>
          </p:spPr>
          <p:txBody>
            <a:bodyPr lIns="50800" tIns="50800" rIns="50800" bIns="50800" rtlCol="0" anchor="ctr"/>
            <a:lstStyle/>
            <a:p>
              <a:pPr marL="0" lvl="0" indent="0" algn="ctr">
                <a:lnSpc>
                  <a:spcPts val="3108"/>
                </a:lnSpc>
              </a:pPr>
              <a:r>
                <a:rPr lang="en-US" sz="2220" b="1" spc="46">
                  <a:solidFill>
                    <a:srgbClr val="FFFFFF"/>
                  </a:solidFill>
                  <a:latin typeface="Poppins Medium"/>
                  <a:ea typeface="Poppins Medium"/>
                  <a:cs typeface="Poppins Medium"/>
                  <a:sym typeface="Poppins Medium"/>
                </a:rPr>
                <a:t>4</a:t>
              </a:r>
            </a:p>
          </p:txBody>
        </p:sp>
      </p:grpSp>
      <p:grpSp>
        <p:nvGrpSpPr>
          <p:cNvPr id="31" name="Group 31">
            <a:extLst>
              <a:ext uri="{FF2B5EF4-FFF2-40B4-BE49-F238E27FC236}">
                <a16:creationId xmlns:a16="http://schemas.microsoft.com/office/drawing/2014/main" id="{C0E7C919-E29C-AD26-9B7B-F041CA83BBEE}"/>
              </a:ext>
            </a:extLst>
          </p:cNvPr>
          <p:cNvGrpSpPr/>
          <p:nvPr/>
        </p:nvGrpSpPr>
        <p:grpSpPr>
          <a:xfrm>
            <a:off x="11873585" y="8472542"/>
            <a:ext cx="812101" cy="812101"/>
            <a:chOff x="0" y="0"/>
            <a:chExt cx="812800" cy="812800"/>
          </a:xfrm>
        </p:grpSpPr>
        <p:sp>
          <p:nvSpPr>
            <p:cNvPr id="32" name="Freeform 32">
              <a:extLst>
                <a:ext uri="{FF2B5EF4-FFF2-40B4-BE49-F238E27FC236}">
                  <a16:creationId xmlns:a16="http://schemas.microsoft.com/office/drawing/2014/main" id="{48306368-D213-7D35-E6F3-04293B2E8868}"/>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1">
              <a:gsLst>
                <a:gs pos="0">
                  <a:srgbClr val="6B1124">
                    <a:alpha val="100000"/>
                  </a:srgbClr>
                </a:gs>
                <a:gs pos="50000">
                  <a:srgbClr val="000000">
                    <a:alpha val="100000"/>
                  </a:srgbClr>
                </a:gs>
                <a:gs pos="100000">
                  <a:srgbClr val="6B1124">
                    <a:alpha val="100000"/>
                  </a:srgbClr>
                </a:gs>
              </a:gsLst>
              <a:path path="circle">
                <a:fillToRect r="100000" b="100000"/>
              </a:path>
              <a:tileRect l="-100000" t="-100000"/>
            </a:gradFill>
            <a:ln w="9525" cap="sq">
              <a:solidFill>
                <a:srgbClr val="F4F4F4"/>
              </a:solidFill>
              <a:prstDash val="solid"/>
              <a:miter/>
            </a:ln>
          </p:spPr>
          <p:txBody>
            <a:bodyPr/>
            <a:lstStyle/>
            <a:p>
              <a:endParaRPr lang="en-PH"/>
            </a:p>
          </p:txBody>
        </p:sp>
        <p:sp>
          <p:nvSpPr>
            <p:cNvPr id="33" name="TextBox 33">
              <a:extLst>
                <a:ext uri="{FF2B5EF4-FFF2-40B4-BE49-F238E27FC236}">
                  <a16:creationId xmlns:a16="http://schemas.microsoft.com/office/drawing/2014/main" id="{F48FC685-EC72-8018-DD53-C84965F2D587}"/>
                </a:ext>
              </a:extLst>
            </p:cNvPr>
            <p:cNvSpPr txBox="1"/>
            <p:nvPr/>
          </p:nvSpPr>
          <p:spPr>
            <a:xfrm>
              <a:off x="76200" y="9525"/>
              <a:ext cx="660400" cy="727075"/>
            </a:xfrm>
            <a:prstGeom prst="rect">
              <a:avLst/>
            </a:prstGeom>
          </p:spPr>
          <p:txBody>
            <a:bodyPr lIns="50800" tIns="50800" rIns="50800" bIns="50800" rtlCol="0" anchor="ctr"/>
            <a:lstStyle/>
            <a:p>
              <a:pPr marL="0" lvl="0" indent="0" algn="ctr">
                <a:lnSpc>
                  <a:spcPts val="3108"/>
                </a:lnSpc>
              </a:pPr>
              <a:r>
                <a:rPr lang="en-US" sz="2220" b="1" spc="46">
                  <a:solidFill>
                    <a:srgbClr val="FFFFFF"/>
                  </a:solidFill>
                  <a:latin typeface="Poppins Medium"/>
                  <a:ea typeface="Poppins Medium"/>
                  <a:cs typeface="Poppins Medium"/>
                  <a:sym typeface="Poppins Medium"/>
                </a:rPr>
                <a:t>5</a:t>
              </a:r>
            </a:p>
          </p:txBody>
        </p:sp>
      </p:grpSp>
      <p:pic>
        <p:nvPicPr>
          <p:cNvPr id="49" name="Picture 48">
            <a:extLst>
              <a:ext uri="{FF2B5EF4-FFF2-40B4-BE49-F238E27FC236}">
                <a16:creationId xmlns:a16="http://schemas.microsoft.com/office/drawing/2014/main" id="{863309FE-1033-16EE-17B3-8EA0EF16D73B}"/>
              </a:ext>
            </a:extLst>
          </p:cNvPr>
          <p:cNvPicPr>
            <a:picLocks noChangeAspect="1"/>
          </p:cNvPicPr>
          <p:nvPr/>
        </p:nvPicPr>
        <p:blipFill>
          <a:blip r:embed="rId2"/>
          <a:stretch>
            <a:fillRect/>
          </a:stretch>
        </p:blipFill>
        <p:spPr>
          <a:xfrm>
            <a:off x="1166096" y="4226058"/>
            <a:ext cx="9707122" cy="1834883"/>
          </a:xfrm>
          <a:prstGeom prst="rect">
            <a:avLst/>
          </a:prstGeom>
        </p:spPr>
      </p:pic>
    </p:spTree>
    <p:extLst>
      <p:ext uri="{BB962C8B-B14F-4D97-AF65-F5344CB8AC3E}">
        <p14:creationId xmlns:p14="http://schemas.microsoft.com/office/powerpoint/2010/main" val="53314067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182</TotalTime>
  <Words>952</Words>
  <Application>Microsoft Office PowerPoint</Application>
  <PresentationFormat>Custom</PresentationFormat>
  <Paragraphs>127</Paragraphs>
  <Slides>20</Slides>
  <Notes>2</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20</vt:i4>
      </vt:variant>
    </vt:vector>
  </HeadingPairs>
  <TitlesOfParts>
    <vt:vector size="28" baseType="lpstr">
      <vt:lpstr>Calibri</vt:lpstr>
      <vt:lpstr>Inter Extra-Light</vt:lpstr>
      <vt:lpstr>Poppins Light</vt:lpstr>
      <vt:lpstr>Aptos</vt:lpstr>
      <vt:lpstr>Poppins</vt:lpstr>
      <vt:lpstr>Poppins Medium</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Philippine Airlines Passenger Review Analysis Milestone 2 Report</dc:title>
  <dc:creator>home</dc:creator>
  <cp:lastModifiedBy>Kezelle Elmedorial</cp:lastModifiedBy>
  <cp:revision>9</cp:revision>
  <dcterms:created xsi:type="dcterms:W3CDTF">2006-08-16T00:00:00Z</dcterms:created>
  <dcterms:modified xsi:type="dcterms:W3CDTF">2026-09-09T14:25:04Z</dcterms:modified>
  <dc:identifier>DAHUhUF3qao</dc:identifier>
</cp:coreProperties>
</file>